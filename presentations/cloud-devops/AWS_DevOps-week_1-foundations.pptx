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06" r:id="rId2"/>
    <p:sldId id="307" r:id="rId3"/>
    <p:sldId id="274" r:id="rId4"/>
    <p:sldId id="263" r:id="rId5"/>
    <p:sldId id="258" r:id="rId6"/>
    <p:sldId id="305" r:id="rId7"/>
    <p:sldId id="318" r:id="rId8"/>
    <p:sldId id="319" r:id="rId9"/>
    <p:sldId id="275" r:id="rId10"/>
    <p:sldId id="309" r:id="rId11"/>
    <p:sldId id="292" r:id="rId12"/>
    <p:sldId id="293" r:id="rId13"/>
    <p:sldId id="294" r:id="rId14"/>
    <p:sldId id="316" r:id="rId15"/>
    <p:sldId id="315" r:id="rId16"/>
    <p:sldId id="311" r:id="rId17"/>
    <p:sldId id="313" r:id="rId18"/>
    <p:sldId id="312" r:id="rId19"/>
    <p:sldId id="297" r:id="rId20"/>
    <p:sldId id="273" r:id="rId21"/>
    <p:sldId id="304" r:id="rId22"/>
    <p:sldId id="295" r:id="rId23"/>
    <p:sldId id="296" r:id="rId24"/>
    <p:sldId id="264" r:id="rId25"/>
    <p:sldId id="267" r:id="rId26"/>
    <p:sldId id="269" r:id="rId27"/>
    <p:sldId id="270" r:id="rId28"/>
    <p:sldId id="26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A46E04-277A-1A42-94B4-8335B1C5B0DF}">
          <p14:sldIdLst>
            <p14:sldId id="306"/>
            <p14:sldId id="307"/>
          </p14:sldIdLst>
        </p14:section>
        <p14:section name="History of Cloud" id="{27A201D5-6E26-D44A-A8C0-D4CD22FEC668}">
          <p14:sldIdLst>
            <p14:sldId id="274"/>
          </p14:sldIdLst>
        </p14:section>
        <p14:section name="What is Cloud Computing" id="{172D13C7-CDAB-E24C-AA64-8E58BEC3BEB7}">
          <p14:sldIdLst>
            <p14:sldId id="263"/>
            <p14:sldId id="258"/>
            <p14:sldId id="305"/>
            <p14:sldId id="318"/>
            <p14:sldId id="319"/>
            <p14:sldId id="275"/>
          </p14:sldIdLst>
        </p14:section>
        <p14:section name="Benefits of cloud computing" id="{8FD4E64F-CA11-2F4B-A2F5-558727E3FC30}">
          <p14:sldIdLst>
            <p14:sldId id="309"/>
          </p14:sldIdLst>
        </p14:section>
        <p14:section name="Cloud Models" id="{8B408891-82EB-4D48-B258-A0E5E30E131A}">
          <p14:sldIdLst>
            <p14:sldId id="292"/>
            <p14:sldId id="293"/>
          </p14:sldIdLst>
        </p14:section>
        <p14:section name="Service Models" id="{93C3938E-F67F-2343-A2F3-B1DB0D0975DA}">
          <p14:sldIdLst>
            <p14:sldId id="294"/>
            <p14:sldId id="316"/>
            <p14:sldId id="315"/>
          </p14:sldIdLst>
        </p14:section>
        <p14:section name="Global Infrastructure and services" id="{BC38001D-2843-8449-8E70-1121FFD037C8}">
          <p14:sldIdLst>
            <p14:sldId id="311"/>
            <p14:sldId id="313"/>
            <p14:sldId id="312"/>
            <p14:sldId id="297"/>
            <p14:sldId id="273"/>
            <p14:sldId id="304"/>
            <p14:sldId id="295"/>
            <p14:sldId id="296"/>
            <p14:sldId id="264"/>
            <p14:sldId id="267"/>
          </p14:sldIdLst>
        </p14:section>
        <p14:section name="The value of Cloud" id="{630F6A53-C169-8242-B972-1EB9D9D42668}">
          <p14:sldIdLst>
            <p14:sldId id="269"/>
            <p14:sldId id="270"/>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65" autoAdjust="0"/>
    <p:restoredTop sz="86082"/>
  </p:normalViewPr>
  <p:slideViewPr>
    <p:cSldViewPr snapToGrid="0">
      <p:cViewPr>
        <p:scale>
          <a:sx n="120" d="100"/>
          <a:sy n="120" d="100"/>
        </p:scale>
        <p:origin x="12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8" Type="http://schemas.openxmlformats.org/officeDocument/2006/relationships/hyperlink" Target="https://pixabay.com/en/time-time-of-clock-time-indicating-1606153/" TargetMode="External"/><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hyperlink" Target="https://dognumentandome.wordpress.com/2010/04/16/comandos-informativos-para-usar-en-la-terminal/" TargetMode="External"/><Relationship Id="rId1" Type="http://schemas.openxmlformats.org/officeDocument/2006/relationships/image" Target="../media/image16.png"/><Relationship Id="rId6" Type="http://schemas.openxmlformats.org/officeDocument/2006/relationships/hyperlink" Target="https://pixabay.com/vectors/edit-settings-options-icon-1103599/" TargetMode="External"/><Relationship Id="rId5" Type="http://schemas.openxmlformats.org/officeDocument/2006/relationships/image" Target="../media/image18.png"/><Relationship Id="rId4" Type="http://schemas.openxmlformats.org/officeDocument/2006/relationships/hyperlink" Target="https://www.pngall.com/data-center-png/download/45941" TargetMode="External"/><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hyperlink" Target="https://pixabay.com/en/time-time-of-clock-time-indicating-1606153/" TargetMode="External"/><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hyperlink" Target="https://dognumentandome.wordpress.com/2010/04/16/comandos-informativos-para-usar-en-la-terminal/" TargetMode="External"/><Relationship Id="rId1" Type="http://schemas.openxmlformats.org/officeDocument/2006/relationships/image" Target="../media/image16.png"/><Relationship Id="rId6" Type="http://schemas.openxmlformats.org/officeDocument/2006/relationships/hyperlink" Target="https://pixabay.com/vectors/edit-settings-options-icon-1103599/" TargetMode="External"/><Relationship Id="rId5" Type="http://schemas.openxmlformats.org/officeDocument/2006/relationships/image" Target="../media/image18.png"/><Relationship Id="rId4" Type="http://schemas.openxmlformats.org/officeDocument/2006/relationships/hyperlink" Target="https://www.pngall.com/data-center-png/download/45941" TargetMode="External"/><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029A5F-F029-4B28-9736-6D54D75C7DB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5E7FDF-4CA4-4CC8-A47D-0C8D9F63EF8B}">
      <dgm:prSet/>
      <dgm:spPr/>
      <dgm:t>
        <a:bodyPr/>
        <a:lstStyle/>
        <a:p>
          <a:pPr>
            <a:lnSpc>
              <a:spcPct val="100000"/>
            </a:lnSpc>
          </a:pPr>
          <a:r>
            <a:rPr lang="en-US" dirty="0"/>
            <a:t>Lightweight resource requirements or a microservice architecture</a:t>
          </a:r>
        </a:p>
      </dgm:t>
    </dgm:pt>
    <dgm:pt modelId="{B381DF89-DD89-45B0-B59A-7F0A19CCA966}" type="parTrans" cxnId="{73331CBE-ACCB-4B28-AC9C-203B5743E0F8}">
      <dgm:prSet/>
      <dgm:spPr/>
      <dgm:t>
        <a:bodyPr/>
        <a:lstStyle/>
        <a:p>
          <a:endParaRPr lang="en-US"/>
        </a:p>
      </dgm:t>
    </dgm:pt>
    <dgm:pt modelId="{3B6F298D-EA89-4536-9E30-FBC6F3EFBCB1}" type="sibTrans" cxnId="{73331CBE-ACCB-4B28-AC9C-203B5743E0F8}">
      <dgm:prSet/>
      <dgm:spPr/>
      <dgm:t>
        <a:bodyPr/>
        <a:lstStyle/>
        <a:p>
          <a:endParaRPr lang="en-US"/>
        </a:p>
      </dgm:t>
    </dgm:pt>
    <dgm:pt modelId="{B1220397-0D5B-4C14-BB47-E78635BE7789}">
      <dgm:prSet/>
      <dgm:spPr/>
      <dgm:t>
        <a:bodyPr/>
        <a:lstStyle/>
        <a:p>
          <a:pPr>
            <a:lnSpc>
              <a:spcPct val="100000"/>
            </a:lnSpc>
          </a:pPr>
          <a:r>
            <a:rPr lang="en-US" dirty="0"/>
            <a:t>A distributed physical infrastructure environment, including cloud-based servers</a:t>
          </a:r>
        </a:p>
      </dgm:t>
    </dgm:pt>
    <dgm:pt modelId="{20F1CFF3-FEA5-4BB5-ABC6-CE8D703D987A}" type="parTrans" cxnId="{B8FA59A9-35D8-47FA-A0C8-C79444A2279D}">
      <dgm:prSet/>
      <dgm:spPr/>
      <dgm:t>
        <a:bodyPr/>
        <a:lstStyle/>
        <a:p>
          <a:endParaRPr lang="en-US"/>
        </a:p>
      </dgm:t>
    </dgm:pt>
    <dgm:pt modelId="{0D3B5AAD-F81D-426D-955F-1586B5CEE3CD}" type="sibTrans" cxnId="{B8FA59A9-35D8-47FA-A0C8-C79444A2279D}">
      <dgm:prSet/>
      <dgm:spPr/>
      <dgm:t>
        <a:bodyPr/>
        <a:lstStyle/>
        <a:p>
          <a:endParaRPr lang="en-US"/>
        </a:p>
      </dgm:t>
    </dgm:pt>
    <dgm:pt modelId="{1A7B94F5-FDF7-4FB4-9A54-F56629A120D5}">
      <dgm:prSet/>
      <dgm:spPr/>
      <dgm:t>
        <a:bodyPr/>
        <a:lstStyle/>
        <a:p>
          <a:pPr>
            <a:lnSpc>
              <a:spcPct val="100000"/>
            </a:lnSpc>
          </a:pPr>
          <a:r>
            <a:rPr lang="en-US" dirty="0"/>
            <a:t>Rapid deployment cycles (</a:t>
          </a:r>
          <a:r>
            <a:rPr lang="en-US" dirty="0" err="1"/>
            <a:t>Dockerfiles</a:t>
          </a:r>
          <a:r>
            <a:rPr lang="en-US" dirty="0"/>
            <a:t> are easier to manage than VM configurations)</a:t>
          </a:r>
        </a:p>
      </dgm:t>
    </dgm:pt>
    <dgm:pt modelId="{F6A34265-1C67-459D-9E81-624673CA20A0}" type="parTrans" cxnId="{802FB899-64EE-423B-AACD-358C6908FE43}">
      <dgm:prSet/>
      <dgm:spPr/>
      <dgm:t>
        <a:bodyPr/>
        <a:lstStyle/>
        <a:p>
          <a:endParaRPr lang="en-US"/>
        </a:p>
      </dgm:t>
    </dgm:pt>
    <dgm:pt modelId="{7E49B048-5D88-4158-87DC-96F99AFBD335}" type="sibTrans" cxnId="{802FB899-64EE-423B-AACD-358C6908FE43}">
      <dgm:prSet/>
      <dgm:spPr/>
      <dgm:t>
        <a:bodyPr/>
        <a:lstStyle/>
        <a:p>
          <a:endParaRPr lang="en-US"/>
        </a:p>
      </dgm:t>
    </dgm:pt>
    <dgm:pt modelId="{000C64A8-5508-493B-B416-FFAA845D63B9}">
      <dgm:prSet/>
      <dgm:spPr/>
      <dgm:t>
        <a:bodyPr/>
        <a:lstStyle/>
        <a:p>
          <a:pPr>
            <a:lnSpc>
              <a:spcPct val="100000"/>
            </a:lnSpc>
          </a:pPr>
          <a:r>
            <a:rPr lang="en-US"/>
            <a:t>A rapid scalability requirement</a:t>
          </a:r>
        </a:p>
      </dgm:t>
    </dgm:pt>
    <dgm:pt modelId="{7B44EE8F-307C-4955-ADDC-2AA3DF6A8560}" type="parTrans" cxnId="{0DBA771E-4831-4382-A10A-84276862AD21}">
      <dgm:prSet/>
      <dgm:spPr/>
      <dgm:t>
        <a:bodyPr/>
        <a:lstStyle/>
        <a:p>
          <a:endParaRPr lang="en-US"/>
        </a:p>
      </dgm:t>
    </dgm:pt>
    <dgm:pt modelId="{7D88622B-1B33-45ED-A68D-FEA13F5528E4}" type="sibTrans" cxnId="{0DBA771E-4831-4382-A10A-84276862AD21}">
      <dgm:prSet/>
      <dgm:spPr/>
      <dgm:t>
        <a:bodyPr/>
        <a:lstStyle/>
        <a:p>
          <a:endParaRPr lang="en-US"/>
        </a:p>
      </dgm:t>
    </dgm:pt>
    <dgm:pt modelId="{E8BDC24B-DD0A-414C-AF56-86DAF779E60A}" type="pres">
      <dgm:prSet presAssocID="{AA029A5F-F029-4B28-9736-6D54D75C7DB3}" presName="root" presStyleCnt="0">
        <dgm:presLayoutVars>
          <dgm:dir/>
          <dgm:resizeHandles val="exact"/>
        </dgm:presLayoutVars>
      </dgm:prSet>
      <dgm:spPr/>
    </dgm:pt>
    <dgm:pt modelId="{B8F1486D-CE3C-4856-A2B1-93725FE85CE2}" type="pres">
      <dgm:prSet presAssocID="{805E7FDF-4CA4-4CC8-A47D-0C8D9F63EF8B}" presName="compNode" presStyleCnt="0"/>
      <dgm:spPr/>
    </dgm:pt>
    <dgm:pt modelId="{69725A55-A09B-40D2-990E-09C8F511F513}" type="pres">
      <dgm:prSet presAssocID="{805E7FDF-4CA4-4CC8-A47D-0C8D9F63EF8B}" presName="bgRect" presStyleLbl="bgShp" presStyleIdx="0" presStyleCnt="4"/>
      <dgm:spPr/>
    </dgm:pt>
    <dgm:pt modelId="{B5DC2E62-63B0-46CC-853A-40836CA14B6F}" type="pres">
      <dgm:prSet presAssocID="{805E7FDF-4CA4-4CC8-A47D-0C8D9F63EF8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53A9786-48B5-4E73-8293-6342DD428DF4}" type="pres">
      <dgm:prSet presAssocID="{805E7FDF-4CA4-4CC8-A47D-0C8D9F63EF8B}" presName="spaceRect" presStyleCnt="0"/>
      <dgm:spPr/>
    </dgm:pt>
    <dgm:pt modelId="{C9F86136-D8A5-4B09-A0D8-E704ADF7D927}" type="pres">
      <dgm:prSet presAssocID="{805E7FDF-4CA4-4CC8-A47D-0C8D9F63EF8B}" presName="parTx" presStyleLbl="revTx" presStyleIdx="0" presStyleCnt="4">
        <dgm:presLayoutVars>
          <dgm:chMax val="0"/>
          <dgm:chPref val="0"/>
        </dgm:presLayoutVars>
      </dgm:prSet>
      <dgm:spPr/>
    </dgm:pt>
    <dgm:pt modelId="{245DA733-D208-46EC-B3C1-741313755F28}" type="pres">
      <dgm:prSet presAssocID="{3B6F298D-EA89-4536-9E30-FBC6F3EFBCB1}" presName="sibTrans" presStyleCnt="0"/>
      <dgm:spPr/>
    </dgm:pt>
    <dgm:pt modelId="{4BA9A5A1-13F4-4DC3-8507-9EC2D0B10CF7}" type="pres">
      <dgm:prSet presAssocID="{B1220397-0D5B-4C14-BB47-E78635BE7789}" presName="compNode" presStyleCnt="0"/>
      <dgm:spPr/>
    </dgm:pt>
    <dgm:pt modelId="{BCC21EE2-1537-46AC-8EC9-96CDCF0479F4}" type="pres">
      <dgm:prSet presAssocID="{B1220397-0D5B-4C14-BB47-E78635BE7789}" presName="bgRect" presStyleLbl="bgShp" presStyleIdx="1" presStyleCnt="4"/>
      <dgm:spPr/>
    </dgm:pt>
    <dgm:pt modelId="{6A06497A-E01B-42D8-905E-D248ABAC1EBE}" type="pres">
      <dgm:prSet presAssocID="{B1220397-0D5B-4C14-BB47-E78635BE778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C497372D-4567-4EC1-B754-E4A460D68F9D}" type="pres">
      <dgm:prSet presAssocID="{B1220397-0D5B-4C14-BB47-E78635BE7789}" presName="spaceRect" presStyleCnt="0"/>
      <dgm:spPr/>
    </dgm:pt>
    <dgm:pt modelId="{7F84DC18-E931-481C-9AE0-E7E3D863BF4A}" type="pres">
      <dgm:prSet presAssocID="{B1220397-0D5B-4C14-BB47-E78635BE7789}" presName="parTx" presStyleLbl="revTx" presStyleIdx="1" presStyleCnt="4">
        <dgm:presLayoutVars>
          <dgm:chMax val="0"/>
          <dgm:chPref val="0"/>
        </dgm:presLayoutVars>
      </dgm:prSet>
      <dgm:spPr/>
    </dgm:pt>
    <dgm:pt modelId="{CD48B294-FF72-44A8-B311-1374509CDEE8}" type="pres">
      <dgm:prSet presAssocID="{0D3B5AAD-F81D-426D-955F-1586B5CEE3CD}" presName="sibTrans" presStyleCnt="0"/>
      <dgm:spPr/>
    </dgm:pt>
    <dgm:pt modelId="{5BA1A929-9C65-4D7D-844E-593647A7C3D1}" type="pres">
      <dgm:prSet presAssocID="{1A7B94F5-FDF7-4FB4-9A54-F56629A120D5}" presName="compNode" presStyleCnt="0"/>
      <dgm:spPr/>
    </dgm:pt>
    <dgm:pt modelId="{50B5D2DA-6C34-48A5-8BD5-37E700BBFB8F}" type="pres">
      <dgm:prSet presAssocID="{1A7B94F5-FDF7-4FB4-9A54-F56629A120D5}" presName="bgRect" presStyleLbl="bgShp" presStyleIdx="2" presStyleCnt="4"/>
      <dgm:spPr/>
    </dgm:pt>
    <dgm:pt modelId="{E82E191A-95A7-4478-B01E-8A9D142F2E91}" type="pres">
      <dgm:prSet presAssocID="{1A7B94F5-FDF7-4FB4-9A54-F56629A120D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E8C588E5-2D79-4179-8CD8-2B1AEF280F05}" type="pres">
      <dgm:prSet presAssocID="{1A7B94F5-FDF7-4FB4-9A54-F56629A120D5}" presName="spaceRect" presStyleCnt="0"/>
      <dgm:spPr/>
    </dgm:pt>
    <dgm:pt modelId="{22FEF6F7-7DA8-4A5D-BADB-4C693E719CAE}" type="pres">
      <dgm:prSet presAssocID="{1A7B94F5-FDF7-4FB4-9A54-F56629A120D5}" presName="parTx" presStyleLbl="revTx" presStyleIdx="2" presStyleCnt="4">
        <dgm:presLayoutVars>
          <dgm:chMax val="0"/>
          <dgm:chPref val="0"/>
        </dgm:presLayoutVars>
      </dgm:prSet>
      <dgm:spPr/>
    </dgm:pt>
    <dgm:pt modelId="{196E362A-FECF-44A5-BA3C-F5A642E670DD}" type="pres">
      <dgm:prSet presAssocID="{7E49B048-5D88-4158-87DC-96F99AFBD335}" presName="sibTrans" presStyleCnt="0"/>
      <dgm:spPr/>
    </dgm:pt>
    <dgm:pt modelId="{B48CAEA5-E77E-461D-A14C-4E78C5ACAA1D}" type="pres">
      <dgm:prSet presAssocID="{000C64A8-5508-493B-B416-FFAA845D63B9}" presName="compNode" presStyleCnt="0"/>
      <dgm:spPr/>
    </dgm:pt>
    <dgm:pt modelId="{20947791-06C3-4603-8848-DEB7B0343E86}" type="pres">
      <dgm:prSet presAssocID="{000C64A8-5508-493B-B416-FFAA845D63B9}" presName="bgRect" presStyleLbl="bgShp" presStyleIdx="3" presStyleCnt="4"/>
      <dgm:spPr/>
    </dgm:pt>
    <dgm:pt modelId="{41A44A79-2D75-4143-9A34-DBB71BB3EFEE}" type="pres">
      <dgm:prSet presAssocID="{000C64A8-5508-493B-B416-FFAA845D63B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200FE76C-3CB3-48D7-934B-D598A936D666}" type="pres">
      <dgm:prSet presAssocID="{000C64A8-5508-493B-B416-FFAA845D63B9}" presName="spaceRect" presStyleCnt="0"/>
      <dgm:spPr/>
    </dgm:pt>
    <dgm:pt modelId="{81F4A0B3-00AE-47B5-8F4B-9FBE49A82412}" type="pres">
      <dgm:prSet presAssocID="{000C64A8-5508-493B-B416-FFAA845D63B9}" presName="parTx" presStyleLbl="revTx" presStyleIdx="3" presStyleCnt="4">
        <dgm:presLayoutVars>
          <dgm:chMax val="0"/>
          <dgm:chPref val="0"/>
        </dgm:presLayoutVars>
      </dgm:prSet>
      <dgm:spPr/>
    </dgm:pt>
  </dgm:ptLst>
  <dgm:cxnLst>
    <dgm:cxn modelId="{E6F4CA18-D255-4B53-B5FD-6EF9A3C849DC}" type="presOf" srcId="{805E7FDF-4CA4-4CC8-A47D-0C8D9F63EF8B}" destId="{C9F86136-D8A5-4B09-A0D8-E704ADF7D927}" srcOrd="0" destOrd="0" presId="urn:microsoft.com/office/officeart/2018/2/layout/IconVerticalSolidList"/>
    <dgm:cxn modelId="{0DBA771E-4831-4382-A10A-84276862AD21}" srcId="{AA029A5F-F029-4B28-9736-6D54D75C7DB3}" destId="{000C64A8-5508-493B-B416-FFAA845D63B9}" srcOrd="3" destOrd="0" parTransId="{7B44EE8F-307C-4955-ADDC-2AA3DF6A8560}" sibTransId="{7D88622B-1B33-45ED-A68D-FEA13F5528E4}"/>
    <dgm:cxn modelId="{AAE1DF47-28C9-406D-8D63-E674D7657FFE}" type="presOf" srcId="{AA029A5F-F029-4B28-9736-6D54D75C7DB3}" destId="{E8BDC24B-DD0A-414C-AF56-86DAF779E60A}" srcOrd="0" destOrd="0" presId="urn:microsoft.com/office/officeart/2018/2/layout/IconVerticalSolidList"/>
    <dgm:cxn modelId="{83D45664-61C7-4DAD-A38C-D8CDD4680A5C}" type="presOf" srcId="{1A7B94F5-FDF7-4FB4-9A54-F56629A120D5}" destId="{22FEF6F7-7DA8-4A5D-BADB-4C693E719CAE}" srcOrd="0" destOrd="0" presId="urn:microsoft.com/office/officeart/2018/2/layout/IconVerticalSolidList"/>
    <dgm:cxn modelId="{F8B8DE6D-C6F2-44F4-A5E9-76187CD79EF4}" type="presOf" srcId="{000C64A8-5508-493B-B416-FFAA845D63B9}" destId="{81F4A0B3-00AE-47B5-8F4B-9FBE49A82412}" srcOrd="0" destOrd="0" presId="urn:microsoft.com/office/officeart/2018/2/layout/IconVerticalSolidList"/>
    <dgm:cxn modelId="{802FB899-64EE-423B-AACD-358C6908FE43}" srcId="{AA029A5F-F029-4B28-9736-6D54D75C7DB3}" destId="{1A7B94F5-FDF7-4FB4-9A54-F56629A120D5}" srcOrd="2" destOrd="0" parTransId="{F6A34265-1C67-459D-9E81-624673CA20A0}" sibTransId="{7E49B048-5D88-4158-87DC-96F99AFBD335}"/>
    <dgm:cxn modelId="{08F132A4-0E42-480C-B8D2-467414B0ACC5}" type="presOf" srcId="{B1220397-0D5B-4C14-BB47-E78635BE7789}" destId="{7F84DC18-E931-481C-9AE0-E7E3D863BF4A}" srcOrd="0" destOrd="0" presId="urn:microsoft.com/office/officeart/2018/2/layout/IconVerticalSolidList"/>
    <dgm:cxn modelId="{B8FA59A9-35D8-47FA-A0C8-C79444A2279D}" srcId="{AA029A5F-F029-4B28-9736-6D54D75C7DB3}" destId="{B1220397-0D5B-4C14-BB47-E78635BE7789}" srcOrd="1" destOrd="0" parTransId="{20F1CFF3-FEA5-4BB5-ABC6-CE8D703D987A}" sibTransId="{0D3B5AAD-F81D-426D-955F-1586B5CEE3CD}"/>
    <dgm:cxn modelId="{73331CBE-ACCB-4B28-AC9C-203B5743E0F8}" srcId="{AA029A5F-F029-4B28-9736-6D54D75C7DB3}" destId="{805E7FDF-4CA4-4CC8-A47D-0C8D9F63EF8B}" srcOrd="0" destOrd="0" parTransId="{B381DF89-DD89-45B0-B59A-7F0A19CCA966}" sibTransId="{3B6F298D-EA89-4536-9E30-FBC6F3EFBCB1}"/>
    <dgm:cxn modelId="{8C2843F3-F14B-458E-9876-135B223738E5}" type="presParOf" srcId="{E8BDC24B-DD0A-414C-AF56-86DAF779E60A}" destId="{B8F1486D-CE3C-4856-A2B1-93725FE85CE2}" srcOrd="0" destOrd="0" presId="urn:microsoft.com/office/officeart/2018/2/layout/IconVerticalSolidList"/>
    <dgm:cxn modelId="{F8E5755C-CBF9-4E01-81F8-D2FD7C765E91}" type="presParOf" srcId="{B8F1486D-CE3C-4856-A2B1-93725FE85CE2}" destId="{69725A55-A09B-40D2-990E-09C8F511F513}" srcOrd="0" destOrd="0" presId="urn:microsoft.com/office/officeart/2018/2/layout/IconVerticalSolidList"/>
    <dgm:cxn modelId="{858FC5FE-8C82-45C2-9056-D9AF607A30D5}" type="presParOf" srcId="{B8F1486D-CE3C-4856-A2B1-93725FE85CE2}" destId="{B5DC2E62-63B0-46CC-853A-40836CA14B6F}" srcOrd="1" destOrd="0" presId="urn:microsoft.com/office/officeart/2018/2/layout/IconVerticalSolidList"/>
    <dgm:cxn modelId="{9A91A8E9-355D-4E4E-8039-35A7FB3BB6CD}" type="presParOf" srcId="{B8F1486D-CE3C-4856-A2B1-93725FE85CE2}" destId="{B53A9786-48B5-4E73-8293-6342DD428DF4}" srcOrd="2" destOrd="0" presId="urn:microsoft.com/office/officeart/2018/2/layout/IconVerticalSolidList"/>
    <dgm:cxn modelId="{160C7348-123F-43A3-A508-C6FCA176C947}" type="presParOf" srcId="{B8F1486D-CE3C-4856-A2B1-93725FE85CE2}" destId="{C9F86136-D8A5-4B09-A0D8-E704ADF7D927}" srcOrd="3" destOrd="0" presId="urn:microsoft.com/office/officeart/2018/2/layout/IconVerticalSolidList"/>
    <dgm:cxn modelId="{B3961193-9600-4A54-946A-4D020859C266}" type="presParOf" srcId="{E8BDC24B-DD0A-414C-AF56-86DAF779E60A}" destId="{245DA733-D208-46EC-B3C1-741313755F28}" srcOrd="1" destOrd="0" presId="urn:microsoft.com/office/officeart/2018/2/layout/IconVerticalSolidList"/>
    <dgm:cxn modelId="{FD1F574A-11A6-4320-A287-D02A680801FF}" type="presParOf" srcId="{E8BDC24B-DD0A-414C-AF56-86DAF779E60A}" destId="{4BA9A5A1-13F4-4DC3-8507-9EC2D0B10CF7}" srcOrd="2" destOrd="0" presId="urn:microsoft.com/office/officeart/2018/2/layout/IconVerticalSolidList"/>
    <dgm:cxn modelId="{B9E3EE14-D614-44DA-9EB7-E938BCC5DFAD}" type="presParOf" srcId="{4BA9A5A1-13F4-4DC3-8507-9EC2D0B10CF7}" destId="{BCC21EE2-1537-46AC-8EC9-96CDCF0479F4}" srcOrd="0" destOrd="0" presId="urn:microsoft.com/office/officeart/2018/2/layout/IconVerticalSolidList"/>
    <dgm:cxn modelId="{8A306C13-1A59-4988-93D2-EE205BF32D5C}" type="presParOf" srcId="{4BA9A5A1-13F4-4DC3-8507-9EC2D0B10CF7}" destId="{6A06497A-E01B-42D8-905E-D248ABAC1EBE}" srcOrd="1" destOrd="0" presId="urn:microsoft.com/office/officeart/2018/2/layout/IconVerticalSolidList"/>
    <dgm:cxn modelId="{AD0C7FF8-F56A-44BE-8921-A61D4042EA04}" type="presParOf" srcId="{4BA9A5A1-13F4-4DC3-8507-9EC2D0B10CF7}" destId="{C497372D-4567-4EC1-B754-E4A460D68F9D}" srcOrd="2" destOrd="0" presId="urn:microsoft.com/office/officeart/2018/2/layout/IconVerticalSolidList"/>
    <dgm:cxn modelId="{5966AE15-0911-4BCC-B771-8CF86F119987}" type="presParOf" srcId="{4BA9A5A1-13F4-4DC3-8507-9EC2D0B10CF7}" destId="{7F84DC18-E931-481C-9AE0-E7E3D863BF4A}" srcOrd="3" destOrd="0" presId="urn:microsoft.com/office/officeart/2018/2/layout/IconVerticalSolidList"/>
    <dgm:cxn modelId="{64A7D389-2492-493D-ACC5-6F4830C547A0}" type="presParOf" srcId="{E8BDC24B-DD0A-414C-AF56-86DAF779E60A}" destId="{CD48B294-FF72-44A8-B311-1374509CDEE8}" srcOrd="3" destOrd="0" presId="urn:microsoft.com/office/officeart/2018/2/layout/IconVerticalSolidList"/>
    <dgm:cxn modelId="{340A2B83-360E-4482-9E0B-3274F0227E06}" type="presParOf" srcId="{E8BDC24B-DD0A-414C-AF56-86DAF779E60A}" destId="{5BA1A929-9C65-4D7D-844E-593647A7C3D1}" srcOrd="4" destOrd="0" presId="urn:microsoft.com/office/officeart/2018/2/layout/IconVerticalSolidList"/>
    <dgm:cxn modelId="{9D7215BF-6CC9-41C5-8344-204C70DAAECC}" type="presParOf" srcId="{5BA1A929-9C65-4D7D-844E-593647A7C3D1}" destId="{50B5D2DA-6C34-48A5-8BD5-37E700BBFB8F}" srcOrd="0" destOrd="0" presId="urn:microsoft.com/office/officeart/2018/2/layout/IconVerticalSolidList"/>
    <dgm:cxn modelId="{14DC6AAE-7E84-47AD-B986-4E177FFF0B49}" type="presParOf" srcId="{5BA1A929-9C65-4D7D-844E-593647A7C3D1}" destId="{E82E191A-95A7-4478-B01E-8A9D142F2E91}" srcOrd="1" destOrd="0" presId="urn:microsoft.com/office/officeart/2018/2/layout/IconVerticalSolidList"/>
    <dgm:cxn modelId="{149900C4-3D22-4D8F-B810-00D54FE4E491}" type="presParOf" srcId="{5BA1A929-9C65-4D7D-844E-593647A7C3D1}" destId="{E8C588E5-2D79-4179-8CD8-2B1AEF280F05}" srcOrd="2" destOrd="0" presId="urn:microsoft.com/office/officeart/2018/2/layout/IconVerticalSolidList"/>
    <dgm:cxn modelId="{151E9180-F02E-45E2-B541-C5F985EFC218}" type="presParOf" srcId="{5BA1A929-9C65-4D7D-844E-593647A7C3D1}" destId="{22FEF6F7-7DA8-4A5D-BADB-4C693E719CAE}" srcOrd="3" destOrd="0" presId="urn:microsoft.com/office/officeart/2018/2/layout/IconVerticalSolidList"/>
    <dgm:cxn modelId="{0BD92C5B-B1E1-4301-A034-C1983E491280}" type="presParOf" srcId="{E8BDC24B-DD0A-414C-AF56-86DAF779E60A}" destId="{196E362A-FECF-44A5-BA3C-F5A642E670DD}" srcOrd="5" destOrd="0" presId="urn:microsoft.com/office/officeart/2018/2/layout/IconVerticalSolidList"/>
    <dgm:cxn modelId="{430E3369-78F7-4684-845A-91952DA38C40}" type="presParOf" srcId="{E8BDC24B-DD0A-414C-AF56-86DAF779E60A}" destId="{B48CAEA5-E77E-461D-A14C-4E78C5ACAA1D}" srcOrd="6" destOrd="0" presId="urn:microsoft.com/office/officeart/2018/2/layout/IconVerticalSolidList"/>
    <dgm:cxn modelId="{56FFB2A9-1C9F-4CC6-AB17-972A810013A2}" type="presParOf" srcId="{B48CAEA5-E77E-461D-A14C-4E78C5ACAA1D}" destId="{20947791-06C3-4603-8848-DEB7B0343E86}" srcOrd="0" destOrd="0" presId="urn:microsoft.com/office/officeart/2018/2/layout/IconVerticalSolidList"/>
    <dgm:cxn modelId="{1FF6483C-A548-4ED3-8E83-62E75B1B0EC2}" type="presParOf" srcId="{B48CAEA5-E77E-461D-A14C-4E78C5ACAA1D}" destId="{41A44A79-2D75-4143-9A34-DBB71BB3EFEE}" srcOrd="1" destOrd="0" presId="urn:microsoft.com/office/officeart/2018/2/layout/IconVerticalSolidList"/>
    <dgm:cxn modelId="{30FE0C65-FCAF-4C71-972C-287E1D9EC276}" type="presParOf" srcId="{B48CAEA5-E77E-461D-A14C-4E78C5ACAA1D}" destId="{200FE76C-3CB3-48D7-934B-D598A936D666}" srcOrd="2" destOrd="0" presId="urn:microsoft.com/office/officeart/2018/2/layout/IconVerticalSolidList"/>
    <dgm:cxn modelId="{DC48F308-DA8E-40AA-BC58-D5EB70AE5478}" type="presParOf" srcId="{B48CAEA5-E77E-461D-A14C-4E78C5ACAA1D}" destId="{81F4A0B3-00AE-47B5-8F4B-9FBE49A8241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029A5F-F029-4B28-9736-6D54D75C7DB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5E7FDF-4CA4-4CC8-A47D-0C8D9F63EF8B}">
      <dgm:prSet/>
      <dgm:spPr/>
      <dgm:t>
        <a:bodyPr/>
        <a:lstStyle/>
        <a:p>
          <a:pPr>
            <a:lnSpc>
              <a:spcPct val="100000"/>
            </a:lnSpc>
          </a:pPr>
          <a:r>
            <a:rPr lang="en-US" dirty="0"/>
            <a:t>Operating system-specific dependencies</a:t>
          </a:r>
        </a:p>
      </dgm:t>
    </dgm:pt>
    <dgm:pt modelId="{B381DF89-DD89-45B0-B59A-7F0A19CCA966}" type="parTrans" cxnId="{73331CBE-ACCB-4B28-AC9C-203B5743E0F8}">
      <dgm:prSet/>
      <dgm:spPr/>
      <dgm:t>
        <a:bodyPr/>
        <a:lstStyle/>
        <a:p>
          <a:endParaRPr lang="en-US"/>
        </a:p>
      </dgm:t>
    </dgm:pt>
    <dgm:pt modelId="{3B6F298D-EA89-4536-9E30-FBC6F3EFBCB1}" type="sibTrans" cxnId="{73331CBE-ACCB-4B28-AC9C-203B5743E0F8}">
      <dgm:prSet/>
      <dgm:spPr/>
      <dgm:t>
        <a:bodyPr/>
        <a:lstStyle/>
        <a:p>
          <a:endParaRPr lang="en-US"/>
        </a:p>
      </dgm:t>
    </dgm:pt>
    <dgm:pt modelId="{B1220397-0D5B-4C14-BB47-E78635BE7789}">
      <dgm:prSet/>
      <dgm:spPr/>
      <dgm:t>
        <a:bodyPr/>
        <a:lstStyle/>
        <a:p>
          <a:pPr>
            <a:lnSpc>
              <a:spcPct val="100000"/>
            </a:lnSpc>
          </a:pPr>
          <a:r>
            <a:rPr lang="en-US" dirty="0"/>
            <a:t>Substantial hardware resource requirements</a:t>
          </a:r>
        </a:p>
      </dgm:t>
    </dgm:pt>
    <dgm:pt modelId="{20F1CFF3-FEA5-4BB5-ABC6-CE8D703D987A}" type="parTrans" cxnId="{B8FA59A9-35D8-47FA-A0C8-C79444A2279D}">
      <dgm:prSet/>
      <dgm:spPr/>
      <dgm:t>
        <a:bodyPr/>
        <a:lstStyle/>
        <a:p>
          <a:endParaRPr lang="en-US"/>
        </a:p>
      </dgm:t>
    </dgm:pt>
    <dgm:pt modelId="{0D3B5AAD-F81D-426D-955F-1586B5CEE3CD}" type="sibTrans" cxnId="{B8FA59A9-35D8-47FA-A0C8-C79444A2279D}">
      <dgm:prSet/>
      <dgm:spPr/>
      <dgm:t>
        <a:bodyPr/>
        <a:lstStyle/>
        <a:p>
          <a:endParaRPr lang="en-US"/>
        </a:p>
      </dgm:t>
    </dgm:pt>
    <dgm:pt modelId="{1A7B94F5-FDF7-4FB4-9A54-F56629A120D5}">
      <dgm:prSet/>
      <dgm:spPr/>
      <dgm:t>
        <a:bodyPr/>
        <a:lstStyle/>
        <a:p>
          <a:pPr>
            <a:lnSpc>
              <a:spcPct val="100000"/>
            </a:lnSpc>
          </a:pPr>
          <a:r>
            <a:rPr lang="en-US" dirty="0"/>
            <a:t>A need to set various controls in operating systems</a:t>
          </a:r>
        </a:p>
      </dgm:t>
    </dgm:pt>
    <dgm:pt modelId="{F6A34265-1C67-459D-9E81-624673CA20A0}" type="parTrans" cxnId="{802FB899-64EE-423B-AACD-358C6908FE43}">
      <dgm:prSet/>
      <dgm:spPr/>
      <dgm:t>
        <a:bodyPr/>
        <a:lstStyle/>
        <a:p>
          <a:endParaRPr lang="en-US"/>
        </a:p>
      </dgm:t>
    </dgm:pt>
    <dgm:pt modelId="{7E49B048-5D88-4158-87DC-96F99AFBD335}" type="sibTrans" cxnId="{802FB899-64EE-423B-AACD-358C6908FE43}">
      <dgm:prSet/>
      <dgm:spPr/>
      <dgm:t>
        <a:bodyPr/>
        <a:lstStyle/>
        <a:p>
          <a:endParaRPr lang="en-US"/>
        </a:p>
      </dgm:t>
    </dgm:pt>
    <dgm:pt modelId="{000C64A8-5508-493B-B416-FFAA845D63B9}">
      <dgm:prSet/>
      <dgm:spPr/>
      <dgm:t>
        <a:bodyPr/>
        <a:lstStyle/>
        <a:p>
          <a:pPr>
            <a:lnSpc>
              <a:spcPct val="100000"/>
            </a:lnSpc>
          </a:pPr>
          <a:r>
            <a:rPr lang="en-US" dirty="0"/>
            <a:t>Legacy applications that no longer run on modern operating systems</a:t>
          </a:r>
        </a:p>
      </dgm:t>
    </dgm:pt>
    <dgm:pt modelId="{7B44EE8F-307C-4955-ADDC-2AA3DF6A8560}" type="parTrans" cxnId="{0DBA771E-4831-4382-A10A-84276862AD21}">
      <dgm:prSet/>
      <dgm:spPr/>
      <dgm:t>
        <a:bodyPr/>
        <a:lstStyle/>
        <a:p>
          <a:endParaRPr lang="en-US"/>
        </a:p>
      </dgm:t>
    </dgm:pt>
    <dgm:pt modelId="{7D88622B-1B33-45ED-A68D-FEA13F5528E4}" type="sibTrans" cxnId="{0DBA771E-4831-4382-A10A-84276862AD21}">
      <dgm:prSet/>
      <dgm:spPr/>
      <dgm:t>
        <a:bodyPr/>
        <a:lstStyle/>
        <a:p>
          <a:endParaRPr lang="en-US"/>
        </a:p>
      </dgm:t>
    </dgm:pt>
    <dgm:pt modelId="{F4588B9F-3DAE-6348-BDCE-DFAA56E93F48}">
      <dgm:prSet/>
      <dgm:spPr/>
      <dgm:t>
        <a:bodyPr/>
        <a:lstStyle/>
        <a:p>
          <a:pPr>
            <a:lnSpc>
              <a:spcPct val="100000"/>
            </a:lnSpc>
          </a:pPr>
          <a:r>
            <a:rPr lang="en-US"/>
            <a:t>Different operating system requirements with a single underlying physical infrastructure available</a:t>
          </a:r>
          <a:endParaRPr lang="en-US" dirty="0"/>
        </a:p>
      </dgm:t>
    </dgm:pt>
    <dgm:pt modelId="{7425EF89-61AC-BF49-B3DB-C7572E0BA51A}" type="parTrans" cxnId="{DA07D634-7DD4-9B4E-B9F1-E7E9AA05ACE5}">
      <dgm:prSet/>
      <dgm:spPr/>
      <dgm:t>
        <a:bodyPr/>
        <a:lstStyle/>
        <a:p>
          <a:endParaRPr lang="en-US"/>
        </a:p>
      </dgm:t>
    </dgm:pt>
    <dgm:pt modelId="{E74D0DFE-F866-8145-9EE7-3C2C469E67ED}" type="sibTrans" cxnId="{DA07D634-7DD4-9B4E-B9F1-E7E9AA05ACE5}">
      <dgm:prSet/>
      <dgm:spPr/>
      <dgm:t>
        <a:bodyPr/>
        <a:lstStyle/>
        <a:p>
          <a:endParaRPr lang="en-US"/>
        </a:p>
      </dgm:t>
    </dgm:pt>
    <dgm:pt modelId="{E8BDC24B-DD0A-414C-AF56-86DAF779E60A}" type="pres">
      <dgm:prSet presAssocID="{AA029A5F-F029-4B28-9736-6D54D75C7DB3}" presName="root" presStyleCnt="0">
        <dgm:presLayoutVars>
          <dgm:dir/>
          <dgm:resizeHandles val="exact"/>
        </dgm:presLayoutVars>
      </dgm:prSet>
      <dgm:spPr/>
    </dgm:pt>
    <dgm:pt modelId="{B8F1486D-CE3C-4856-A2B1-93725FE85CE2}" type="pres">
      <dgm:prSet presAssocID="{805E7FDF-4CA4-4CC8-A47D-0C8D9F63EF8B}" presName="compNode" presStyleCnt="0"/>
      <dgm:spPr/>
    </dgm:pt>
    <dgm:pt modelId="{69725A55-A09B-40D2-990E-09C8F511F513}" type="pres">
      <dgm:prSet presAssocID="{805E7FDF-4CA4-4CC8-A47D-0C8D9F63EF8B}" presName="bgRect" presStyleLbl="bgShp" presStyleIdx="0" presStyleCnt="5"/>
      <dgm:spPr/>
    </dgm:pt>
    <dgm:pt modelId="{B5DC2E62-63B0-46CC-853A-40836CA14B6F}" type="pres">
      <dgm:prSet presAssocID="{805E7FDF-4CA4-4CC8-A47D-0C8D9F63EF8B}" presName="iconRect" presStyleLbl="node1" presStyleIdx="0" presStyleCnt="5"/>
      <dgm:spPr>
        <a:blipFill>
          <a:blip xmlns:r="http://schemas.openxmlformats.org/officeDocument/2006/relationships" r:embed="rId1">
            <a:extLst>
              <a:ext uri="{837473B0-CC2E-450A-ABE3-18F120FF3D39}">
                <a1611:picAttrSrcUrl xmlns:a1611="http://schemas.microsoft.com/office/drawing/2016/11/main" r:id="rId2"/>
              </a:ext>
            </a:extLst>
          </a:blip>
          <a:srcRect/>
          <a:stretch>
            <a:fillRect/>
          </a:stretch>
        </a:blipFill>
      </dgm:spPr>
    </dgm:pt>
    <dgm:pt modelId="{B53A9786-48B5-4E73-8293-6342DD428DF4}" type="pres">
      <dgm:prSet presAssocID="{805E7FDF-4CA4-4CC8-A47D-0C8D9F63EF8B}" presName="spaceRect" presStyleCnt="0"/>
      <dgm:spPr/>
    </dgm:pt>
    <dgm:pt modelId="{C9F86136-D8A5-4B09-A0D8-E704ADF7D927}" type="pres">
      <dgm:prSet presAssocID="{805E7FDF-4CA4-4CC8-A47D-0C8D9F63EF8B}" presName="parTx" presStyleLbl="revTx" presStyleIdx="0" presStyleCnt="5">
        <dgm:presLayoutVars>
          <dgm:chMax val="0"/>
          <dgm:chPref val="0"/>
        </dgm:presLayoutVars>
      </dgm:prSet>
      <dgm:spPr/>
    </dgm:pt>
    <dgm:pt modelId="{245DA733-D208-46EC-B3C1-741313755F28}" type="pres">
      <dgm:prSet presAssocID="{3B6F298D-EA89-4536-9E30-FBC6F3EFBCB1}" presName="sibTrans" presStyleCnt="0"/>
      <dgm:spPr/>
    </dgm:pt>
    <dgm:pt modelId="{4BA9A5A1-13F4-4DC3-8507-9EC2D0B10CF7}" type="pres">
      <dgm:prSet presAssocID="{B1220397-0D5B-4C14-BB47-E78635BE7789}" presName="compNode" presStyleCnt="0"/>
      <dgm:spPr/>
    </dgm:pt>
    <dgm:pt modelId="{BCC21EE2-1537-46AC-8EC9-96CDCF0479F4}" type="pres">
      <dgm:prSet presAssocID="{B1220397-0D5B-4C14-BB47-E78635BE7789}" presName="bgRect" presStyleLbl="bgShp" presStyleIdx="1" presStyleCnt="5"/>
      <dgm:spPr/>
    </dgm:pt>
    <dgm:pt modelId="{6A06497A-E01B-42D8-905E-D248ABAC1EBE}" type="pres">
      <dgm:prSet presAssocID="{B1220397-0D5B-4C14-BB47-E78635BE7789}" presName="iconRect" presStyleLbl="node1" presStyleIdx="1" presStyleCnt="5"/>
      <dgm:spPr>
        <a:blipFill>
          <a:blip xmlns:r="http://schemas.openxmlformats.org/officeDocument/2006/relationships" r:embed="rId3">
            <a:extLst>
              <a:ext uri="{837473B0-CC2E-450A-ABE3-18F120FF3D39}">
                <a1611:picAttrSrcUrl xmlns:a1611="http://schemas.microsoft.com/office/drawing/2016/11/main" r:id="rId4"/>
              </a:ext>
            </a:extLst>
          </a:blip>
          <a:srcRect/>
          <a:stretch>
            <a:fillRect l="-37000" r="-37000"/>
          </a:stretch>
        </a:blipFill>
      </dgm:spPr>
    </dgm:pt>
    <dgm:pt modelId="{C497372D-4567-4EC1-B754-E4A460D68F9D}" type="pres">
      <dgm:prSet presAssocID="{B1220397-0D5B-4C14-BB47-E78635BE7789}" presName="spaceRect" presStyleCnt="0"/>
      <dgm:spPr/>
    </dgm:pt>
    <dgm:pt modelId="{7F84DC18-E931-481C-9AE0-E7E3D863BF4A}" type="pres">
      <dgm:prSet presAssocID="{B1220397-0D5B-4C14-BB47-E78635BE7789}" presName="parTx" presStyleLbl="revTx" presStyleIdx="1" presStyleCnt="5">
        <dgm:presLayoutVars>
          <dgm:chMax val="0"/>
          <dgm:chPref val="0"/>
        </dgm:presLayoutVars>
      </dgm:prSet>
      <dgm:spPr/>
    </dgm:pt>
    <dgm:pt modelId="{CD48B294-FF72-44A8-B311-1374509CDEE8}" type="pres">
      <dgm:prSet presAssocID="{0D3B5AAD-F81D-426D-955F-1586B5CEE3CD}" presName="sibTrans" presStyleCnt="0"/>
      <dgm:spPr/>
    </dgm:pt>
    <dgm:pt modelId="{5BA1A929-9C65-4D7D-844E-593647A7C3D1}" type="pres">
      <dgm:prSet presAssocID="{1A7B94F5-FDF7-4FB4-9A54-F56629A120D5}" presName="compNode" presStyleCnt="0"/>
      <dgm:spPr/>
    </dgm:pt>
    <dgm:pt modelId="{50B5D2DA-6C34-48A5-8BD5-37E700BBFB8F}" type="pres">
      <dgm:prSet presAssocID="{1A7B94F5-FDF7-4FB4-9A54-F56629A120D5}" presName="bgRect" presStyleLbl="bgShp" presStyleIdx="2" presStyleCnt="5"/>
      <dgm:spPr/>
    </dgm:pt>
    <dgm:pt modelId="{E82E191A-95A7-4478-B01E-8A9D142F2E91}" type="pres">
      <dgm:prSet presAssocID="{1A7B94F5-FDF7-4FB4-9A54-F56629A120D5}" presName="iconRect" presStyleLbl="node1" presStyleIdx="2" presStyleCnt="5"/>
      <dgm:spPr>
        <a:blipFill>
          <a:blip xmlns:r="http://schemas.openxmlformats.org/officeDocument/2006/relationships" r:embed="rId5">
            <a:extLst>
              <a:ext uri="{837473B0-CC2E-450A-ABE3-18F120FF3D39}">
                <a1611:picAttrSrcUrl xmlns:a1611="http://schemas.microsoft.com/office/drawing/2016/11/main" r:id="rId6"/>
              </a:ext>
            </a:extLst>
          </a:blip>
          <a:srcRect/>
          <a:stretch>
            <a:fillRect/>
          </a:stretch>
        </a:blipFill>
      </dgm:spPr>
    </dgm:pt>
    <dgm:pt modelId="{E8C588E5-2D79-4179-8CD8-2B1AEF280F05}" type="pres">
      <dgm:prSet presAssocID="{1A7B94F5-FDF7-4FB4-9A54-F56629A120D5}" presName="spaceRect" presStyleCnt="0"/>
      <dgm:spPr/>
    </dgm:pt>
    <dgm:pt modelId="{22FEF6F7-7DA8-4A5D-BADB-4C693E719CAE}" type="pres">
      <dgm:prSet presAssocID="{1A7B94F5-FDF7-4FB4-9A54-F56629A120D5}" presName="parTx" presStyleLbl="revTx" presStyleIdx="2" presStyleCnt="5">
        <dgm:presLayoutVars>
          <dgm:chMax val="0"/>
          <dgm:chPref val="0"/>
        </dgm:presLayoutVars>
      </dgm:prSet>
      <dgm:spPr/>
    </dgm:pt>
    <dgm:pt modelId="{196E362A-FECF-44A5-BA3C-F5A642E670DD}" type="pres">
      <dgm:prSet presAssocID="{7E49B048-5D88-4158-87DC-96F99AFBD335}" presName="sibTrans" presStyleCnt="0"/>
      <dgm:spPr/>
    </dgm:pt>
    <dgm:pt modelId="{B48CAEA5-E77E-461D-A14C-4E78C5ACAA1D}" type="pres">
      <dgm:prSet presAssocID="{000C64A8-5508-493B-B416-FFAA845D63B9}" presName="compNode" presStyleCnt="0"/>
      <dgm:spPr/>
    </dgm:pt>
    <dgm:pt modelId="{20947791-06C3-4603-8848-DEB7B0343E86}" type="pres">
      <dgm:prSet presAssocID="{000C64A8-5508-493B-B416-FFAA845D63B9}" presName="bgRect" presStyleLbl="bgShp" presStyleIdx="3" presStyleCnt="5"/>
      <dgm:spPr/>
    </dgm:pt>
    <dgm:pt modelId="{41A44A79-2D75-4143-9A34-DBB71BB3EFEE}" type="pres">
      <dgm:prSet presAssocID="{000C64A8-5508-493B-B416-FFAA845D63B9}" presName="iconRect" presStyleLbl="node1" presStyleIdx="3" presStyleCnt="5"/>
      <dgm:spPr>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dgm:spPr>
    </dgm:pt>
    <dgm:pt modelId="{200FE76C-3CB3-48D7-934B-D598A936D666}" type="pres">
      <dgm:prSet presAssocID="{000C64A8-5508-493B-B416-FFAA845D63B9}" presName="spaceRect" presStyleCnt="0"/>
      <dgm:spPr/>
    </dgm:pt>
    <dgm:pt modelId="{81F4A0B3-00AE-47B5-8F4B-9FBE49A82412}" type="pres">
      <dgm:prSet presAssocID="{000C64A8-5508-493B-B416-FFAA845D63B9}" presName="parTx" presStyleLbl="revTx" presStyleIdx="3" presStyleCnt="5">
        <dgm:presLayoutVars>
          <dgm:chMax val="0"/>
          <dgm:chPref val="0"/>
        </dgm:presLayoutVars>
      </dgm:prSet>
      <dgm:spPr/>
    </dgm:pt>
    <dgm:pt modelId="{45580A69-6526-E847-9516-C8EE4EEB3C64}" type="pres">
      <dgm:prSet presAssocID="{7D88622B-1B33-45ED-A68D-FEA13F5528E4}" presName="sibTrans" presStyleCnt="0"/>
      <dgm:spPr/>
    </dgm:pt>
    <dgm:pt modelId="{44357513-40B3-5D4B-BE1F-EB37E40CDC5C}" type="pres">
      <dgm:prSet presAssocID="{F4588B9F-3DAE-6348-BDCE-DFAA56E93F48}" presName="compNode" presStyleCnt="0"/>
      <dgm:spPr/>
    </dgm:pt>
    <dgm:pt modelId="{E5E45BE6-1835-054F-9692-2296694F5E91}" type="pres">
      <dgm:prSet presAssocID="{F4588B9F-3DAE-6348-BDCE-DFAA56E93F48}" presName="bgRect" presStyleLbl="bgShp" presStyleIdx="4" presStyleCnt="5"/>
      <dgm:spPr/>
    </dgm:pt>
    <dgm:pt modelId="{FF799EAC-609A-5840-B608-E49D27AA4181}" type="pres">
      <dgm:prSet presAssocID="{F4588B9F-3DAE-6348-BDCE-DFAA56E93F48}" presName="iconRect" presStyleLbl="node1" presStyleIdx="4" presStyleCnt="5"/>
      <dgm:spPr>
        <a:blipFill>
          <a:blip xmlns:r="http://schemas.openxmlformats.org/officeDocument/2006/relationships" r:embed="rId9"/>
          <a:srcRect/>
          <a:stretch>
            <a:fillRect/>
          </a:stretch>
        </a:blipFill>
      </dgm:spPr>
    </dgm:pt>
    <dgm:pt modelId="{B7E2FB06-F990-4940-9D8E-71B215A4032B}" type="pres">
      <dgm:prSet presAssocID="{F4588B9F-3DAE-6348-BDCE-DFAA56E93F48}" presName="spaceRect" presStyleCnt="0"/>
      <dgm:spPr/>
    </dgm:pt>
    <dgm:pt modelId="{59B73AA7-8D80-D149-AED3-866A619E0055}" type="pres">
      <dgm:prSet presAssocID="{F4588B9F-3DAE-6348-BDCE-DFAA56E93F48}" presName="parTx" presStyleLbl="revTx" presStyleIdx="4" presStyleCnt="5">
        <dgm:presLayoutVars>
          <dgm:chMax val="0"/>
          <dgm:chPref val="0"/>
        </dgm:presLayoutVars>
      </dgm:prSet>
      <dgm:spPr/>
    </dgm:pt>
  </dgm:ptLst>
  <dgm:cxnLst>
    <dgm:cxn modelId="{E6F4CA18-D255-4B53-B5FD-6EF9A3C849DC}" type="presOf" srcId="{805E7FDF-4CA4-4CC8-A47D-0C8D9F63EF8B}" destId="{C9F86136-D8A5-4B09-A0D8-E704ADF7D927}" srcOrd="0" destOrd="0" presId="urn:microsoft.com/office/officeart/2018/2/layout/IconVerticalSolidList"/>
    <dgm:cxn modelId="{0DBA771E-4831-4382-A10A-84276862AD21}" srcId="{AA029A5F-F029-4B28-9736-6D54D75C7DB3}" destId="{000C64A8-5508-493B-B416-FFAA845D63B9}" srcOrd="3" destOrd="0" parTransId="{7B44EE8F-307C-4955-ADDC-2AA3DF6A8560}" sibTransId="{7D88622B-1B33-45ED-A68D-FEA13F5528E4}"/>
    <dgm:cxn modelId="{DA07D634-7DD4-9B4E-B9F1-E7E9AA05ACE5}" srcId="{AA029A5F-F029-4B28-9736-6D54D75C7DB3}" destId="{F4588B9F-3DAE-6348-BDCE-DFAA56E93F48}" srcOrd="4" destOrd="0" parTransId="{7425EF89-61AC-BF49-B3DB-C7572E0BA51A}" sibTransId="{E74D0DFE-F866-8145-9EE7-3C2C469E67ED}"/>
    <dgm:cxn modelId="{AAE1DF47-28C9-406D-8D63-E674D7657FFE}" type="presOf" srcId="{AA029A5F-F029-4B28-9736-6D54D75C7DB3}" destId="{E8BDC24B-DD0A-414C-AF56-86DAF779E60A}" srcOrd="0" destOrd="0" presId="urn:microsoft.com/office/officeart/2018/2/layout/IconVerticalSolidList"/>
    <dgm:cxn modelId="{83D45664-61C7-4DAD-A38C-D8CDD4680A5C}" type="presOf" srcId="{1A7B94F5-FDF7-4FB4-9A54-F56629A120D5}" destId="{22FEF6F7-7DA8-4A5D-BADB-4C693E719CAE}" srcOrd="0" destOrd="0" presId="urn:microsoft.com/office/officeart/2018/2/layout/IconVerticalSolidList"/>
    <dgm:cxn modelId="{F8B8DE6D-C6F2-44F4-A5E9-76187CD79EF4}" type="presOf" srcId="{000C64A8-5508-493B-B416-FFAA845D63B9}" destId="{81F4A0B3-00AE-47B5-8F4B-9FBE49A82412}" srcOrd="0" destOrd="0" presId="urn:microsoft.com/office/officeart/2018/2/layout/IconVerticalSolidList"/>
    <dgm:cxn modelId="{802FB899-64EE-423B-AACD-358C6908FE43}" srcId="{AA029A5F-F029-4B28-9736-6D54D75C7DB3}" destId="{1A7B94F5-FDF7-4FB4-9A54-F56629A120D5}" srcOrd="2" destOrd="0" parTransId="{F6A34265-1C67-459D-9E81-624673CA20A0}" sibTransId="{7E49B048-5D88-4158-87DC-96F99AFBD335}"/>
    <dgm:cxn modelId="{08F132A4-0E42-480C-B8D2-467414B0ACC5}" type="presOf" srcId="{B1220397-0D5B-4C14-BB47-E78635BE7789}" destId="{7F84DC18-E931-481C-9AE0-E7E3D863BF4A}" srcOrd="0" destOrd="0" presId="urn:microsoft.com/office/officeart/2018/2/layout/IconVerticalSolidList"/>
    <dgm:cxn modelId="{723C11A8-B2EF-1D41-9200-12722925652E}" type="presOf" srcId="{F4588B9F-3DAE-6348-BDCE-DFAA56E93F48}" destId="{59B73AA7-8D80-D149-AED3-866A619E0055}" srcOrd="0" destOrd="0" presId="urn:microsoft.com/office/officeart/2018/2/layout/IconVerticalSolidList"/>
    <dgm:cxn modelId="{B8FA59A9-35D8-47FA-A0C8-C79444A2279D}" srcId="{AA029A5F-F029-4B28-9736-6D54D75C7DB3}" destId="{B1220397-0D5B-4C14-BB47-E78635BE7789}" srcOrd="1" destOrd="0" parTransId="{20F1CFF3-FEA5-4BB5-ABC6-CE8D703D987A}" sibTransId="{0D3B5AAD-F81D-426D-955F-1586B5CEE3CD}"/>
    <dgm:cxn modelId="{73331CBE-ACCB-4B28-AC9C-203B5743E0F8}" srcId="{AA029A5F-F029-4B28-9736-6D54D75C7DB3}" destId="{805E7FDF-4CA4-4CC8-A47D-0C8D9F63EF8B}" srcOrd="0" destOrd="0" parTransId="{B381DF89-DD89-45B0-B59A-7F0A19CCA966}" sibTransId="{3B6F298D-EA89-4536-9E30-FBC6F3EFBCB1}"/>
    <dgm:cxn modelId="{8C2843F3-F14B-458E-9876-135B223738E5}" type="presParOf" srcId="{E8BDC24B-DD0A-414C-AF56-86DAF779E60A}" destId="{B8F1486D-CE3C-4856-A2B1-93725FE85CE2}" srcOrd="0" destOrd="0" presId="urn:microsoft.com/office/officeart/2018/2/layout/IconVerticalSolidList"/>
    <dgm:cxn modelId="{F8E5755C-CBF9-4E01-81F8-D2FD7C765E91}" type="presParOf" srcId="{B8F1486D-CE3C-4856-A2B1-93725FE85CE2}" destId="{69725A55-A09B-40D2-990E-09C8F511F513}" srcOrd="0" destOrd="0" presId="urn:microsoft.com/office/officeart/2018/2/layout/IconVerticalSolidList"/>
    <dgm:cxn modelId="{858FC5FE-8C82-45C2-9056-D9AF607A30D5}" type="presParOf" srcId="{B8F1486D-CE3C-4856-A2B1-93725FE85CE2}" destId="{B5DC2E62-63B0-46CC-853A-40836CA14B6F}" srcOrd="1" destOrd="0" presId="urn:microsoft.com/office/officeart/2018/2/layout/IconVerticalSolidList"/>
    <dgm:cxn modelId="{9A91A8E9-355D-4E4E-8039-35A7FB3BB6CD}" type="presParOf" srcId="{B8F1486D-CE3C-4856-A2B1-93725FE85CE2}" destId="{B53A9786-48B5-4E73-8293-6342DD428DF4}" srcOrd="2" destOrd="0" presId="urn:microsoft.com/office/officeart/2018/2/layout/IconVerticalSolidList"/>
    <dgm:cxn modelId="{160C7348-123F-43A3-A508-C6FCA176C947}" type="presParOf" srcId="{B8F1486D-CE3C-4856-A2B1-93725FE85CE2}" destId="{C9F86136-D8A5-4B09-A0D8-E704ADF7D927}" srcOrd="3" destOrd="0" presId="urn:microsoft.com/office/officeart/2018/2/layout/IconVerticalSolidList"/>
    <dgm:cxn modelId="{B3961193-9600-4A54-946A-4D020859C266}" type="presParOf" srcId="{E8BDC24B-DD0A-414C-AF56-86DAF779E60A}" destId="{245DA733-D208-46EC-B3C1-741313755F28}" srcOrd="1" destOrd="0" presId="urn:microsoft.com/office/officeart/2018/2/layout/IconVerticalSolidList"/>
    <dgm:cxn modelId="{FD1F574A-11A6-4320-A287-D02A680801FF}" type="presParOf" srcId="{E8BDC24B-DD0A-414C-AF56-86DAF779E60A}" destId="{4BA9A5A1-13F4-4DC3-8507-9EC2D0B10CF7}" srcOrd="2" destOrd="0" presId="urn:microsoft.com/office/officeart/2018/2/layout/IconVerticalSolidList"/>
    <dgm:cxn modelId="{B9E3EE14-D614-44DA-9EB7-E938BCC5DFAD}" type="presParOf" srcId="{4BA9A5A1-13F4-4DC3-8507-9EC2D0B10CF7}" destId="{BCC21EE2-1537-46AC-8EC9-96CDCF0479F4}" srcOrd="0" destOrd="0" presId="urn:microsoft.com/office/officeart/2018/2/layout/IconVerticalSolidList"/>
    <dgm:cxn modelId="{8A306C13-1A59-4988-93D2-EE205BF32D5C}" type="presParOf" srcId="{4BA9A5A1-13F4-4DC3-8507-9EC2D0B10CF7}" destId="{6A06497A-E01B-42D8-905E-D248ABAC1EBE}" srcOrd="1" destOrd="0" presId="urn:microsoft.com/office/officeart/2018/2/layout/IconVerticalSolidList"/>
    <dgm:cxn modelId="{AD0C7FF8-F56A-44BE-8921-A61D4042EA04}" type="presParOf" srcId="{4BA9A5A1-13F4-4DC3-8507-9EC2D0B10CF7}" destId="{C497372D-4567-4EC1-B754-E4A460D68F9D}" srcOrd="2" destOrd="0" presId="urn:microsoft.com/office/officeart/2018/2/layout/IconVerticalSolidList"/>
    <dgm:cxn modelId="{5966AE15-0911-4BCC-B771-8CF86F119987}" type="presParOf" srcId="{4BA9A5A1-13F4-4DC3-8507-9EC2D0B10CF7}" destId="{7F84DC18-E931-481C-9AE0-E7E3D863BF4A}" srcOrd="3" destOrd="0" presId="urn:microsoft.com/office/officeart/2018/2/layout/IconVerticalSolidList"/>
    <dgm:cxn modelId="{64A7D389-2492-493D-ACC5-6F4830C547A0}" type="presParOf" srcId="{E8BDC24B-DD0A-414C-AF56-86DAF779E60A}" destId="{CD48B294-FF72-44A8-B311-1374509CDEE8}" srcOrd="3" destOrd="0" presId="urn:microsoft.com/office/officeart/2018/2/layout/IconVerticalSolidList"/>
    <dgm:cxn modelId="{340A2B83-360E-4482-9E0B-3274F0227E06}" type="presParOf" srcId="{E8BDC24B-DD0A-414C-AF56-86DAF779E60A}" destId="{5BA1A929-9C65-4D7D-844E-593647A7C3D1}" srcOrd="4" destOrd="0" presId="urn:microsoft.com/office/officeart/2018/2/layout/IconVerticalSolidList"/>
    <dgm:cxn modelId="{9D7215BF-6CC9-41C5-8344-204C70DAAECC}" type="presParOf" srcId="{5BA1A929-9C65-4D7D-844E-593647A7C3D1}" destId="{50B5D2DA-6C34-48A5-8BD5-37E700BBFB8F}" srcOrd="0" destOrd="0" presId="urn:microsoft.com/office/officeart/2018/2/layout/IconVerticalSolidList"/>
    <dgm:cxn modelId="{14DC6AAE-7E84-47AD-B986-4E177FFF0B49}" type="presParOf" srcId="{5BA1A929-9C65-4D7D-844E-593647A7C3D1}" destId="{E82E191A-95A7-4478-B01E-8A9D142F2E91}" srcOrd="1" destOrd="0" presId="urn:microsoft.com/office/officeart/2018/2/layout/IconVerticalSolidList"/>
    <dgm:cxn modelId="{149900C4-3D22-4D8F-B810-00D54FE4E491}" type="presParOf" srcId="{5BA1A929-9C65-4D7D-844E-593647A7C3D1}" destId="{E8C588E5-2D79-4179-8CD8-2B1AEF280F05}" srcOrd="2" destOrd="0" presId="urn:microsoft.com/office/officeart/2018/2/layout/IconVerticalSolidList"/>
    <dgm:cxn modelId="{151E9180-F02E-45E2-B541-C5F985EFC218}" type="presParOf" srcId="{5BA1A929-9C65-4D7D-844E-593647A7C3D1}" destId="{22FEF6F7-7DA8-4A5D-BADB-4C693E719CAE}" srcOrd="3" destOrd="0" presId="urn:microsoft.com/office/officeart/2018/2/layout/IconVerticalSolidList"/>
    <dgm:cxn modelId="{0BD92C5B-B1E1-4301-A034-C1983E491280}" type="presParOf" srcId="{E8BDC24B-DD0A-414C-AF56-86DAF779E60A}" destId="{196E362A-FECF-44A5-BA3C-F5A642E670DD}" srcOrd="5" destOrd="0" presId="urn:microsoft.com/office/officeart/2018/2/layout/IconVerticalSolidList"/>
    <dgm:cxn modelId="{430E3369-78F7-4684-845A-91952DA38C40}" type="presParOf" srcId="{E8BDC24B-DD0A-414C-AF56-86DAF779E60A}" destId="{B48CAEA5-E77E-461D-A14C-4E78C5ACAA1D}" srcOrd="6" destOrd="0" presId="urn:microsoft.com/office/officeart/2018/2/layout/IconVerticalSolidList"/>
    <dgm:cxn modelId="{56FFB2A9-1C9F-4CC6-AB17-972A810013A2}" type="presParOf" srcId="{B48CAEA5-E77E-461D-A14C-4E78C5ACAA1D}" destId="{20947791-06C3-4603-8848-DEB7B0343E86}" srcOrd="0" destOrd="0" presId="urn:microsoft.com/office/officeart/2018/2/layout/IconVerticalSolidList"/>
    <dgm:cxn modelId="{1FF6483C-A548-4ED3-8E83-62E75B1B0EC2}" type="presParOf" srcId="{B48CAEA5-E77E-461D-A14C-4E78C5ACAA1D}" destId="{41A44A79-2D75-4143-9A34-DBB71BB3EFEE}" srcOrd="1" destOrd="0" presId="urn:microsoft.com/office/officeart/2018/2/layout/IconVerticalSolidList"/>
    <dgm:cxn modelId="{30FE0C65-FCAF-4C71-972C-287E1D9EC276}" type="presParOf" srcId="{B48CAEA5-E77E-461D-A14C-4E78C5ACAA1D}" destId="{200FE76C-3CB3-48D7-934B-D598A936D666}" srcOrd="2" destOrd="0" presId="urn:microsoft.com/office/officeart/2018/2/layout/IconVerticalSolidList"/>
    <dgm:cxn modelId="{DC48F308-DA8E-40AA-BC58-D5EB70AE5478}" type="presParOf" srcId="{B48CAEA5-E77E-461D-A14C-4E78C5ACAA1D}" destId="{81F4A0B3-00AE-47B5-8F4B-9FBE49A82412}" srcOrd="3" destOrd="0" presId="urn:microsoft.com/office/officeart/2018/2/layout/IconVerticalSolidList"/>
    <dgm:cxn modelId="{EA11F843-399F-A749-9122-ABDCCB5D6173}" type="presParOf" srcId="{E8BDC24B-DD0A-414C-AF56-86DAF779E60A}" destId="{45580A69-6526-E847-9516-C8EE4EEB3C64}" srcOrd="7" destOrd="0" presId="urn:microsoft.com/office/officeart/2018/2/layout/IconVerticalSolidList"/>
    <dgm:cxn modelId="{45704AE6-F002-C34D-80FB-CA472DA90D33}" type="presParOf" srcId="{E8BDC24B-DD0A-414C-AF56-86DAF779E60A}" destId="{44357513-40B3-5D4B-BE1F-EB37E40CDC5C}" srcOrd="8" destOrd="0" presId="urn:microsoft.com/office/officeart/2018/2/layout/IconVerticalSolidList"/>
    <dgm:cxn modelId="{8BF00FD7-0013-194E-B682-BFE6DC12D216}" type="presParOf" srcId="{44357513-40B3-5D4B-BE1F-EB37E40CDC5C}" destId="{E5E45BE6-1835-054F-9692-2296694F5E91}" srcOrd="0" destOrd="0" presId="urn:microsoft.com/office/officeart/2018/2/layout/IconVerticalSolidList"/>
    <dgm:cxn modelId="{A13DE008-366F-DB4D-8E5A-934E793A1B2F}" type="presParOf" srcId="{44357513-40B3-5D4B-BE1F-EB37E40CDC5C}" destId="{FF799EAC-609A-5840-B608-E49D27AA4181}" srcOrd="1" destOrd="0" presId="urn:microsoft.com/office/officeart/2018/2/layout/IconVerticalSolidList"/>
    <dgm:cxn modelId="{206B481D-3173-3240-924A-46BF72BCC3DD}" type="presParOf" srcId="{44357513-40B3-5D4B-BE1F-EB37E40CDC5C}" destId="{B7E2FB06-F990-4940-9D8E-71B215A4032B}" srcOrd="2" destOrd="0" presId="urn:microsoft.com/office/officeart/2018/2/layout/IconVerticalSolidList"/>
    <dgm:cxn modelId="{063C51F0-BDA9-D043-A435-FD177B21C1F2}" type="presParOf" srcId="{44357513-40B3-5D4B-BE1F-EB37E40CDC5C}" destId="{59B73AA7-8D80-D149-AED3-866A619E0055}"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4C2548-6C47-4ABC-B4D3-01BCC3954C9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51931B5-35DC-41AF-BC6E-05C1E8D25431}">
      <dgm:prSet/>
      <dgm:spPr/>
      <dgm:t>
        <a:bodyPr/>
        <a:lstStyle/>
        <a:p>
          <a:pPr algn="l"/>
          <a:r>
            <a:rPr lang="en-US" b="1"/>
            <a:t>Scalability</a:t>
          </a:r>
          <a:endParaRPr lang="en-US"/>
        </a:p>
      </dgm:t>
    </dgm:pt>
    <dgm:pt modelId="{1435AB40-3A80-4DE0-97B5-D1275352DBCC}" type="parTrans" cxnId="{22DCE45D-046B-4C59-B55C-9F95A82DADA4}">
      <dgm:prSet/>
      <dgm:spPr/>
      <dgm:t>
        <a:bodyPr/>
        <a:lstStyle/>
        <a:p>
          <a:endParaRPr lang="en-US"/>
        </a:p>
      </dgm:t>
    </dgm:pt>
    <dgm:pt modelId="{B36989A9-2BFA-4A4A-81F8-A724A454041D}" type="sibTrans" cxnId="{22DCE45D-046B-4C59-B55C-9F95A82DADA4}">
      <dgm:prSet/>
      <dgm:spPr/>
      <dgm:t>
        <a:bodyPr/>
        <a:lstStyle/>
        <a:p>
          <a:endParaRPr lang="en-US"/>
        </a:p>
      </dgm:t>
    </dgm:pt>
    <dgm:pt modelId="{2BF7D0E7-55A3-418C-AED5-BED311AB60B9}">
      <dgm:prSet/>
      <dgm:spPr/>
      <dgm:t>
        <a:bodyPr/>
        <a:lstStyle/>
        <a:p>
          <a:r>
            <a:rPr lang="en-US" dirty="0"/>
            <a:t>Scale infrastructure up or down based on demand</a:t>
          </a:r>
        </a:p>
      </dgm:t>
    </dgm:pt>
    <dgm:pt modelId="{2DCFDAC0-04AC-4D92-859E-29341F83D049}" type="parTrans" cxnId="{FB9CE9D3-A20D-4041-9CFB-B17B1C01AC70}">
      <dgm:prSet/>
      <dgm:spPr/>
      <dgm:t>
        <a:bodyPr/>
        <a:lstStyle/>
        <a:p>
          <a:endParaRPr lang="en-US"/>
        </a:p>
      </dgm:t>
    </dgm:pt>
    <dgm:pt modelId="{A18DF4C9-88D5-41CE-BD04-C1FBCA9A3CCF}" type="sibTrans" cxnId="{FB9CE9D3-A20D-4041-9CFB-B17B1C01AC70}">
      <dgm:prSet/>
      <dgm:spPr/>
      <dgm:t>
        <a:bodyPr/>
        <a:lstStyle/>
        <a:p>
          <a:endParaRPr lang="en-US"/>
        </a:p>
      </dgm:t>
    </dgm:pt>
    <dgm:pt modelId="{94B4FB82-E661-4E3E-A0EC-B0BC34B18905}">
      <dgm:prSet/>
      <dgm:spPr/>
      <dgm:t>
        <a:bodyPr/>
        <a:lstStyle/>
        <a:p>
          <a:pPr algn="l"/>
          <a:r>
            <a:rPr lang="en-US" b="1" dirty="0"/>
            <a:t>Cost Efficiency</a:t>
          </a:r>
          <a:endParaRPr lang="en-US" dirty="0"/>
        </a:p>
      </dgm:t>
    </dgm:pt>
    <dgm:pt modelId="{5C116231-724B-4122-BC0E-B1ACE9B8FA3F}" type="parTrans" cxnId="{9FA90F1F-3F9B-4941-A02D-6F50435E83CB}">
      <dgm:prSet/>
      <dgm:spPr/>
      <dgm:t>
        <a:bodyPr/>
        <a:lstStyle/>
        <a:p>
          <a:endParaRPr lang="en-US"/>
        </a:p>
      </dgm:t>
    </dgm:pt>
    <dgm:pt modelId="{4F45E0B6-0B0E-43EF-A8A4-C573E60561E1}" type="sibTrans" cxnId="{9FA90F1F-3F9B-4941-A02D-6F50435E83CB}">
      <dgm:prSet/>
      <dgm:spPr/>
      <dgm:t>
        <a:bodyPr/>
        <a:lstStyle/>
        <a:p>
          <a:endParaRPr lang="en-US"/>
        </a:p>
      </dgm:t>
    </dgm:pt>
    <dgm:pt modelId="{61239EA5-2AE6-4151-8F64-9D80B73BF70B}">
      <dgm:prSet/>
      <dgm:spPr/>
      <dgm:t>
        <a:bodyPr/>
        <a:lstStyle/>
        <a:p>
          <a:r>
            <a:rPr lang="en-US" dirty="0"/>
            <a:t>No upfront capital expense or physical hardware</a:t>
          </a:r>
        </a:p>
      </dgm:t>
    </dgm:pt>
    <dgm:pt modelId="{22B9C03E-B571-403F-A85E-A1AF4F9E01FE}" type="parTrans" cxnId="{21D5A975-57C9-41D7-A43F-7208550E522D}">
      <dgm:prSet/>
      <dgm:spPr/>
      <dgm:t>
        <a:bodyPr/>
        <a:lstStyle/>
        <a:p>
          <a:endParaRPr lang="en-US"/>
        </a:p>
      </dgm:t>
    </dgm:pt>
    <dgm:pt modelId="{D916070A-94E7-4D1F-829E-A7C715159813}" type="sibTrans" cxnId="{21D5A975-57C9-41D7-A43F-7208550E522D}">
      <dgm:prSet/>
      <dgm:spPr/>
      <dgm:t>
        <a:bodyPr/>
        <a:lstStyle/>
        <a:p>
          <a:endParaRPr lang="en-US"/>
        </a:p>
      </dgm:t>
    </dgm:pt>
    <dgm:pt modelId="{61DCE348-5B4C-4A6B-AEF6-12D6B00944D7}">
      <dgm:prSet/>
      <dgm:spPr/>
      <dgm:t>
        <a:bodyPr/>
        <a:lstStyle/>
        <a:p>
          <a:pPr algn="l"/>
          <a:r>
            <a:rPr lang="en-US" b="1" dirty="0"/>
            <a:t>Accessibility</a:t>
          </a:r>
          <a:endParaRPr lang="en-US" dirty="0"/>
        </a:p>
      </dgm:t>
    </dgm:pt>
    <dgm:pt modelId="{E6FD4CD9-FF1A-4BAD-BE9D-13EA5F59E676}" type="parTrans" cxnId="{9E346CF6-7252-45CD-A325-DE1E8549E115}">
      <dgm:prSet/>
      <dgm:spPr/>
      <dgm:t>
        <a:bodyPr/>
        <a:lstStyle/>
        <a:p>
          <a:endParaRPr lang="en-US"/>
        </a:p>
      </dgm:t>
    </dgm:pt>
    <dgm:pt modelId="{4D1CA3BD-CC90-4BF1-8BBA-9BD69A185838}" type="sibTrans" cxnId="{9E346CF6-7252-45CD-A325-DE1E8549E115}">
      <dgm:prSet/>
      <dgm:spPr/>
      <dgm:t>
        <a:bodyPr/>
        <a:lstStyle/>
        <a:p>
          <a:endParaRPr lang="en-US"/>
        </a:p>
      </dgm:t>
    </dgm:pt>
    <dgm:pt modelId="{DC40E1AC-50F5-4D16-84D0-7A1207EA2220}">
      <dgm:prSet/>
      <dgm:spPr/>
      <dgm:t>
        <a:bodyPr/>
        <a:lstStyle/>
        <a:p>
          <a:r>
            <a:rPr lang="en-US" dirty="0"/>
            <a:t>Access from anywhere with an internet connection</a:t>
          </a:r>
        </a:p>
      </dgm:t>
    </dgm:pt>
    <dgm:pt modelId="{E7C51CBC-EC69-477A-BD9D-DA7F5901D578}" type="parTrans" cxnId="{D88D5505-6A72-4607-AFBD-2A2C7EFDD10A}">
      <dgm:prSet/>
      <dgm:spPr/>
      <dgm:t>
        <a:bodyPr/>
        <a:lstStyle/>
        <a:p>
          <a:endParaRPr lang="en-US"/>
        </a:p>
      </dgm:t>
    </dgm:pt>
    <dgm:pt modelId="{E4B87DEC-FF17-4A3D-B3EC-FAFCE70BA8F1}" type="sibTrans" cxnId="{D88D5505-6A72-4607-AFBD-2A2C7EFDD10A}">
      <dgm:prSet/>
      <dgm:spPr/>
      <dgm:t>
        <a:bodyPr/>
        <a:lstStyle/>
        <a:p>
          <a:endParaRPr lang="en-US"/>
        </a:p>
      </dgm:t>
    </dgm:pt>
    <dgm:pt modelId="{AF531CC3-4192-4747-941F-B6795EB2F4D9}">
      <dgm:prSet/>
      <dgm:spPr/>
      <dgm:t>
        <a:bodyPr/>
        <a:lstStyle/>
        <a:p>
          <a:pPr algn="l"/>
          <a:r>
            <a:rPr lang="en-US" b="1" dirty="0"/>
            <a:t>Reliability and Redundancy</a:t>
          </a:r>
          <a:endParaRPr lang="en-US" dirty="0"/>
        </a:p>
      </dgm:t>
    </dgm:pt>
    <dgm:pt modelId="{0580C657-CCD5-4E1D-93B9-9618F4765904}" type="parTrans" cxnId="{98CA16B5-D1E0-4F59-AE55-4EB134DB058C}">
      <dgm:prSet/>
      <dgm:spPr/>
      <dgm:t>
        <a:bodyPr/>
        <a:lstStyle/>
        <a:p>
          <a:endParaRPr lang="en-US"/>
        </a:p>
      </dgm:t>
    </dgm:pt>
    <dgm:pt modelId="{79D4CA3A-F39E-4186-8F44-5A95AC513F62}" type="sibTrans" cxnId="{98CA16B5-D1E0-4F59-AE55-4EB134DB058C}">
      <dgm:prSet/>
      <dgm:spPr/>
      <dgm:t>
        <a:bodyPr/>
        <a:lstStyle/>
        <a:p>
          <a:endParaRPr lang="en-US"/>
        </a:p>
      </dgm:t>
    </dgm:pt>
    <dgm:pt modelId="{62EDBDA3-DD3E-435C-85EE-5AD9B13DFF2D}">
      <dgm:prSet/>
      <dgm:spPr/>
      <dgm:t>
        <a:bodyPr/>
        <a:lstStyle/>
        <a:p>
          <a:r>
            <a:rPr lang="en-US" dirty="0"/>
            <a:t>Reduced risk of data loss and downtime through high levels of reliability through data replication and redundancy.</a:t>
          </a:r>
        </a:p>
      </dgm:t>
    </dgm:pt>
    <dgm:pt modelId="{F4F2E81B-E0BC-4B2B-B698-AFEAE29A7D8D}" type="parTrans" cxnId="{6642C036-5251-462C-A199-7EA49EF63C76}">
      <dgm:prSet/>
      <dgm:spPr/>
      <dgm:t>
        <a:bodyPr/>
        <a:lstStyle/>
        <a:p>
          <a:endParaRPr lang="en-US"/>
        </a:p>
      </dgm:t>
    </dgm:pt>
    <dgm:pt modelId="{05660630-2232-4516-A98C-5F23B0F9F738}" type="sibTrans" cxnId="{6642C036-5251-462C-A199-7EA49EF63C76}">
      <dgm:prSet/>
      <dgm:spPr/>
      <dgm:t>
        <a:bodyPr/>
        <a:lstStyle/>
        <a:p>
          <a:endParaRPr lang="en-US"/>
        </a:p>
      </dgm:t>
    </dgm:pt>
    <dgm:pt modelId="{884A083F-2B10-4BFF-9E6C-29EE3199BC9C}">
      <dgm:prSet/>
      <dgm:spPr/>
      <dgm:t>
        <a:bodyPr/>
        <a:lstStyle/>
        <a:p>
          <a:pPr algn="l"/>
          <a:r>
            <a:rPr lang="en-US" b="1" dirty="0"/>
            <a:t>Security</a:t>
          </a:r>
          <a:endParaRPr lang="en-US" dirty="0"/>
        </a:p>
      </dgm:t>
    </dgm:pt>
    <dgm:pt modelId="{DF01B87E-2A7A-4D84-892D-8456E6821AFF}" type="parTrans" cxnId="{4B9B38CC-49CF-4DCA-A43D-54E2D6235EC5}">
      <dgm:prSet/>
      <dgm:spPr/>
      <dgm:t>
        <a:bodyPr/>
        <a:lstStyle/>
        <a:p>
          <a:endParaRPr lang="en-US"/>
        </a:p>
      </dgm:t>
    </dgm:pt>
    <dgm:pt modelId="{6C8F8B41-7C68-4EA9-98ED-C35CEEF9AB47}" type="sibTrans" cxnId="{4B9B38CC-49CF-4DCA-A43D-54E2D6235EC5}">
      <dgm:prSet/>
      <dgm:spPr/>
      <dgm:t>
        <a:bodyPr/>
        <a:lstStyle/>
        <a:p>
          <a:endParaRPr lang="en-US"/>
        </a:p>
      </dgm:t>
    </dgm:pt>
    <dgm:pt modelId="{24963228-D089-4708-BB10-608A9F3F2C57}">
      <dgm:prSet/>
      <dgm:spPr/>
      <dgm:t>
        <a:bodyPr/>
        <a:lstStyle/>
        <a:p>
          <a:r>
            <a:rPr lang="en-US" dirty="0"/>
            <a:t>Physically secured infrastructure and compliance certifications</a:t>
          </a:r>
        </a:p>
      </dgm:t>
    </dgm:pt>
    <dgm:pt modelId="{0BC702AB-082A-4084-8F35-6C34C09DE4BF}" type="parTrans" cxnId="{55CF2B6C-172A-4EBE-B94B-660250D7C3CE}">
      <dgm:prSet/>
      <dgm:spPr/>
      <dgm:t>
        <a:bodyPr/>
        <a:lstStyle/>
        <a:p>
          <a:endParaRPr lang="en-US"/>
        </a:p>
      </dgm:t>
    </dgm:pt>
    <dgm:pt modelId="{5C605D83-33A3-48AF-8E77-5216C1E94651}" type="sibTrans" cxnId="{55CF2B6C-172A-4EBE-B94B-660250D7C3CE}">
      <dgm:prSet/>
      <dgm:spPr/>
      <dgm:t>
        <a:bodyPr/>
        <a:lstStyle/>
        <a:p>
          <a:endParaRPr lang="en-US"/>
        </a:p>
      </dgm:t>
    </dgm:pt>
    <dgm:pt modelId="{4D1ADB8C-F7FA-4655-889C-113F66BA8797}">
      <dgm:prSet/>
      <dgm:spPr/>
      <dgm:t>
        <a:bodyPr/>
        <a:lstStyle/>
        <a:p>
          <a:pPr algn="l"/>
          <a:r>
            <a:rPr lang="en-US" b="1" dirty="0"/>
            <a:t>Innovation</a:t>
          </a:r>
          <a:endParaRPr lang="en-US" dirty="0"/>
        </a:p>
      </dgm:t>
    </dgm:pt>
    <dgm:pt modelId="{287E3E7C-2BEE-441F-919D-72DBAB521CE7}" type="parTrans" cxnId="{41FFF104-26ED-40C0-B013-DEC32024EAF8}">
      <dgm:prSet/>
      <dgm:spPr/>
      <dgm:t>
        <a:bodyPr/>
        <a:lstStyle/>
        <a:p>
          <a:endParaRPr lang="en-US"/>
        </a:p>
      </dgm:t>
    </dgm:pt>
    <dgm:pt modelId="{F24B91C6-0238-4818-9460-8CA245BD4AF1}" type="sibTrans" cxnId="{41FFF104-26ED-40C0-B013-DEC32024EAF8}">
      <dgm:prSet/>
      <dgm:spPr/>
      <dgm:t>
        <a:bodyPr/>
        <a:lstStyle/>
        <a:p>
          <a:endParaRPr lang="en-US"/>
        </a:p>
      </dgm:t>
    </dgm:pt>
    <dgm:pt modelId="{5B4D790B-C3A7-4EEF-A163-E28A2C928F8C}">
      <dgm:prSet/>
      <dgm:spPr/>
      <dgm:t>
        <a:bodyPr/>
        <a:lstStyle/>
        <a:p>
          <a:r>
            <a:rPr lang="en-US" dirty="0"/>
            <a:t>Wide range of tools and services allowing rapid business innovation</a:t>
          </a:r>
        </a:p>
      </dgm:t>
    </dgm:pt>
    <dgm:pt modelId="{CBB5E6C0-B03E-40E3-94BD-9D09554FC9CC}" type="parTrans" cxnId="{73EEA5CB-DE2F-42B0-8870-A6418D54C151}">
      <dgm:prSet/>
      <dgm:spPr/>
      <dgm:t>
        <a:bodyPr/>
        <a:lstStyle/>
        <a:p>
          <a:endParaRPr lang="en-US"/>
        </a:p>
      </dgm:t>
    </dgm:pt>
    <dgm:pt modelId="{D59C89AF-276E-48F5-B0BE-D49A4603D806}" type="sibTrans" cxnId="{73EEA5CB-DE2F-42B0-8870-A6418D54C151}">
      <dgm:prSet/>
      <dgm:spPr/>
      <dgm:t>
        <a:bodyPr/>
        <a:lstStyle/>
        <a:p>
          <a:endParaRPr lang="en-US"/>
        </a:p>
      </dgm:t>
    </dgm:pt>
    <dgm:pt modelId="{08C9595B-637C-4567-AA14-C2671A7C0AA7}">
      <dgm:prSet/>
      <dgm:spPr/>
      <dgm:t>
        <a:bodyPr/>
        <a:lstStyle/>
        <a:p>
          <a:pPr algn="l"/>
          <a:r>
            <a:rPr lang="en-US" b="1" dirty="0"/>
            <a:t>Global Reach</a:t>
          </a:r>
          <a:endParaRPr lang="en-US" dirty="0"/>
        </a:p>
      </dgm:t>
    </dgm:pt>
    <dgm:pt modelId="{550D69F1-9E23-4C7D-A6BA-7178CD41BFEE}" type="parTrans" cxnId="{488C7BAE-538F-4D45-87FB-929C69F2C649}">
      <dgm:prSet/>
      <dgm:spPr/>
      <dgm:t>
        <a:bodyPr/>
        <a:lstStyle/>
        <a:p>
          <a:endParaRPr lang="en-US"/>
        </a:p>
      </dgm:t>
    </dgm:pt>
    <dgm:pt modelId="{91778C47-6DFD-4BCD-A133-F425A701E341}" type="sibTrans" cxnId="{488C7BAE-538F-4D45-87FB-929C69F2C649}">
      <dgm:prSet/>
      <dgm:spPr/>
      <dgm:t>
        <a:bodyPr/>
        <a:lstStyle/>
        <a:p>
          <a:endParaRPr lang="en-US"/>
        </a:p>
      </dgm:t>
    </dgm:pt>
    <dgm:pt modelId="{7921872C-7904-44C3-A8A8-7954D5572F6F}">
      <dgm:prSet/>
      <dgm:spPr/>
      <dgm:t>
        <a:bodyPr/>
        <a:lstStyle/>
        <a:p>
          <a:r>
            <a:rPr lang="en-US" dirty="0"/>
            <a:t>Worldwide, global reach, with multiple data centers</a:t>
          </a:r>
        </a:p>
      </dgm:t>
    </dgm:pt>
    <dgm:pt modelId="{A7AB87E5-39E1-4CC5-BDA7-A2B6885E146A}" type="parTrans" cxnId="{76269DB9-AEBF-4255-87E8-959F2B1E85A7}">
      <dgm:prSet/>
      <dgm:spPr/>
      <dgm:t>
        <a:bodyPr/>
        <a:lstStyle/>
        <a:p>
          <a:endParaRPr lang="en-US"/>
        </a:p>
      </dgm:t>
    </dgm:pt>
    <dgm:pt modelId="{F5847DCB-B31B-4F83-9F25-4668B3E61C07}" type="sibTrans" cxnId="{76269DB9-AEBF-4255-87E8-959F2B1E85A7}">
      <dgm:prSet/>
      <dgm:spPr/>
      <dgm:t>
        <a:bodyPr/>
        <a:lstStyle/>
        <a:p>
          <a:endParaRPr lang="en-US"/>
        </a:p>
      </dgm:t>
    </dgm:pt>
    <dgm:pt modelId="{E6640581-E0AF-1349-B2E9-CCE4FFFAFA13}">
      <dgm:prSet/>
      <dgm:spPr/>
      <dgm:t>
        <a:bodyPr/>
        <a:lstStyle/>
        <a:p>
          <a:r>
            <a:rPr lang="en-US" dirty="0"/>
            <a:t>Flexible cost optimization supporting fluctuating business workloads</a:t>
          </a:r>
        </a:p>
      </dgm:t>
    </dgm:pt>
    <dgm:pt modelId="{7DC73965-E653-304C-BEF3-E549A6056223}" type="parTrans" cxnId="{CDA3C2B9-A6D1-4749-ACB2-86CC2A057419}">
      <dgm:prSet/>
      <dgm:spPr/>
      <dgm:t>
        <a:bodyPr/>
        <a:lstStyle/>
        <a:p>
          <a:endParaRPr lang="en-US"/>
        </a:p>
      </dgm:t>
    </dgm:pt>
    <dgm:pt modelId="{6680673E-4210-DA43-AB2F-439DD3C9C879}" type="sibTrans" cxnId="{CDA3C2B9-A6D1-4749-ACB2-86CC2A057419}">
      <dgm:prSet/>
      <dgm:spPr/>
      <dgm:t>
        <a:bodyPr/>
        <a:lstStyle/>
        <a:p>
          <a:endParaRPr lang="en-US"/>
        </a:p>
      </dgm:t>
    </dgm:pt>
    <dgm:pt modelId="{617D7611-79CA-D14C-8F88-91280ADC90D2}">
      <dgm:prSet/>
      <dgm:spPr/>
      <dgm:t>
        <a:bodyPr/>
        <a:lstStyle/>
        <a:p>
          <a:r>
            <a:rPr lang="en-US" dirty="0"/>
            <a:t>Pay for what you use, on-demand</a:t>
          </a:r>
        </a:p>
      </dgm:t>
    </dgm:pt>
    <dgm:pt modelId="{9E656CBA-4625-DC48-A078-F628372F4F85}" type="parTrans" cxnId="{5F6FC7CC-E1B2-4043-BAB7-752676D6D037}">
      <dgm:prSet/>
      <dgm:spPr/>
      <dgm:t>
        <a:bodyPr/>
        <a:lstStyle/>
        <a:p>
          <a:endParaRPr lang="en-US"/>
        </a:p>
      </dgm:t>
    </dgm:pt>
    <dgm:pt modelId="{1D661D6C-E5C4-D847-ADAC-A0D570BD7C61}" type="sibTrans" cxnId="{5F6FC7CC-E1B2-4043-BAB7-752676D6D037}">
      <dgm:prSet/>
      <dgm:spPr/>
      <dgm:t>
        <a:bodyPr/>
        <a:lstStyle/>
        <a:p>
          <a:endParaRPr lang="en-US"/>
        </a:p>
      </dgm:t>
    </dgm:pt>
    <dgm:pt modelId="{E19F84C0-83A6-254A-A0F5-B862B936F389}">
      <dgm:prSet/>
      <dgm:spPr/>
      <dgm:t>
        <a:bodyPr/>
        <a:lstStyle/>
        <a:p>
          <a:r>
            <a:rPr lang="en-US" dirty="0"/>
            <a:t>Enable remote work, collaboration, and data access</a:t>
          </a:r>
        </a:p>
      </dgm:t>
    </dgm:pt>
    <dgm:pt modelId="{94BA1855-3C7C-F240-B730-36BD5BEC662B}" type="parTrans" cxnId="{C4F79E43-341C-AC47-BDDE-A7D4FB511A9D}">
      <dgm:prSet/>
      <dgm:spPr/>
      <dgm:t>
        <a:bodyPr/>
        <a:lstStyle/>
        <a:p>
          <a:endParaRPr lang="en-US"/>
        </a:p>
      </dgm:t>
    </dgm:pt>
    <dgm:pt modelId="{EFBD89EE-BE29-AA40-B1A6-0FA37CF77486}" type="sibTrans" cxnId="{C4F79E43-341C-AC47-BDDE-A7D4FB511A9D}">
      <dgm:prSet/>
      <dgm:spPr/>
      <dgm:t>
        <a:bodyPr/>
        <a:lstStyle/>
        <a:p>
          <a:endParaRPr lang="en-US"/>
        </a:p>
      </dgm:t>
    </dgm:pt>
    <dgm:pt modelId="{C1FC6353-795C-8840-9ABC-3ADC6A594BC4}">
      <dgm:prSet/>
      <dgm:spPr/>
      <dgm:t>
        <a:bodyPr/>
        <a:lstStyle/>
        <a:p>
          <a:r>
            <a:rPr lang="en-US" dirty="0"/>
            <a:t>Often better than individual organizations</a:t>
          </a:r>
        </a:p>
      </dgm:t>
    </dgm:pt>
    <dgm:pt modelId="{F6554B00-342F-3049-8E1C-CFCB59C3C526}" type="parTrans" cxnId="{3819FBA2-E112-0C4B-BA2C-4005C358ABAB}">
      <dgm:prSet/>
      <dgm:spPr/>
      <dgm:t>
        <a:bodyPr/>
        <a:lstStyle/>
        <a:p>
          <a:endParaRPr lang="en-US"/>
        </a:p>
      </dgm:t>
    </dgm:pt>
    <dgm:pt modelId="{44B16156-D1E6-054B-AD0E-3DC26B5D9200}" type="sibTrans" cxnId="{3819FBA2-E112-0C4B-BA2C-4005C358ABAB}">
      <dgm:prSet/>
      <dgm:spPr/>
      <dgm:t>
        <a:bodyPr/>
        <a:lstStyle/>
        <a:p>
          <a:endParaRPr lang="en-US"/>
        </a:p>
      </dgm:t>
    </dgm:pt>
    <dgm:pt modelId="{88CDA646-B799-BC4E-811C-2E5B24AD4A72}">
      <dgm:prSet/>
      <dgm:spPr/>
      <dgm:t>
        <a:bodyPr/>
        <a:lstStyle/>
        <a:p>
          <a:r>
            <a:rPr lang="en-US" dirty="0"/>
            <a:t>Avoid ground-up builds</a:t>
          </a:r>
        </a:p>
      </dgm:t>
    </dgm:pt>
    <dgm:pt modelId="{1DD98A98-3D2F-104C-8291-2ECDFD4C2646}" type="parTrans" cxnId="{2F7EEDE4-4127-0743-B17C-C7F945696EDE}">
      <dgm:prSet/>
      <dgm:spPr/>
      <dgm:t>
        <a:bodyPr/>
        <a:lstStyle/>
        <a:p>
          <a:endParaRPr lang="en-US"/>
        </a:p>
      </dgm:t>
    </dgm:pt>
    <dgm:pt modelId="{A533E09B-D0DC-374A-A99A-31D90B15DC6D}" type="sibTrans" cxnId="{2F7EEDE4-4127-0743-B17C-C7F945696EDE}">
      <dgm:prSet/>
      <dgm:spPr/>
      <dgm:t>
        <a:bodyPr/>
        <a:lstStyle/>
        <a:p>
          <a:endParaRPr lang="en-US"/>
        </a:p>
      </dgm:t>
    </dgm:pt>
    <dgm:pt modelId="{193BBD54-048A-314E-B551-D428BF066687}">
      <dgm:prSet/>
      <dgm:spPr/>
      <dgm:t>
        <a:bodyPr/>
        <a:lstStyle/>
        <a:p>
          <a:r>
            <a:rPr lang="en-US" dirty="0"/>
            <a:t>Easy expansion and global presence</a:t>
          </a:r>
        </a:p>
      </dgm:t>
    </dgm:pt>
    <dgm:pt modelId="{C5A75791-FBE3-2140-8542-0B6E6048EA26}" type="parTrans" cxnId="{43A3EAA6-3B58-6746-B3BA-149AE71FEF05}">
      <dgm:prSet/>
      <dgm:spPr/>
      <dgm:t>
        <a:bodyPr/>
        <a:lstStyle/>
        <a:p>
          <a:endParaRPr lang="en-US"/>
        </a:p>
      </dgm:t>
    </dgm:pt>
    <dgm:pt modelId="{91B90EF1-6E6F-E84F-9CAC-5C7016B24AF9}" type="sibTrans" cxnId="{43A3EAA6-3B58-6746-B3BA-149AE71FEF05}">
      <dgm:prSet/>
      <dgm:spPr/>
      <dgm:t>
        <a:bodyPr/>
        <a:lstStyle/>
        <a:p>
          <a:endParaRPr lang="en-US"/>
        </a:p>
      </dgm:t>
    </dgm:pt>
    <dgm:pt modelId="{5E920AE9-6840-4E43-B514-6D4E95760B2A}" type="pres">
      <dgm:prSet presAssocID="{744C2548-6C47-4ABC-B4D3-01BCC3954C91}" presName="Name0" presStyleCnt="0">
        <dgm:presLayoutVars>
          <dgm:dir/>
          <dgm:animLvl val="lvl"/>
          <dgm:resizeHandles val="exact"/>
        </dgm:presLayoutVars>
      </dgm:prSet>
      <dgm:spPr/>
    </dgm:pt>
    <dgm:pt modelId="{9563B09A-427D-BE4B-B9D7-D57CC9837403}" type="pres">
      <dgm:prSet presAssocID="{651931B5-35DC-41AF-BC6E-05C1E8D25431}" presName="linNode" presStyleCnt="0"/>
      <dgm:spPr/>
    </dgm:pt>
    <dgm:pt modelId="{831E5A7E-65F3-CE4D-8CC6-4AB3A08824EF}" type="pres">
      <dgm:prSet presAssocID="{651931B5-35DC-41AF-BC6E-05C1E8D25431}" presName="parentText" presStyleLbl="node1" presStyleIdx="0" presStyleCnt="7">
        <dgm:presLayoutVars>
          <dgm:chMax val="1"/>
          <dgm:bulletEnabled val="1"/>
        </dgm:presLayoutVars>
      </dgm:prSet>
      <dgm:spPr/>
    </dgm:pt>
    <dgm:pt modelId="{EDD5592A-2075-A248-B13D-C1B049265DEC}" type="pres">
      <dgm:prSet presAssocID="{651931B5-35DC-41AF-BC6E-05C1E8D25431}" presName="descendantText" presStyleLbl="alignAccFollowNode1" presStyleIdx="0" presStyleCnt="7">
        <dgm:presLayoutVars>
          <dgm:bulletEnabled val="1"/>
        </dgm:presLayoutVars>
      </dgm:prSet>
      <dgm:spPr/>
    </dgm:pt>
    <dgm:pt modelId="{D0120CEE-913D-984B-8E06-F4A42F4337AC}" type="pres">
      <dgm:prSet presAssocID="{B36989A9-2BFA-4A4A-81F8-A724A454041D}" presName="sp" presStyleCnt="0"/>
      <dgm:spPr/>
    </dgm:pt>
    <dgm:pt modelId="{B07E80D2-1F02-DA4F-B18F-538F11980C95}" type="pres">
      <dgm:prSet presAssocID="{94B4FB82-E661-4E3E-A0EC-B0BC34B18905}" presName="linNode" presStyleCnt="0"/>
      <dgm:spPr/>
    </dgm:pt>
    <dgm:pt modelId="{06876578-4F2E-B24C-8A1D-7D6DB69A88D2}" type="pres">
      <dgm:prSet presAssocID="{94B4FB82-E661-4E3E-A0EC-B0BC34B18905}" presName="parentText" presStyleLbl="node1" presStyleIdx="1" presStyleCnt="7">
        <dgm:presLayoutVars>
          <dgm:chMax val="1"/>
          <dgm:bulletEnabled val="1"/>
        </dgm:presLayoutVars>
      </dgm:prSet>
      <dgm:spPr/>
    </dgm:pt>
    <dgm:pt modelId="{115B9D6A-76F5-CE4F-BC27-CD21583C8AE5}" type="pres">
      <dgm:prSet presAssocID="{94B4FB82-E661-4E3E-A0EC-B0BC34B18905}" presName="descendantText" presStyleLbl="alignAccFollowNode1" presStyleIdx="1" presStyleCnt="7">
        <dgm:presLayoutVars>
          <dgm:bulletEnabled val="1"/>
        </dgm:presLayoutVars>
      </dgm:prSet>
      <dgm:spPr/>
    </dgm:pt>
    <dgm:pt modelId="{7A8A832E-B08F-0645-8F13-5E1505E3353F}" type="pres">
      <dgm:prSet presAssocID="{4F45E0B6-0B0E-43EF-A8A4-C573E60561E1}" presName="sp" presStyleCnt="0"/>
      <dgm:spPr/>
    </dgm:pt>
    <dgm:pt modelId="{FE35CAFC-4832-F742-93D1-0944FFBB4A96}" type="pres">
      <dgm:prSet presAssocID="{61DCE348-5B4C-4A6B-AEF6-12D6B00944D7}" presName="linNode" presStyleCnt="0"/>
      <dgm:spPr/>
    </dgm:pt>
    <dgm:pt modelId="{1329C55F-8147-6649-8E29-535E44D13814}" type="pres">
      <dgm:prSet presAssocID="{61DCE348-5B4C-4A6B-AEF6-12D6B00944D7}" presName="parentText" presStyleLbl="node1" presStyleIdx="2" presStyleCnt="7">
        <dgm:presLayoutVars>
          <dgm:chMax val="1"/>
          <dgm:bulletEnabled val="1"/>
        </dgm:presLayoutVars>
      </dgm:prSet>
      <dgm:spPr/>
    </dgm:pt>
    <dgm:pt modelId="{6B962F42-4EFA-8242-B5BA-71FD5A71886B}" type="pres">
      <dgm:prSet presAssocID="{61DCE348-5B4C-4A6B-AEF6-12D6B00944D7}" presName="descendantText" presStyleLbl="alignAccFollowNode1" presStyleIdx="2" presStyleCnt="7">
        <dgm:presLayoutVars>
          <dgm:bulletEnabled val="1"/>
        </dgm:presLayoutVars>
      </dgm:prSet>
      <dgm:spPr/>
    </dgm:pt>
    <dgm:pt modelId="{7F9016F5-B655-CB49-8EEB-DC63934AA2E1}" type="pres">
      <dgm:prSet presAssocID="{4D1CA3BD-CC90-4BF1-8BBA-9BD69A185838}" presName="sp" presStyleCnt="0"/>
      <dgm:spPr/>
    </dgm:pt>
    <dgm:pt modelId="{4E022804-30BF-A640-9334-E540BB63FE16}" type="pres">
      <dgm:prSet presAssocID="{AF531CC3-4192-4747-941F-B6795EB2F4D9}" presName="linNode" presStyleCnt="0"/>
      <dgm:spPr/>
    </dgm:pt>
    <dgm:pt modelId="{39FA01FA-5A99-9640-9344-1B1192B2F732}" type="pres">
      <dgm:prSet presAssocID="{AF531CC3-4192-4747-941F-B6795EB2F4D9}" presName="parentText" presStyleLbl="node1" presStyleIdx="3" presStyleCnt="7">
        <dgm:presLayoutVars>
          <dgm:chMax val="1"/>
          <dgm:bulletEnabled val="1"/>
        </dgm:presLayoutVars>
      </dgm:prSet>
      <dgm:spPr/>
    </dgm:pt>
    <dgm:pt modelId="{834AD00E-6FAC-F14E-841B-D8DA96872907}" type="pres">
      <dgm:prSet presAssocID="{AF531CC3-4192-4747-941F-B6795EB2F4D9}" presName="descendantText" presStyleLbl="alignAccFollowNode1" presStyleIdx="3" presStyleCnt="7">
        <dgm:presLayoutVars>
          <dgm:bulletEnabled val="1"/>
        </dgm:presLayoutVars>
      </dgm:prSet>
      <dgm:spPr/>
    </dgm:pt>
    <dgm:pt modelId="{A661311A-BCDF-094F-8F25-B761015D7333}" type="pres">
      <dgm:prSet presAssocID="{79D4CA3A-F39E-4186-8F44-5A95AC513F62}" presName="sp" presStyleCnt="0"/>
      <dgm:spPr/>
    </dgm:pt>
    <dgm:pt modelId="{89F77349-AA20-B345-87D0-3C50C03A7962}" type="pres">
      <dgm:prSet presAssocID="{884A083F-2B10-4BFF-9E6C-29EE3199BC9C}" presName="linNode" presStyleCnt="0"/>
      <dgm:spPr/>
    </dgm:pt>
    <dgm:pt modelId="{9B96D029-6951-A245-AB73-FC074BAC699A}" type="pres">
      <dgm:prSet presAssocID="{884A083F-2B10-4BFF-9E6C-29EE3199BC9C}" presName="parentText" presStyleLbl="node1" presStyleIdx="4" presStyleCnt="7">
        <dgm:presLayoutVars>
          <dgm:chMax val="1"/>
          <dgm:bulletEnabled val="1"/>
        </dgm:presLayoutVars>
      </dgm:prSet>
      <dgm:spPr/>
    </dgm:pt>
    <dgm:pt modelId="{3C492FA0-35AB-C341-AE04-BDBD875CD7B1}" type="pres">
      <dgm:prSet presAssocID="{884A083F-2B10-4BFF-9E6C-29EE3199BC9C}" presName="descendantText" presStyleLbl="alignAccFollowNode1" presStyleIdx="4" presStyleCnt="7">
        <dgm:presLayoutVars>
          <dgm:bulletEnabled val="1"/>
        </dgm:presLayoutVars>
      </dgm:prSet>
      <dgm:spPr/>
    </dgm:pt>
    <dgm:pt modelId="{F8D3B52C-EC91-7F41-B8E2-68928B2F603F}" type="pres">
      <dgm:prSet presAssocID="{6C8F8B41-7C68-4EA9-98ED-C35CEEF9AB47}" presName="sp" presStyleCnt="0"/>
      <dgm:spPr/>
    </dgm:pt>
    <dgm:pt modelId="{7F1898FD-69C1-4E42-B1B5-A3DB37C38919}" type="pres">
      <dgm:prSet presAssocID="{4D1ADB8C-F7FA-4655-889C-113F66BA8797}" presName="linNode" presStyleCnt="0"/>
      <dgm:spPr/>
    </dgm:pt>
    <dgm:pt modelId="{33A6FC6A-516E-1448-90D5-16BDEF42115C}" type="pres">
      <dgm:prSet presAssocID="{4D1ADB8C-F7FA-4655-889C-113F66BA8797}" presName="parentText" presStyleLbl="node1" presStyleIdx="5" presStyleCnt="7">
        <dgm:presLayoutVars>
          <dgm:chMax val="1"/>
          <dgm:bulletEnabled val="1"/>
        </dgm:presLayoutVars>
      </dgm:prSet>
      <dgm:spPr/>
    </dgm:pt>
    <dgm:pt modelId="{C3994922-F490-7349-A417-FA085E564C66}" type="pres">
      <dgm:prSet presAssocID="{4D1ADB8C-F7FA-4655-889C-113F66BA8797}" presName="descendantText" presStyleLbl="alignAccFollowNode1" presStyleIdx="5" presStyleCnt="7">
        <dgm:presLayoutVars>
          <dgm:bulletEnabled val="1"/>
        </dgm:presLayoutVars>
      </dgm:prSet>
      <dgm:spPr/>
    </dgm:pt>
    <dgm:pt modelId="{7EC9F962-7D90-354D-B271-282A050AB448}" type="pres">
      <dgm:prSet presAssocID="{F24B91C6-0238-4818-9460-8CA245BD4AF1}" presName="sp" presStyleCnt="0"/>
      <dgm:spPr/>
    </dgm:pt>
    <dgm:pt modelId="{46C06CF1-CBB4-3E4B-8830-4501DC909B7B}" type="pres">
      <dgm:prSet presAssocID="{08C9595B-637C-4567-AA14-C2671A7C0AA7}" presName="linNode" presStyleCnt="0"/>
      <dgm:spPr/>
    </dgm:pt>
    <dgm:pt modelId="{EEA8006B-DF0D-834F-907C-5CFE0B40D0E3}" type="pres">
      <dgm:prSet presAssocID="{08C9595B-637C-4567-AA14-C2671A7C0AA7}" presName="parentText" presStyleLbl="node1" presStyleIdx="6" presStyleCnt="7">
        <dgm:presLayoutVars>
          <dgm:chMax val="1"/>
          <dgm:bulletEnabled val="1"/>
        </dgm:presLayoutVars>
      </dgm:prSet>
      <dgm:spPr/>
    </dgm:pt>
    <dgm:pt modelId="{66DFFBD4-86BE-6B46-A7BA-57E9CD3EAA3C}" type="pres">
      <dgm:prSet presAssocID="{08C9595B-637C-4567-AA14-C2671A7C0AA7}" presName="descendantText" presStyleLbl="alignAccFollowNode1" presStyleIdx="6" presStyleCnt="7">
        <dgm:presLayoutVars>
          <dgm:bulletEnabled val="1"/>
        </dgm:presLayoutVars>
      </dgm:prSet>
      <dgm:spPr/>
    </dgm:pt>
  </dgm:ptLst>
  <dgm:cxnLst>
    <dgm:cxn modelId="{41FFF104-26ED-40C0-B013-DEC32024EAF8}" srcId="{744C2548-6C47-4ABC-B4D3-01BCC3954C91}" destId="{4D1ADB8C-F7FA-4655-889C-113F66BA8797}" srcOrd="5" destOrd="0" parTransId="{287E3E7C-2BEE-441F-919D-72DBAB521CE7}" sibTransId="{F24B91C6-0238-4818-9460-8CA245BD4AF1}"/>
    <dgm:cxn modelId="{D88D5505-6A72-4607-AFBD-2A2C7EFDD10A}" srcId="{61DCE348-5B4C-4A6B-AEF6-12D6B00944D7}" destId="{DC40E1AC-50F5-4D16-84D0-7A1207EA2220}" srcOrd="0" destOrd="0" parTransId="{E7C51CBC-EC69-477A-BD9D-DA7F5901D578}" sibTransId="{E4B87DEC-FF17-4A3D-B3EC-FAFCE70BA8F1}"/>
    <dgm:cxn modelId="{AC45F109-C05F-054C-9A7D-A71A1D40342F}" type="presOf" srcId="{744C2548-6C47-4ABC-B4D3-01BCC3954C91}" destId="{5E920AE9-6840-4E43-B514-6D4E95760B2A}" srcOrd="0" destOrd="0" presId="urn:microsoft.com/office/officeart/2005/8/layout/vList5"/>
    <dgm:cxn modelId="{3442E80A-9BE2-CA4A-ABE4-CD25DBE00AD1}" type="presOf" srcId="{DC40E1AC-50F5-4D16-84D0-7A1207EA2220}" destId="{6B962F42-4EFA-8242-B5BA-71FD5A71886B}" srcOrd="0" destOrd="0" presId="urn:microsoft.com/office/officeart/2005/8/layout/vList5"/>
    <dgm:cxn modelId="{9FA90F1F-3F9B-4941-A02D-6F50435E83CB}" srcId="{744C2548-6C47-4ABC-B4D3-01BCC3954C91}" destId="{94B4FB82-E661-4E3E-A0EC-B0BC34B18905}" srcOrd="1" destOrd="0" parTransId="{5C116231-724B-4122-BC0E-B1ACE9B8FA3F}" sibTransId="{4F45E0B6-0B0E-43EF-A8A4-C573E60561E1}"/>
    <dgm:cxn modelId="{2F6D6820-8058-A047-93DB-5E56AB5422E6}" type="presOf" srcId="{193BBD54-048A-314E-B551-D428BF066687}" destId="{66DFFBD4-86BE-6B46-A7BA-57E9CD3EAA3C}" srcOrd="0" destOrd="1" presId="urn:microsoft.com/office/officeart/2005/8/layout/vList5"/>
    <dgm:cxn modelId="{29F3D520-68E5-7945-8799-4BFBBB2AB0B4}" type="presOf" srcId="{C1FC6353-795C-8840-9ABC-3ADC6A594BC4}" destId="{3C492FA0-35AB-C341-AE04-BDBD875CD7B1}" srcOrd="0" destOrd="1" presId="urn:microsoft.com/office/officeart/2005/8/layout/vList5"/>
    <dgm:cxn modelId="{D3727D28-9490-AC49-ADC8-11B9457EFEF7}" type="presOf" srcId="{61DCE348-5B4C-4A6B-AEF6-12D6B00944D7}" destId="{1329C55F-8147-6649-8E29-535E44D13814}" srcOrd="0" destOrd="0" presId="urn:microsoft.com/office/officeart/2005/8/layout/vList5"/>
    <dgm:cxn modelId="{88DEC12D-CD08-D244-A29C-82CAE28D862F}" type="presOf" srcId="{61239EA5-2AE6-4151-8F64-9D80B73BF70B}" destId="{115B9D6A-76F5-CE4F-BC27-CD21583C8AE5}" srcOrd="0" destOrd="0" presId="urn:microsoft.com/office/officeart/2005/8/layout/vList5"/>
    <dgm:cxn modelId="{6642C036-5251-462C-A199-7EA49EF63C76}" srcId="{AF531CC3-4192-4747-941F-B6795EB2F4D9}" destId="{62EDBDA3-DD3E-435C-85EE-5AD9B13DFF2D}" srcOrd="0" destOrd="0" parTransId="{F4F2E81B-E0BC-4B2B-B698-AFEAE29A7D8D}" sibTransId="{05660630-2232-4516-A98C-5F23B0F9F738}"/>
    <dgm:cxn modelId="{C4F79E43-341C-AC47-BDDE-A7D4FB511A9D}" srcId="{61DCE348-5B4C-4A6B-AEF6-12D6B00944D7}" destId="{E19F84C0-83A6-254A-A0F5-B862B936F389}" srcOrd="1" destOrd="0" parTransId="{94BA1855-3C7C-F240-B730-36BD5BEC662B}" sibTransId="{EFBD89EE-BE29-AA40-B1A6-0FA37CF77486}"/>
    <dgm:cxn modelId="{22DCE45D-046B-4C59-B55C-9F95A82DADA4}" srcId="{744C2548-6C47-4ABC-B4D3-01BCC3954C91}" destId="{651931B5-35DC-41AF-BC6E-05C1E8D25431}" srcOrd="0" destOrd="0" parTransId="{1435AB40-3A80-4DE0-97B5-D1275352DBCC}" sibTransId="{B36989A9-2BFA-4A4A-81F8-A724A454041D}"/>
    <dgm:cxn modelId="{9AF2125E-2A89-7347-9E1B-9854BBE79F1A}" type="presOf" srcId="{62EDBDA3-DD3E-435C-85EE-5AD9B13DFF2D}" destId="{834AD00E-6FAC-F14E-841B-D8DA96872907}" srcOrd="0" destOrd="0" presId="urn:microsoft.com/office/officeart/2005/8/layout/vList5"/>
    <dgm:cxn modelId="{AB063E5F-672E-5640-B28C-876AFE6227F1}" type="presOf" srcId="{E19F84C0-83A6-254A-A0F5-B862B936F389}" destId="{6B962F42-4EFA-8242-B5BA-71FD5A71886B}" srcOrd="0" destOrd="1" presId="urn:microsoft.com/office/officeart/2005/8/layout/vList5"/>
    <dgm:cxn modelId="{55CF2B6C-172A-4EBE-B94B-660250D7C3CE}" srcId="{884A083F-2B10-4BFF-9E6C-29EE3199BC9C}" destId="{24963228-D089-4708-BB10-608A9F3F2C57}" srcOrd="0" destOrd="0" parTransId="{0BC702AB-082A-4084-8F35-6C34C09DE4BF}" sibTransId="{5C605D83-33A3-48AF-8E77-5216C1E94651}"/>
    <dgm:cxn modelId="{3BBC476E-3637-7B44-AD78-14F3F4C071C2}" type="presOf" srcId="{651931B5-35DC-41AF-BC6E-05C1E8D25431}" destId="{831E5A7E-65F3-CE4D-8CC6-4AB3A08824EF}" srcOrd="0" destOrd="0" presId="urn:microsoft.com/office/officeart/2005/8/layout/vList5"/>
    <dgm:cxn modelId="{21D5A975-57C9-41D7-A43F-7208550E522D}" srcId="{94B4FB82-E661-4E3E-A0EC-B0BC34B18905}" destId="{61239EA5-2AE6-4151-8F64-9D80B73BF70B}" srcOrd="0" destOrd="0" parTransId="{22B9C03E-B571-403F-A85E-A1AF4F9E01FE}" sibTransId="{D916070A-94E7-4D1F-829E-A7C715159813}"/>
    <dgm:cxn modelId="{AE03357A-348F-8144-94CE-7E1EA4BE01B6}" type="presOf" srcId="{2BF7D0E7-55A3-418C-AED5-BED311AB60B9}" destId="{EDD5592A-2075-A248-B13D-C1B049265DEC}" srcOrd="0" destOrd="0" presId="urn:microsoft.com/office/officeart/2005/8/layout/vList5"/>
    <dgm:cxn modelId="{2AEE4284-6E37-264F-9BC4-06A9DD7FDC13}" type="presOf" srcId="{617D7611-79CA-D14C-8F88-91280ADC90D2}" destId="{115B9D6A-76F5-CE4F-BC27-CD21583C8AE5}" srcOrd="0" destOrd="1" presId="urn:microsoft.com/office/officeart/2005/8/layout/vList5"/>
    <dgm:cxn modelId="{2B4F1496-0539-3843-A556-AA7BDC405A82}" type="presOf" srcId="{7921872C-7904-44C3-A8A8-7954D5572F6F}" destId="{66DFFBD4-86BE-6B46-A7BA-57E9CD3EAA3C}" srcOrd="0" destOrd="0" presId="urn:microsoft.com/office/officeart/2005/8/layout/vList5"/>
    <dgm:cxn modelId="{3818889B-ACD1-D14E-A687-9FAA8B196906}" type="presOf" srcId="{24963228-D089-4708-BB10-608A9F3F2C57}" destId="{3C492FA0-35AB-C341-AE04-BDBD875CD7B1}" srcOrd="0" destOrd="0" presId="urn:microsoft.com/office/officeart/2005/8/layout/vList5"/>
    <dgm:cxn modelId="{3819FBA2-E112-0C4B-BA2C-4005C358ABAB}" srcId="{884A083F-2B10-4BFF-9E6C-29EE3199BC9C}" destId="{C1FC6353-795C-8840-9ABC-3ADC6A594BC4}" srcOrd="1" destOrd="0" parTransId="{F6554B00-342F-3049-8E1C-CFCB59C3C526}" sibTransId="{44B16156-D1E6-054B-AD0E-3DC26B5D9200}"/>
    <dgm:cxn modelId="{43A3EAA6-3B58-6746-B3BA-149AE71FEF05}" srcId="{08C9595B-637C-4567-AA14-C2671A7C0AA7}" destId="{193BBD54-048A-314E-B551-D428BF066687}" srcOrd="1" destOrd="0" parTransId="{C5A75791-FBE3-2140-8542-0B6E6048EA26}" sibTransId="{91B90EF1-6E6F-E84F-9CAC-5C7016B24AF9}"/>
    <dgm:cxn modelId="{EFB373AA-FFFD-F349-8726-AE3DC57C5306}" type="presOf" srcId="{E6640581-E0AF-1349-B2E9-CCE4FFFAFA13}" destId="{EDD5592A-2075-A248-B13D-C1B049265DEC}" srcOrd="0" destOrd="1" presId="urn:microsoft.com/office/officeart/2005/8/layout/vList5"/>
    <dgm:cxn modelId="{488C7BAE-538F-4D45-87FB-929C69F2C649}" srcId="{744C2548-6C47-4ABC-B4D3-01BCC3954C91}" destId="{08C9595B-637C-4567-AA14-C2671A7C0AA7}" srcOrd="6" destOrd="0" parTransId="{550D69F1-9E23-4C7D-A6BA-7178CD41BFEE}" sibTransId="{91778C47-6DFD-4BCD-A133-F425A701E341}"/>
    <dgm:cxn modelId="{BA853FB0-A436-ED40-B1B3-8C48AEE75956}" type="presOf" srcId="{94B4FB82-E661-4E3E-A0EC-B0BC34B18905}" destId="{06876578-4F2E-B24C-8A1D-7D6DB69A88D2}" srcOrd="0" destOrd="0" presId="urn:microsoft.com/office/officeart/2005/8/layout/vList5"/>
    <dgm:cxn modelId="{BF51ADB3-FF6D-F246-85A9-A954446332BD}" type="presOf" srcId="{884A083F-2B10-4BFF-9E6C-29EE3199BC9C}" destId="{9B96D029-6951-A245-AB73-FC074BAC699A}" srcOrd="0" destOrd="0" presId="urn:microsoft.com/office/officeart/2005/8/layout/vList5"/>
    <dgm:cxn modelId="{9C29D7B3-6071-7D4A-A9F9-B6D1049FC791}" type="presOf" srcId="{88CDA646-B799-BC4E-811C-2E5B24AD4A72}" destId="{C3994922-F490-7349-A417-FA085E564C66}" srcOrd="0" destOrd="1" presId="urn:microsoft.com/office/officeart/2005/8/layout/vList5"/>
    <dgm:cxn modelId="{98CA16B5-D1E0-4F59-AE55-4EB134DB058C}" srcId="{744C2548-6C47-4ABC-B4D3-01BCC3954C91}" destId="{AF531CC3-4192-4747-941F-B6795EB2F4D9}" srcOrd="3" destOrd="0" parTransId="{0580C657-CCD5-4E1D-93B9-9618F4765904}" sibTransId="{79D4CA3A-F39E-4186-8F44-5A95AC513F62}"/>
    <dgm:cxn modelId="{1903E3B5-7768-B64A-9CFA-7656DFD5C421}" type="presOf" srcId="{AF531CC3-4192-4747-941F-B6795EB2F4D9}" destId="{39FA01FA-5A99-9640-9344-1B1192B2F732}" srcOrd="0" destOrd="0" presId="urn:microsoft.com/office/officeart/2005/8/layout/vList5"/>
    <dgm:cxn modelId="{76269DB9-AEBF-4255-87E8-959F2B1E85A7}" srcId="{08C9595B-637C-4567-AA14-C2671A7C0AA7}" destId="{7921872C-7904-44C3-A8A8-7954D5572F6F}" srcOrd="0" destOrd="0" parTransId="{A7AB87E5-39E1-4CC5-BDA7-A2B6885E146A}" sibTransId="{F5847DCB-B31B-4F83-9F25-4668B3E61C07}"/>
    <dgm:cxn modelId="{CDA3C2B9-A6D1-4749-ACB2-86CC2A057419}" srcId="{651931B5-35DC-41AF-BC6E-05C1E8D25431}" destId="{E6640581-E0AF-1349-B2E9-CCE4FFFAFA13}" srcOrd="1" destOrd="0" parTransId="{7DC73965-E653-304C-BEF3-E549A6056223}" sibTransId="{6680673E-4210-DA43-AB2F-439DD3C9C879}"/>
    <dgm:cxn modelId="{73EEA5CB-DE2F-42B0-8870-A6418D54C151}" srcId="{4D1ADB8C-F7FA-4655-889C-113F66BA8797}" destId="{5B4D790B-C3A7-4EEF-A163-E28A2C928F8C}" srcOrd="0" destOrd="0" parTransId="{CBB5E6C0-B03E-40E3-94BD-9D09554FC9CC}" sibTransId="{D59C89AF-276E-48F5-B0BE-D49A4603D806}"/>
    <dgm:cxn modelId="{4B9B38CC-49CF-4DCA-A43D-54E2D6235EC5}" srcId="{744C2548-6C47-4ABC-B4D3-01BCC3954C91}" destId="{884A083F-2B10-4BFF-9E6C-29EE3199BC9C}" srcOrd="4" destOrd="0" parTransId="{DF01B87E-2A7A-4D84-892D-8456E6821AFF}" sibTransId="{6C8F8B41-7C68-4EA9-98ED-C35CEEF9AB47}"/>
    <dgm:cxn modelId="{5F6FC7CC-E1B2-4043-BAB7-752676D6D037}" srcId="{94B4FB82-E661-4E3E-A0EC-B0BC34B18905}" destId="{617D7611-79CA-D14C-8F88-91280ADC90D2}" srcOrd="1" destOrd="0" parTransId="{9E656CBA-4625-DC48-A078-F628372F4F85}" sibTransId="{1D661D6C-E5C4-D847-ADAC-A0D570BD7C61}"/>
    <dgm:cxn modelId="{FB9CE9D3-A20D-4041-9CFB-B17B1C01AC70}" srcId="{651931B5-35DC-41AF-BC6E-05C1E8D25431}" destId="{2BF7D0E7-55A3-418C-AED5-BED311AB60B9}" srcOrd="0" destOrd="0" parTransId="{2DCFDAC0-04AC-4D92-859E-29341F83D049}" sibTransId="{A18DF4C9-88D5-41CE-BD04-C1FBCA9A3CCF}"/>
    <dgm:cxn modelId="{1E5DDBD5-3942-2A43-9C1F-541DEE05AD44}" type="presOf" srcId="{08C9595B-637C-4567-AA14-C2671A7C0AA7}" destId="{EEA8006B-DF0D-834F-907C-5CFE0B40D0E3}" srcOrd="0" destOrd="0" presId="urn:microsoft.com/office/officeart/2005/8/layout/vList5"/>
    <dgm:cxn modelId="{2DE7DFE1-2F53-7A4E-A750-0EA74A19A79A}" type="presOf" srcId="{5B4D790B-C3A7-4EEF-A163-E28A2C928F8C}" destId="{C3994922-F490-7349-A417-FA085E564C66}" srcOrd="0" destOrd="0" presId="urn:microsoft.com/office/officeart/2005/8/layout/vList5"/>
    <dgm:cxn modelId="{2F7EEDE4-4127-0743-B17C-C7F945696EDE}" srcId="{4D1ADB8C-F7FA-4655-889C-113F66BA8797}" destId="{88CDA646-B799-BC4E-811C-2E5B24AD4A72}" srcOrd="1" destOrd="0" parTransId="{1DD98A98-3D2F-104C-8291-2ECDFD4C2646}" sibTransId="{A533E09B-D0DC-374A-A99A-31D90B15DC6D}"/>
    <dgm:cxn modelId="{9E346CF6-7252-45CD-A325-DE1E8549E115}" srcId="{744C2548-6C47-4ABC-B4D3-01BCC3954C91}" destId="{61DCE348-5B4C-4A6B-AEF6-12D6B00944D7}" srcOrd="2" destOrd="0" parTransId="{E6FD4CD9-FF1A-4BAD-BE9D-13EA5F59E676}" sibTransId="{4D1CA3BD-CC90-4BF1-8BBA-9BD69A185838}"/>
    <dgm:cxn modelId="{017184F6-F8A5-FD44-AB28-487266334A5F}" type="presOf" srcId="{4D1ADB8C-F7FA-4655-889C-113F66BA8797}" destId="{33A6FC6A-516E-1448-90D5-16BDEF42115C}" srcOrd="0" destOrd="0" presId="urn:microsoft.com/office/officeart/2005/8/layout/vList5"/>
    <dgm:cxn modelId="{DBC4E815-CF15-DC49-8BF5-A42A5214EA80}" type="presParOf" srcId="{5E920AE9-6840-4E43-B514-6D4E95760B2A}" destId="{9563B09A-427D-BE4B-B9D7-D57CC9837403}" srcOrd="0" destOrd="0" presId="urn:microsoft.com/office/officeart/2005/8/layout/vList5"/>
    <dgm:cxn modelId="{266E48D5-0A20-7E42-BA3A-C756B953A9F0}" type="presParOf" srcId="{9563B09A-427D-BE4B-B9D7-D57CC9837403}" destId="{831E5A7E-65F3-CE4D-8CC6-4AB3A08824EF}" srcOrd="0" destOrd="0" presId="urn:microsoft.com/office/officeart/2005/8/layout/vList5"/>
    <dgm:cxn modelId="{DAA244CF-8E93-6749-8FFE-D7E5C5F6B260}" type="presParOf" srcId="{9563B09A-427D-BE4B-B9D7-D57CC9837403}" destId="{EDD5592A-2075-A248-B13D-C1B049265DEC}" srcOrd="1" destOrd="0" presId="urn:microsoft.com/office/officeart/2005/8/layout/vList5"/>
    <dgm:cxn modelId="{EAF30F17-2635-B84C-B17D-F0B166403BBB}" type="presParOf" srcId="{5E920AE9-6840-4E43-B514-6D4E95760B2A}" destId="{D0120CEE-913D-984B-8E06-F4A42F4337AC}" srcOrd="1" destOrd="0" presId="urn:microsoft.com/office/officeart/2005/8/layout/vList5"/>
    <dgm:cxn modelId="{F1613DB7-D44B-F84A-A48E-F269148030FC}" type="presParOf" srcId="{5E920AE9-6840-4E43-B514-6D4E95760B2A}" destId="{B07E80D2-1F02-DA4F-B18F-538F11980C95}" srcOrd="2" destOrd="0" presId="urn:microsoft.com/office/officeart/2005/8/layout/vList5"/>
    <dgm:cxn modelId="{72AA8DFF-7CEA-FB44-8CE7-F88DE7FCFB4B}" type="presParOf" srcId="{B07E80D2-1F02-DA4F-B18F-538F11980C95}" destId="{06876578-4F2E-B24C-8A1D-7D6DB69A88D2}" srcOrd="0" destOrd="0" presId="urn:microsoft.com/office/officeart/2005/8/layout/vList5"/>
    <dgm:cxn modelId="{EACA4790-5880-6642-A7D8-358CBCE550A4}" type="presParOf" srcId="{B07E80D2-1F02-DA4F-B18F-538F11980C95}" destId="{115B9D6A-76F5-CE4F-BC27-CD21583C8AE5}" srcOrd="1" destOrd="0" presId="urn:microsoft.com/office/officeart/2005/8/layout/vList5"/>
    <dgm:cxn modelId="{7B45357E-AEBF-A74D-B023-E1E12B3D030D}" type="presParOf" srcId="{5E920AE9-6840-4E43-B514-6D4E95760B2A}" destId="{7A8A832E-B08F-0645-8F13-5E1505E3353F}" srcOrd="3" destOrd="0" presId="urn:microsoft.com/office/officeart/2005/8/layout/vList5"/>
    <dgm:cxn modelId="{802C3AC5-D5E0-0944-AFF0-2A26393F4BE9}" type="presParOf" srcId="{5E920AE9-6840-4E43-B514-6D4E95760B2A}" destId="{FE35CAFC-4832-F742-93D1-0944FFBB4A96}" srcOrd="4" destOrd="0" presId="urn:microsoft.com/office/officeart/2005/8/layout/vList5"/>
    <dgm:cxn modelId="{C6978349-DED3-E64A-88DA-2F5DA2AAB6D4}" type="presParOf" srcId="{FE35CAFC-4832-F742-93D1-0944FFBB4A96}" destId="{1329C55F-8147-6649-8E29-535E44D13814}" srcOrd="0" destOrd="0" presId="urn:microsoft.com/office/officeart/2005/8/layout/vList5"/>
    <dgm:cxn modelId="{696F3CE6-0BBE-164D-B019-9943E2DB6B24}" type="presParOf" srcId="{FE35CAFC-4832-F742-93D1-0944FFBB4A96}" destId="{6B962F42-4EFA-8242-B5BA-71FD5A71886B}" srcOrd="1" destOrd="0" presId="urn:microsoft.com/office/officeart/2005/8/layout/vList5"/>
    <dgm:cxn modelId="{35BDBAFD-6CBD-2846-A96E-EE127AF47472}" type="presParOf" srcId="{5E920AE9-6840-4E43-B514-6D4E95760B2A}" destId="{7F9016F5-B655-CB49-8EEB-DC63934AA2E1}" srcOrd="5" destOrd="0" presId="urn:microsoft.com/office/officeart/2005/8/layout/vList5"/>
    <dgm:cxn modelId="{EF2D10DB-9503-3D41-B205-CE26F93B61D5}" type="presParOf" srcId="{5E920AE9-6840-4E43-B514-6D4E95760B2A}" destId="{4E022804-30BF-A640-9334-E540BB63FE16}" srcOrd="6" destOrd="0" presId="urn:microsoft.com/office/officeart/2005/8/layout/vList5"/>
    <dgm:cxn modelId="{5865B01D-BCAB-344A-9E0D-C2E92AC855E0}" type="presParOf" srcId="{4E022804-30BF-A640-9334-E540BB63FE16}" destId="{39FA01FA-5A99-9640-9344-1B1192B2F732}" srcOrd="0" destOrd="0" presId="urn:microsoft.com/office/officeart/2005/8/layout/vList5"/>
    <dgm:cxn modelId="{55D259CF-A75D-5E45-AE2D-C6E3B8191849}" type="presParOf" srcId="{4E022804-30BF-A640-9334-E540BB63FE16}" destId="{834AD00E-6FAC-F14E-841B-D8DA96872907}" srcOrd="1" destOrd="0" presId="urn:microsoft.com/office/officeart/2005/8/layout/vList5"/>
    <dgm:cxn modelId="{1A83E9BA-1DAF-8846-8B19-B774AD681C26}" type="presParOf" srcId="{5E920AE9-6840-4E43-B514-6D4E95760B2A}" destId="{A661311A-BCDF-094F-8F25-B761015D7333}" srcOrd="7" destOrd="0" presId="urn:microsoft.com/office/officeart/2005/8/layout/vList5"/>
    <dgm:cxn modelId="{E5D12A9E-3FC5-814F-8301-2DE3A39D3108}" type="presParOf" srcId="{5E920AE9-6840-4E43-B514-6D4E95760B2A}" destId="{89F77349-AA20-B345-87D0-3C50C03A7962}" srcOrd="8" destOrd="0" presId="urn:microsoft.com/office/officeart/2005/8/layout/vList5"/>
    <dgm:cxn modelId="{0CFF9DDF-5A54-9B4E-81FD-C887B618D64D}" type="presParOf" srcId="{89F77349-AA20-B345-87D0-3C50C03A7962}" destId="{9B96D029-6951-A245-AB73-FC074BAC699A}" srcOrd="0" destOrd="0" presId="urn:microsoft.com/office/officeart/2005/8/layout/vList5"/>
    <dgm:cxn modelId="{2E9FB3E5-9FC5-894A-AF7D-723038EB04C3}" type="presParOf" srcId="{89F77349-AA20-B345-87D0-3C50C03A7962}" destId="{3C492FA0-35AB-C341-AE04-BDBD875CD7B1}" srcOrd="1" destOrd="0" presId="urn:microsoft.com/office/officeart/2005/8/layout/vList5"/>
    <dgm:cxn modelId="{04CA5190-37BE-464B-A6F9-942D9C571C14}" type="presParOf" srcId="{5E920AE9-6840-4E43-B514-6D4E95760B2A}" destId="{F8D3B52C-EC91-7F41-B8E2-68928B2F603F}" srcOrd="9" destOrd="0" presId="urn:microsoft.com/office/officeart/2005/8/layout/vList5"/>
    <dgm:cxn modelId="{65014E4B-51FF-6146-911E-F8303D8A9B9B}" type="presParOf" srcId="{5E920AE9-6840-4E43-B514-6D4E95760B2A}" destId="{7F1898FD-69C1-4E42-B1B5-A3DB37C38919}" srcOrd="10" destOrd="0" presId="urn:microsoft.com/office/officeart/2005/8/layout/vList5"/>
    <dgm:cxn modelId="{FEB4CD97-204B-6D4D-95C8-0BB0D520681D}" type="presParOf" srcId="{7F1898FD-69C1-4E42-B1B5-A3DB37C38919}" destId="{33A6FC6A-516E-1448-90D5-16BDEF42115C}" srcOrd="0" destOrd="0" presId="urn:microsoft.com/office/officeart/2005/8/layout/vList5"/>
    <dgm:cxn modelId="{FB0ED6DE-E465-1A48-9823-11A3729C77E7}" type="presParOf" srcId="{7F1898FD-69C1-4E42-B1B5-A3DB37C38919}" destId="{C3994922-F490-7349-A417-FA085E564C66}" srcOrd="1" destOrd="0" presId="urn:microsoft.com/office/officeart/2005/8/layout/vList5"/>
    <dgm:cxn modelId="{6C20B987-0D0D-C242-A73E-BA9DDF76A402}" type="presParOf" srcId="{5E920AE9-6840-4E43-B514-6D4E95760B2A}" destId="{7EC9F962-7D90-354D-B271-282A050AB448}" srcOrd="11" destOrd="0" presId="urn:microsoft.com/office/officeart/2005/8/layout/vList5"/>
    <dgm:cxn modelId="{E39602D7-6D3A-3449-B1BD-7B68D3A4618C}" type="presParOf" srcId="{5E920AE9-6840-4E43-B514-6D4E95760B2A}" destId="{46C06CF1-CBB4-3E4B-8830-4501DC909B7B}" srcOrd="12" destOrd="0" presId="urn:microsoft.com/office/officeart/2005/8/layout/vList5"/>
    <dgm:cxn modelId="{6C5ED65B-35F1-2745-B501-7A4F365094D6}" type="presParOf" srcId="{46C06CF1-CBB4-3E4B-8830-4501DC909B7B}" destId="{EEA8006B-DF0D-834F-907C-5CFE0B40D0E3}" srcOrd="0" destOrd="0" presId="urn:microsoft.com/office/officeart/2005/8/layout/vList5"/>
    <dgm:cxn modelId="{60E2A894-A3CB-714F-A758-45D4A72A1900}" type="presParOf" srcId="{46C06CF1-CBB4-3E4B-8830-4501DC909B7B}" destId="{66DFFBD4-86BE-6B46-A7BA-57E9CD3EAA3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25A55-A09B-40D2-990E-09C8F511F513}">
      <dsp:nvSpPr>
        <dsp:cNvPr id="0" name=""/>
        <dsp:cNvSpPr/>
      </dsp:nvSpPr>
      <dsp:spPr>
        <a:xfrm>
          <a:off x="0" y="1529"/>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DC2E62-63B0-46CC-853A-40836CA14B6F}">
      <dsp:nvSpPr>
        <dsp:cNvPr id="0" name=""/>
        <dsp:cNvSpPr/>
      </dsp:nvSpPr>
      <dsp:spPr>
        <a:xfrm>
          <a:off x="234455" y="175917"/>
          <a:ext cx="426282" cy="4262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86136-D8A5-4B09-A0D8-E704ADF7D927}">
      <dsp:nvSpPr>
        <dsp:cNvPr id="0" name=""/>
        <dsp:cNvSpPr/>
      </dsp:nvSpPr>
      <dsp:spPr>
        <a:xfrm>
          <a:off x="895192" y="1529"/>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800100">
            <a:lnSpc>
              <a:spcPct val="100000"/>
            </a:lnSpc>
            <a:spcBef>
              <a:spcPct val="0"/>
            </a:spcBef>
            <a:spcAft>
              <a:spcPct val="35000"/>
            </a:spcAft>
            <a:buNone/>
          </a:pPr>
          <a:r>
            <a:rPr lang="en-US" sz="1800" kern="1200" dirty="0"/>
            <a:t>Lightweight resource requirements or a microservice architecture</a:t>
          </a:r>
        </a:p>
      </dsp:txBody>
      <dsp:txXfrm>
        <a:off x="895192" y="1529"/>
        <a:ext cx="4262594" cy="775058"/>
      </dsp:txXfrm>
    </dsp:sp>
    <dsp:sp modelId="{BCC21EE2-1537-46AC-8EC9-96CDCF0479F4}">
      <dsp:nvSpPr>
        <dsp:cNvPr id="0" name=""/>
        <dsp:cNvSpPr/>
      </dsp:nvSpPr>
      <dsp:spPr>
        <a:xfrm>
          <a:off x="0" y="970352"/>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6497A-E01B-42D8-905E-D248ABAC1EBE}">
      <dsp:nvSpPr>
        <dsp:cNvPr id="0" name=""/>
        <dsp:cNvSpPr/>
      </dsp:nvSpPr>
      <dsp:spPr>
        <a:xfrm>
          <a:off x="234455" y="1144741"/>
          <a:ext cx="426282" cy="4262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84DC18-E931-481C-9AE0-E7E3D863BF4A}">
      <dsp:nvSpPr>
        <dsp:cNvPr id="0" name=""/>
        <dsp:cNvSpPr/>
      </dsp:nvSpPr>
      <dsp:spPr>
        <a:xfrm>
          <a:off x="895192" y="970352"/>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800100">
            <a:lnSpc>
              <a:spcPct val="100000"/>
            </a:lnSpc>
            <a:spcBef>
              <a:spcPct val="0"/>
            </a:spcBef>
            <a:spcAft>
              <a:spcPct val="35000"/>
            </a:spcAft>
            <a:buNone/>
          </a:pPr>
          <a:r>
            <a:rPr lang="en-US" sz="1800" kern="1200" dirty="0"/>
            <a:t>A distributed physical infrastructure environment, including cloud-based servers</a:t>
          </a:r>
        </a:p>
      </dsp:txBody>
      <dsp:txXfrm>
        <a:off x="895192" y="970352"/>
        <a:ext cx="4262594" cy="775058"/>
      </dsp:txXfrm>
    </dsp:sp>
    <dsp:sp modelId="{50B5D2DA-6C34-48A5-8BD5-37E700BBFB8F}">
      <dsp:nvSpPr>
        <dsp:cNvPr id="0" name=""/>
        <dsp:cNvSpPr/>
      </dsp:nvSpPr>
      <dsp:spPr>
        <a:xfrm>
          <a:off x="0" y="1939176"/>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E191A-95A7-4478-B01E-8A9D142F2E91}">
      <dsp:nvSpPr>
        <dsp:cNvPr id="0" name=""/>
        <dsp:cNvSpPr/>
      </dsp:nvSpPr>
      <dsp:spPr>
        <a:xfrm>
          <a:off x="234455" y="2113564"/>
          <a:ext cx="426282" cy="4262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FEF6F7-7DA8-4A5D-BADB-4C693E719CAE}">
      <dsp:nvSpPr>
        <dsp:cNvPr id="0" name=""/>
        <dsp:cNvSpPr/>
      </dsp:nvSpPr>
      <dsp:spPr>
        <a:xfrm>
          <a:off x="895192" y="1939176"/>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800100">
            <a:lnSpc>
              <a:spcPct val="100000"/>
            </a:lnSpc>
            <a:spcBef>
              <a:spcPct val="0"/>
            </a:spcBef>
            <a:spcAft>
              <a:spcPct val="35000"/>
            </a:spcAft>
            <a:buNone/>
          </a:pPr>
          <a:r>
            <a:rPr lang="en-US" sz="1800" kern="1200" dirty="0"/>
            <a:t>Rapid deployment cycles (</a:t>
          </a:r>
          <a:r>
            <a:rPr lang="en-US" sz="1800" kern="1200" dirty="0" err="1"/>
            <a:t>Dockerfiles</a:t>
          </a:r>
          <a:r>
            <a:rPr lang="en-US" sz="1800" kern="1200" dirty="0"/>
            <a:t> are easier to manage than VM configurations)</a:t>
          </a:r>
        </a:p>
      </dsp:txBody>
      <dsp:txXfrm>
        <a:off x="895192" y="1939176"/>
        <a:ext cx="4262594" cy="775058"/>
      </dsp:txXfrm>
    </dsp:sp>
    <dsp:sp modelId="{20947791-06C3-4603-8848-DEB7B0343E86}">
      <dsp:nvSpPr>
        <dsp:cNvPr id="0" name=""/>
        <dsp:cNvSpPr/>
      </dsp:nvSpPr>
      <dsp:spPr>
        <a:xfrm>
          <a:off x="0" y="2907999"/>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44A79-2D75-4143-9A34-DBB71BB3EFEE}">
      <dsp:nvSpPr>
        <dsp:cNvPr id="0" name=""/>
        <dsp:cNvSpPr/>
      </dsp:nvSpPr>
      <dsp:spPr>
        <a:xfrm>
          <a:off x="234455" y="3082388"/>
          <a:ext cx="426282" cy="4262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F4A0B3-00AE-47B5-8F4B-9FBE49A82412}">
      <dsp:nvSpPr>
        <dsp:cNvPr id="0" name=""/>
        <dsp:cNvSpPr/>
      </dsp:nvSpPr>
      <dsp:spPr>
        <a:xfrm>
          <a:off x="895192" y="2907999"/>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800100">
            <a:lnSpc>
              <a:spcPct val="100000"/>
            </a:lnSpc>
            <a:spcBef>
              <a:spcPct val="0"/>
            </a:spcBef>
            <a:spcAft>
              <a:spcPct val="35000"/>
            </a:spcAft>
            <a:buNone/>
          </a:pPr>
          <a:r>
            <a:rPr lang="en-US" sz="1800" kern="1200"/>
            <a:t>A rapid scalability requirement</a:t>
          </a:r>
        </a:p>
      </dsp:txBody>
      <dsp:txXfrm>
        <a:off x="895192" y="2907999"/>
        <a:ext cx="4262594" cy="7750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25A55-A09B-40D2-990E-09C8F511F513}">
      <dsp:nvSpPr>
        <dsp:cNvPr id="0" name=""/>
        <dsp:cNvSpPr/>
      </dsp:nvSpPr>
      <dsp:spPr>
        <a:xfrm>
          <a:off x="0" y="2878"/>
          <a:ext cx="5157787" cy="613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DC2E62-63B0-46CC-853A-40836CA14B6F}">
      <dsp:nvSpPr>
        <dsp:cNvPr id="0" name=""/>
        <dsp:cNvSpPr/>
      </dsp:nvSpPr>
      <dsp:spPr>
        <a:xfrm>
          <a:off x="185474" y="140834"/>
          <a:ext cx="337226" cy="337226"/>
        </a:xfrm>
        <a:prstGeom prst="rec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86136-D8A5-4B09-A0D8-E704ADF7D927}">
      <dsp:nvSpPr>
        <dsp:cNvPr id="0" name=""/>
        <dsp:cNvSpPr/>
      </dsp:nvSpPr>
      <dsp:spPr>
        <a:xfrm>
          <a:off x="708174" y="2878"/>
          <a:ext cx="4449612" cy="613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890" tIns="64890" rIns="64890" bIns="64890" numCol="1" spcCol="1270" anchor="ctr" anchorCtr="0">
          <a:noAutofit/>
        </a:bodyPr>
        <a:lstStyle/>
        <a:p>
          <a:pPr marL="0" lvl="0" indent="0" algn="l" defTabSz="666750">
            <a:lnSpc>
              <a:spcPct val="100000"/>
            </a:lnSpc>
            <a:spcBef>
              <a:spcPct val="0"/>
            </a:spcBef>
            <a:spcAft>
              <a:spcPct val="35000"/>
            </a:spcAft>
            <a:buNone/>
          </a:pPr>
          <a:r>
            <a:rPr lang="en-US" sz="1500" kern="1200" dirty="0"/>
            <a:t>Operating system-specific dependencies</a:t>
          </a:r>
        </a:p>
      </dsp:txBody>
      <dsp:txXfrm>
        <a:off x="708174" y="2878"/>
        <a:ext cx="4449612" cy="613138"/>
      </dsp:txXfrm>
    </dsp:sp>
    <dsp:sp modelId="{BCC21EE2-1537-46AC-8EC9-96CDCF0479F4}">
      <dsp:nvSpPr>
        <dsp:cNvPr id="0" name=""/>
        <dsp:cNvSpPr/>
      </dsp:nvSpPr>
      <dsp:spPr>
        <a:xfrm>
          <a:off x="0" y="769301"/>
          <a:ext cx="5157787" cy="613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6497A-E01B-42D8-905E-D248ABAC1EBE}">
      <dsp:nvSpPr>
        <dsp:cNvPr id="0" name=""/>
        <dsp:cNvSpPr/>
      </dsp:nvSpPr>
      <dsp:spPr>
        <a:xfrm>
          <a:off x="185474" y="907257"/>
          <a:ext cx="337226" cy="337226"/>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l="-37000" r="-3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84DC18-E931-481C-9AE0-E7E3D863BF4A}">
      <dsp:nvSpPr>
        <dsp:cNvPr id="0" name=""/>
        <dsp:cNvSpPr/>
      </dsp:nvSpPr>
      <dsp:spPr>
        <a:xfrm>
          <a:off x="708174" y="769301"/>
          <a:ext cx="4449612" cy="613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890" tIns="64890" rIns="64890" bIns="64890" numCol="1" spcCol="1270" anchor="ctr" anchorCtr="0">
          <a:noAutofit/>
        </a:bodyPr>
        <a:lstStyle/>
        <a:p>
          <a:pPr marL="0" lvl="0" indent="0" algn="l" defTabSz="666750">
            <a:lnSpc>
              <a:spcPct val="100000"/>
            </a:lnSpc>
            <a:spcBef>
              <a:spcPct val="0"/>
            </a:spcBef>
            <a:spcAft>
              <a:spcPct val="35000"/>
            </a:spcAft>
            <a:buNone/>
          </a:pPr>
          <a:r>
            <a:rPr lang="en-US" sz="1500" kern="1200" dirty="0"/>
            <a:t>Substantial hardware resource requirements</a:t>
          </a:r>
        </a:p>
      </dsp:txBody>
      <dsp:txXfrm>
        <a:off x="708174" y="769301"/>
        <a:ext cx="4449612" cy="613138"/>
      </dsp:txXfrm>
    </dsp:sp>
    <dsp:sp modelId="{50B5D2DA-6C34-48A5-8BD5-37E700BBFB8F}">
      <dsp:nvSpPr>
        <dsp:cNvPr id="0" name=""/>
        <dsp:cNvSpPr/>
      </dsp:nvSpPr>
      <dsp:spPr>
        <a:xfrm>
          <a:off x="0" y="1535724"/>
          <a:ext cx="5157787" cy="613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E191A-95A7-4478-B01E-8A9D142F2E91}">
      <dsp:nvSpPr>
        <dsp:cNvPr id="0" name=""/>
        <dsp:cNvSpPr/>
      </dsp:nvSpPr>
      <dsp:spPr>
        <a:xfrm>
          <a:off x="185474" y="1673680"/>
          <a:ext cx="337226" cy="337226"/>
        </a:xfrm>
        <a:prstGeom prst="rect">
          <a:avLst/>
        </a:prstGeom>
        <a:blipFill>
          <a:blip xmlns:r="http://schemas.openxmlformats.org/officeDocument/2006/relationships" r:embed="rId5">
            <a:extLst>
              <a:ext uri="{837473B0-CC2E-450A-ABE3-18F120FF3D39}">
                <a1611:picAttrSrcUrl xmlns:a1611="http://schemas.microsoft.com/office/drawing/2016/11/main" r:i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FEF6F7-7DA8-4A5D-BADB-4C693E719CAE}">
      <dsp:nvSpPr>
        <dsp:cNvPr id="0" name=""/>
        <dsp:cNvSpPr/>
      </dsp:nvSpPr>
      <dsp:spPr>
        <a:xfrm>
          <a:off x="708174" y="1535724"/>
          <a:ext cx="4449612" cy="613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890" tIns="64890" rIns="64890" bIns="64890" numCol="1" spcCol="1270" anchor="ctr" anchorCtr="0">
          <a:noAutofit/>
        </a:bodyPr>
        <a:lstStyle/>
        <a:p>
          <a:pPr marL="0" lvl="0" indent="0" algn="l" defTabSz="666750">
            <a:lnSpc>
              <a:spcPct val="100000"/>
            </a:lnSpc>
            <a:spcBef>
              <a:spcPct val="0"/>
            </a:spcBef>
            <a:spcAft>
              <a:spcPct val="35000"/>
            </a:spcAft>
            <a:buNone/>
          </a:pPr>
          <a:r>
            <a:rPr lang="en-US" sz="1500" kern="1200" dirty="0"/>
            <a:t>A need to set various controls in operating systems</a:t>
          </a:r>
        </a:p>
      </dsp:txBody>
      <dsp:txXfrm>
        <a:off x="708174" y="1535724"/>
        <a:ext cx="4449612" cy="613138"/>
      </dsp:txXfrm>
    </dsp:sp>
    <dsp:sp modelId="{20947791-06C3-4603-8848-DEB7B0343E86}">
      <dsp:nvSpPr>
        <dsp:cNvPr id="0" name=""/>
        <dsp:cNvSpPr/>
      </dsp:nvSpPr>
      <dsp:spPr>
        <a:xfrm>
          <a:off x="0" y="2302147"/>
          <a:ext cx="5157787" cy="613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44A79-2D75-4143-9A34-DBB71BB3EFEE}">
      <dsp:nvSpPr>
        <dsp:cNvPr id="0" name=""/>
        <dsp:cNvSpPr/>
      </dsp:nvSpPr>
      <dsp:spPr>
        <a:xfrm>
          <a:off x="185474" y="2440104"/>
          <a:ext cx="337226" cy="337226"/>
        </a:xfrm>
        <a:prstGeom prst="rect">
          <a:avLst/>
        </a:prstGeom>
        <a:blipFill>
          <a:blip xmlns:r="http://schemas.openxmlformats.org/officeDocument/2006/relationships" r:embed="rId7">
            <a:extLst>
              <a:ext uri="{837473B0-CC2E-450A-ABE3-18F120FF3D39}">
                <a1611:picAttrSrcUrl xmlns:a1611="http://schemas.microsoft.com/office/drawing/2016/11/main" r:i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F4A0B3-00AE-47B5-8F4B-9FBE49A82412}">
      <dsp:nvSpPr>
        <dsp:cNvPr id="0" name=""/>
        <dsp:cNvSpPr/>
      </dsp:nvSpPr>
      <dsp:spPr>
        <a:xfrm>
          <a:off x="708174" y="2302147"/>
          <a:ext cx="4449612" cy="613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890" tIns="64890" rIns="64890" bIns="64890" numCol="1" spcCol="1270" anchor="ctr" anchorCtr="0">
          <a:noAutofit/>
        </a:bodyPr>
        <a:lstStyle/>
        <a:p>
          <a:pPr marL="0" lvl="0" indent="0" algn="l" defTabSz="666750">
            <a:lnSpc>
              <a:spcPct val="100000"/>
            </a:lnSpc>
            <a:spcBef>
              <a:spcPct val="0"/>
            </a:spcBef>
            <a:spcAft>
              <a:spcPct val="35000"/>
            </a:spcAft>
            <a:buNone/>
          </a:pPr>
          <a:r>
            <a:rPr lang="en-US" sz="1500" kern="1200" dirty="0"/>
            <a:t>Legacy applications that no longer run on modern operating systems</a:t>
          </a:r>
        </a:p>
      </dsp:txBody>
      <dsp:txXfrm>
        <a:off x="708174" y="2302147"/>
        <a:ext cx="4449612" cy="613138"/>
      </dsp:txXfrm>
    </dsp:sp>
    <dsp:sp modelId="{E5E45BE6-1835-054F-9692-2296694F5E91}">
      <dsp:nvSpPr>
        <dsp:cNvPr id="0" name=""/>
        <dsp:cNvSpPr/>
      </dsp:nvSpPr>
      <dsp:spPr>
        <a:xfrm>
          <a:off x="0" y="3068570"/>
          <a:ext cx="5157787" cy="613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99EAC-609A-5840-B608-E49D27AA4181}">
      <dsp:nvSpPr>
        <dsp:cNvPr id="0" name=""/>
        <dsp:cNvSpPr/>
      </dsp:nvSpPr>
      <dsp:spPr>
        <a:xfrm>
          <a:off x="185474" y="3206527"/>
          <a:ext cx="337226" cy="337226"/>
        </a:xfrm>
        <a:prstGeom prst="rect">
          <a:avLst/>
        </a:prstGeom>
        <a:blipFill>
          <a:blip xmlns:r="http://schemas.openxmlformats.org/officeDocument/2006/relationships" r:embed="rId9"/>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B73AA7-8D80-D149-AED3-866A619E0055}">
      <dsp:nvSpPr>
        <dsp:cNvPr id="0" name=""/>
        <dsp:cNvSpPr/>
      </dsp:nvSpPr>
      <dsp:spPr>
        <a:xfrm>
          <a:off x="708174" y="3068570"/>
          <a:ext cx="4449612" cy="613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890" tIns="64890" rIns="64890" bIns="64890" numCol="1" spcCol="1270" anchor="ctr" anchorCtr="0">
          <a:noAutofit/>
        </a:bodyPr>
        <a:lstStyle/>
        <a:p>
          <a:pPr marL="0" lvl="0" indent="0" algn="l" defTabSz="666750">
            <a:lnSpc>
              <a:spcPct val="100000"/>
            </a:lnSpc>
            <a:spcBef>
              <a:spcPct val="0"/>
            </a:spcBef>
            <a:spcAft>
              <a:spcPct val="35000"/>
            </a:spcAft>
            <a:buNone/>
          </a:pPr>
          <a:r>
            <a:rPr lang="en-US" sz="1500" kern="1200"/>
            <a:t>Different operating system requirements with a single underlying physical infrastructure available</a:t>
          </a:r>
          <a:endParaRPr lang="en-US" sz="1500" kern="1200" dirty="0"/>
        </a:p>
      </dsp:txBody>
      <dsp:txXfrm>
        <a:off x="708174" y="3068570"/>
        <a:ext cx="4449612" cy="613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5592A-2075-A248-B13D-C1B049265DEC}">
      <dsp:nvSpPr>
        <dsp:cNvPr id="0" name=""/>
        <dsp:cNvSpPr/>
      </dsp:nvSpPr>
      <dsp:spPr>
        <a:xfrm rot="5400000">
          <a:off x="6917663" y="-3073448"/>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Scale infrastructure up or down based on demand</a:t>
          </a:r>
        </a:p>
        <a:p>
          <a:pPr marL="114300" lvl="1" indent="-114300" algn="l" defTabSz="533400">
            <a:lnSpc>
              <a:spcPct val="90000"/>
            </a:lnSpc>
            <a:spcBef>
              <a:spcPct val="0"/>
            </a:spcBef>
            <a:spcAft>
              <a:spcPct val="15000"/>
            </a:spcAft>
            <a:buChar char="•"/>
          </a:pPr>
          <a:r>
            <a:rPr lang="en-US" sz="1200" kern="1200" dirty="0"/>
            <a:t>Flexible cost optimization supporting fluctuating business workloads</a:t>
          </a:r>
        </a:p>
      </dsp:txBody>
      <dsp:txXfrm rot="-5400000">
        <a:off x="3785616" y="81342"/>
        <a:ext cx="6707241" cy="420402"/>
      </dsp:txXfrm>
    </dsp:sp>
    <dsp:sp modelId="{831E5A7E-65F3-CE4D-8CC6-4AB3A08824EF}">
      <dsp:nvSpPr>
        <dsp:cNvPr id="0" name=""/>
        <dsp:cNvSpPr/>
      </dsp:nvSpPr>
      <dsp:spPr>
        <a:xfrm>
          <a:off x="0" y="363"/>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a:t>Scalability</a:t>
          </a:r>
          <a:endParaRPr lang="en-US" sz="2400" kern="1200"/>
        </a:p>
      </dsp:txBody>
      <dsp:txXfrm>
        <a:off x="28428" y="28791"/>
        <a:ext cx="3728760" cy="525504"/>
      </dsp:txXfrm>
    </dsp:sp>
    <dsp:sp modelId="{115B9D6A-76F5-CE4F-BC27-CD21583C8AE5}">
      <dsp:nvSpPr>
        <dsp:cNvPr id="0" name=""/>
        <dsp:cNvSpPr/>
      </dsp:nvSpPr>
      <dsp:spPr>
        <a:xfrm rot="5400000">
          <a:off x="6917663" y="-2461969"/>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No upfront capital expense or physical hardware</a:t>
          </a:r>
        </a:p>
        <a:p>
          <a:pPr marL="114300" lvl="1" indent="-114300" algn="l" defTabSz="533400">
            <a:lnSpc>
              <a:spcPct val="90000"/>
            </a:lnSpc>
            <a:spcBef>
              <a:spcPct val="0"/>
            </a:spcBef>
            <a:spcAft>
              <a:spcPct val="15000"/>
            </a:spcAft>
            <a:buChar char="•"/>
          </a:pPr>
          <a:r>
            <a:rPr lang="en-US" sz="1200" kern="1200" dirty="0"/>
            <a:t>Pay for what you use, on-demand</a:t>
          </a:r>
        </a:p>
      </dsp:txBody>
      <dsp:txXfrm rot="-5400000">
        <a:off x="3785616" y="692821"/>
        <a:ext cx="6707241" cy="420402"/>
      </dsp:txXfrm>
    </dsp:sp>
    <dsp:sp modelId="{06876578-4F2E-B24C-8A1D-7D6DB69A88D2}">
      <dsp:nvSpPr>
        <dsp:cNvPr id="0" name=""/>
        <dsp:cNvSpPr/>
      </dsp:nvSpPr>
      <dsp:spPr>
        <a:xfrm>
          <a:off x="0" y="611842"/>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Cost Efficiency</a:t>
          </a:r>
          <a:endParaRPr lang="en-US" sz="2400" kern="1200" dirty="0"/>
        </a:p>
      </dsp:txBody>
      <dsp:txXfrm>
        <a:off x="28428" y="640270"/>
        <a:ext cx="3728760" cy="525504"/>
      </dsp:txXfrm>
    </dsp:sp>
    <dsp:sp modelId="{6B962F42-4EFA-8242-B5BA-71FD5A71886B}">
      <dsp:nvSpPr>
        <dsp:cNvPr id="0" name=""/>
        <dsp:cNvSpPr/>
      </dsp:nvSpPr>
      <dsp:spPr>
        <a:xfrm rot="5400000">
          <a:off x="6917663" y="-1850490"/>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Access from anywhere with an internet connection</a:t>
          </a:r>
        </a:p>
        <a:p>
          <a:pPr marL="114300" lvl="1" indent="-114300" algn="l" defTabSz="533400">
            <a:lnSpc>
              <a:spcPct val="90000"/>
            </a:lnSpc>
            <a:spcBef>
              <a:spcPct val="0"/>
            </a:spcBef>
            <a:spcAft>
              <a:spcPct val="15000"/>
            </a:spcAft>
            <a:buChar char="•"/>
          </a:pPr>
          <a:r>
            <a:rPr lang="en-US" sz="1200" kern="1200" dirty="0"/>
            <a:t>Enable remote work, collaboration, and data access</a:t>
          </a:r>
        </a:p>
      </dsp:txBody>
      <dsp:txXfrm rot="-5400000">
        <a:off x="3785616" y="1304300"/>
        <a:ext cx="6707241" cy="420402"/>
      </dsp:txXfrm>
    </dsp:sp>
    <dsp:sp modelId="{1329C55F-8147-6649-8E29-535E44D13814}">
      <dsp:nvSpPr>
        <dsp:cNvPr id="0" name=""/>
        <dsp:cNvSpPr/>
      </dsp:nvSpPr>
      <dsp:spPr>
        <a:xfrm>
          <a:off x="0" y="1223320"/>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Accessibility</a:t>
          </a:r>
          <a:endParaRPr lang="en-US" sz="2400" kern="1200" dirty="0"/>
        </a:p>
      </dsp:txBody>
      <dsp:txXfrm>
        <a:off x="28428" y="1251748"/>
        <a:ext cx="3728760" cy="525504"/>
      </dsp:txXfrm>
    </dsp:sp>
    <dsp:sp modelId="{834AD00E-6FAC-F14E-841B-D8DA96872907}">
      <dsp:nvSpPr>
        <dsp:cNvPr id="0" name=""/>
        <dsp:cNvSpPr/>
      </dsp:nvSpPr>
      <dsp:spPr>
        <a:xfrm rot="5400000">
          <a:off x="6917663" y="-1239012"/>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Reduced risk of data loss and downtime through high levels of reliability through data replication and redundancy.</a:t>
          </a:r>
        </a:p>
      </dsp:txBody>
      <dsp:txXfrm rot="-5400000">
        <a:off x="3785616" y="1915778"/>
        <a:ext cx="6707241" cy="420402"/>
      </dsp:txXfrm>
    </dsp:sp>
    <dsp:sp modelId="{39FA01FA-5A99-9640-9344-1B1192B2F732}">
      <dsp:nvSpPr>
        <dsp:cNvPr id="0" name=""/>
        <dsp:cNvSpPr/>
      </dsp:nvSpPr>
      <dsp:spPr>
        <a:xfrm>
          <a:off x="0" y="1834799"/>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Reliability and Redundancy</a:t>
          </a:r>
          <a:endParaRPr lang="en-US" sz="2400" kern="1200" dirty="0"/>
        </a:p>
      </dsp:txBody>
      <dsp:txXfrm>
        <a:off x="28428" y="1863227"/>
        <a:ext cx="3728760" cy="525504"/>
      </dsp:txXfrm>
    </dsp:sp>
    <dsp:sp modelId="{3C492FA0-35AB-C341-AE04-BDBD875CD7B1}">
      <dsp:nvSpPr>
        <dsp:cNvPr id="0" name=""/>
        <dsp:cNvSpPr/>
      </dsp:nvSpPr>
      <dsp:spPr>
        <a:xfrm rot="5400000">
          <a:off x="6917663" y="-627533"/>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Physically secured infrastructure and compliance certifications</a:t>
          </a:r>
        </a:p>
        <a:p>
          <a:pPr marL="114300" lvl="1" indent="-114300" algn="l" defTabSz="533400">
            <a:lnSpc>
              <a:spcPct val="90000"/>
            </a:lnSpc>
            <a:spcBef>
              <a:spcPct val="0"/>
            </a:spcBef>
            <a:spcAft>
              <a:spcPct val="15000"/>
            </a:spcAft>
            <a:buChar char="•"/>
          </a:pPr>
          <a:r>
            <a:rPr lang="en-US" sz="1200" kern="1200" dirty="0"/>
            <a:t>Often better than individual organizations</a:t>
          </a:r>
        </a:p>
      </dsp:txBody>
      <dsp:txXfrm rot="-5400000">
        <a:off x="3785616" y="2527257"/>
        <a:ext cx="6707241" cy="420402"/>
      </dsp:txXfrm>
    </dsp:sp>
    <dsp:sp modelId="{9B96D029-6951-A245-AB73-FC074BAC699A}">
      <dsp:nvSpPr>
        <dsp:cNvPr id="0" name=""/>
        <dsp:cNvSpPr/>
      </dsp:nvSpPr>
      <dsp:spPr>
        <a:xfrm>
          <a:off x="0" y="2446278"/>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Security</a:t>
          </a:r>
          <a:endParaRPr lang="en-US" sz="2400" kern="1200" dirty="0"/>
        </a:p>
      </dsp:txBody>
      <dsp:txXfrm>
        <a:off x="28428" y="2474706"/>
        <a:ext cx="3728760" cy="525504"/>
      </dsp:txXfrm>
    </dsp:sp>
    <dsp:sp modelId="{C3994922-F490-7349-A417-FA085E564C66}">
      <dsp:nvSpPr>
        <dsp:cNvPr id="0" name=""/>
        <dsp:cNvSpPr/>
      </dsp:nvSpPr>
      <dsp:spPr>
        <a:xfrm rot="5400000">
          <a:off x="6917663" y="-16054"/>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Wide range of tools and services allowing rapid business innovation</a:t>
          </a:r>
        </a:p>
        <a:p>
          <a:pPr marL="114300" lvl="1" indent="-114300" algn="l" defTabSz="533400">
            <a:lnSpc>
              <a:spcPct val="90000"/>
            </a:lnSpc>
            <a:spcBef>
              <a:spcPct val="0"/>
            </a:spcBef>
            <a:spcAft>
              <a:spcPct val="15000"/>
            </a:spcAft>
            <a:buChar char="•"/>
          </a:pPr>
          <a:r>
            <a:rPr lang="en-US" sz="1200" kern="1200" dirty="0"/>
            <a:t>Avoid ground-up builds</a:t>
          </a:r>
        </a:p>
      </dsp:txBody>
      <dsp:txXfrm rot="-5400000">
        <a:off x="3785616" y="3138736"/>
        <a:ext cx="6707241" cy="420402"/>
      </dsp:txXfrm>
    </dsp:sp>
    <dsp:sp modelId="{33A6FC6A-516E-1448-90D5-16BDEF42115C}">
      <dsp:nvSpPr>
        <dsp:cNvPr id="0" name=""/>
        <dsp:cNvSpPr/>
      </dsp:nvSpPr>
      <dsp:spPr>
        <a:xfrm>
          <a:off x="0" y="3057757"/>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Innovation</a:t>
          </a:r>
          <a:endParaRPr lang="en-US" sz="2400" kern="1200" dirty="0"/>
        </a:p>
      </dsp:txBody>
      <dsp:txXfrm>
        <a:off x="28428" y="3086185"/>
        <a:ext cx="3728760" cy="525504"/>
      </dsp:txXfrm>
    </dsp:sp>
    <dsp:sp modelId="{66DFFBD4-86BE-6B46-A7BA-57E9CD3EAA3C}">
      <dsp:nvSpPr>
        <dsp:cNvPr id="0" name=""/>
        <dsp:cNvSpPr/>
      </dsp:nvSpPr>
      <dsp:spPr>
        <a:xfrm rot="5400000">
          <a:off x="6917663" y="595424"/>
          <a:ext cx="46588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Worldwide, global reach, with multiple data centers</a:t>
          </a:r>
        </a:p>
        <a:p>
          <a:pPr marL="114300" lvl="1" indent="-114300" algn="l" defTabSz="533400">
            <a:lnSpc>
              <a:spcPct val="90000"/>
            </a:lnSpc>
            <a:spcBef>
              <a:spcPct val="0"/>
            </a:spcBef>
            <a:spcAft>
              <a:spcPct val="15000"/>
            </a:spcAft>
            <a:buChar char="•"/>
          </a:pPr>
          <a:r>
            <a:rPr lang="en-US" sz="1200" kern="1200" dirty="0"/>
            <a:t>Easy expansion and global presence</a:t>
          </a:r>
        </a:p>
      </dsp:txBody>
      <dsp:txXfrm rot="-5400000">
        <a:off x="3785616" y="3750215"/>
        <a:ext cx="6707241" cy="420402"/>
      </dsp:txXfrm>
    </dsp:sp>
    <dsp:sp modelId="{EEA8006B-DF0D-834F-907C-5CFE0B40D0E3}">
      <dsp:nvSpPr>
        <dsp:cNvPr id="0" name=""/>
        <dsp:cNvSpPr/>
      </dsp:nvSpPr>
      <dsp:spPr>
        <a:xfrm>
          <a:off x="0" y="3669235"/>
          <a:ext cx="3785616" cy="582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kern="1200" dirty="0"/>
            <a:t>Global Reach</a:t>
          </a:r>
          <a:endParaRPr lang="en-US" sz="2400" kern="1200" dirty="0"/>
        </a:p>
      </dsp:txBody>
      <dsp:txXfrm>
        <a:off x="28428" y="3697663"/>
        <a:ext cx="3728760" cy="5255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88E05-CAD2-491D-93D4-ECB3793357F0}" type="datetimeFigureOut">
              <a:rPr lang="en-IN" smtClean="0"/>
              <a:t>06/03/26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552BB5-5DBE-4ABE-AD80-5ED01C1C7C64}" type="slidenum">
              <a:rPr lang="en-IN" smtClean="0"/>
              <a:t>‹#›</a:t>
            </a:fld>
            <a:endParaRPr lang="en-IN"/>
          </a:p>
        </p:txBody>
      </p:sp>
    </p:spTree>
    <p:extLst>
      <p:ext uri="{BB962C8B-B14F-4D97-AF65-F5344CB8AC3E}">
        <p14:creationId xmlns:p14="http://schemas.microsoft.com/office/powerpoint/2010/main" val="1222608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ws.amazon.com/what-is/virtualiz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www.weave.works/blog/a-practical-guide-to-choosing-between-docker-containers-and-vms" TargetMode="External"/><Relationship Id="rId4" Type="http://schemas.openxmlformats.org/officeDocument/2006/relationships/hyperlink" Target="https://aws.amazon.com/what-is/containerization/"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amazon.com/compliance/shared-responsibility-mode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53167fd36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53167fd3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53167fd36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53167fd3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&lt;click&gt;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1999, Salesforce was the example of using cloud computing successfully. They pioneered the idea of using the internet to deliver software programs to end users. The application could be accessed and downloaded by anyone over the internet. However, Amazon pioneered cloud services.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&lt;click&gt;</a:t>
            </a:r>
          </a:p>
          <a:p>
            <a:pPr marL="0" lvl="0" indent="0" algn="l" rtl="0">
              <a:spcBef>
                <a:spcPts val="0"/>
              </a:spcBef>
              <a:spcAft>
                <a:spcPts val="0"/>
              </a:spcAft>
              <a:buNone/>
            </a:pPr>
            <a:r>
              <a:rPr lang="en-US" dirty="0"/>
              <a:t>In early 2000s, Amazon was growing massively. Like other large companies, Amazon had was struggling with scale, had a jumbled mess of services, but also had significant underusage of infrastructure. Essentially, this was wasted resources or money. The expectation or strategy was made for all internal teams to build decoupled services, use APIs, and consume internal systems in such a manner. That was the start as without even knowing or realizing, they became a services company, via APIs. Application Programming Interfaces or API serve as a contract between a provider and consumer of services, to providing some capability or information. They are meant to be stable with infrequent changes, but should the contract change, the API gets a different version with the previous being deprecated, but both being available for an extended period of time until the previous is made unavailable when no longer used.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many an internal discussion continued to be held from an initial retreat on core competencies, excess infrastructure, expertise, and revenue streams. A few years later, that excess infrastructure, internal expertise in building data centers, managing infrastructure, and using APIs was used to launch EC2. First as SQS or simple queue service (in 2004), then storage as S3 (in March 2006), then compute with EC2 (in August 2006).</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&lt;click&gt;</a:t>
            </a:r>
          </a:p>
          <a:p>
            <a:pPr marL="0" lvl="0" indent="0" algn="l" rtl="0">
              <a:spcBef>
                <a:spcPts val="0"/>
              </a:spcBef>
              <a:spcAft>
                <a:spcPts val="0"/>
              </a:spcAft>
              <a:buNone/>
            </a:pPr>
            <a:r>
              <a:rPr lang="en-US" dirty="0"/>
              <a:t>So, AWS was launched as the service arm of Amazon, and the rest is now present cloud </a:t>
            </a:r>
            <a:r>
              <a:rPr lang="en-US" dirty="0">
                <a:sym typeface="Wingdings" pitchFamily="2" charset="2"/>
              </a:rPr>
              <a:t> .</a:t>
            </a:r>
          </a:p>
          <a:p>
            <a:pPr marL="0" lvl="0" indent="0" algn="l" rtl="0">
              <a:spcBef>
                <a:spcPts val="0"/>
              </a:spcBef>
              <a:spcAft>
                <a:spcPts val="0"/>
              </a:spcAft>
              <a:buNone/>
            </a:pPr>
            <a:endParaRPr lang="en-US" dirty="0">
              <a:sym typeface="Wingdings" pitchFamily="2" charset="2"/>
            </a:endParaRPr>
          </a:p>
        </p:txBody>
      </p:sp>
    </p:spTree>
    <p:extLst>
      <p:ext uri="{BB962C8B-B14F-4D97-AF65-F5344CB8AC3E}">
        <p14:creationId xmlns:p14="http://schemas.microsoft.com/office/powerpoint/2010/main" val="2206133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3167fd36b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53167fd36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itchFamily="2" charset="2"/>
              </a:rPr>
              <a:t>So, what is Cloud Computing? It is the delivery of services over a network. Being able to consume those services, whenever or on-demand, in a usage-based pricing model.</a:t>
            </a:r>
            <a:endParaRPr lang="en-US" dirty="0"/>
          </a:p>
          <a:p>
            <a:pPr marL="0" lvl="0" indent="0" algn="l" rtl="0">
              <a:spcBef>
                <a:spcPts val="0"/>
              </a:spcBef>
              <a:spcAft>
                <a:spcPts val="0"/>
              </a:spcAft>
              <a:buNone/>
            </a:pPr>
            <a:endParaRPr lang="en-US" b="0" i="0" dirty="0">
              <a:solidFill>
                <a:srgbClr val="ECECF1"/>
              </a:solidFill>
              <a:effectLst/>
              <a:latin typeface="Söhne"/>
            </a:endParaRPr>
          </a:p>
          <a:p>
            <a:pPr marL="0" lvl="0" indent="0" algn="l" rtl="0">
              <a:spcBef>
                <a:spcPts val="0"/>
              </a:spcBef>
              <a:spcAft>
                <a:spcPts val="0"/>
              </a:spcAft>
              <a:buNone/>
            </a:pPr>
            <a:r>
              <a:rPr lang="en-US" b="0" i="0" dirty="0">
                <a:solidFill>
                  <a:srgbClr val="ECECF1"/>
                </a:solidFill>
                <a:effectLst/>
                <a:latin typeface="Söhne"/>
              </a:rPr>
              <a:t>&lt;click&gt;</a:t>
            </a:r>
          </a:p>
          <a:p>
            <a:pPr marL="0" lvl="0" indent="0" algn="l" rtl="0">
              <a:spcBef>
                <a:spcPts val="0"/>
              </a:spcBef>
              <a:spcAft>
                <a:spcPts val="0"/>
              </a:spcAft>
              <a:buNone/>
            </a:pPr>
            <a:r>
              <a:rPr lang="en-US" b="0" i="0" dirty="0">
                <a:solidFill>
                  <a:srgbClr val="ECECF1"/>
                </a:solidFill>
                <a:effectLst/>
                <a:latin typeface="Söhne"/>
              </a:rPr>
              <a:t>It is a technology that allows users to access and use computing resources, such as servers, &lt;&lt;click&gt;&gt; networking, &lt;&lt;click&gt;&gt; storage, databases, and software over the internet. </a:t>
            </a:r>
          </a:p>
          <a:p>
            <a:pPr marL="0" lvl="0" indent="0" algn="l" rtl="0">
              <a:spcBef>
                <a:spcPts val="0"/>
              </a:spcBef>
              <a:spcAft>
                <a:spcPts val="0"/>
              </a:spcAft>
              <a:buNone/>
            </a:pPr>
            <a:endParaRPr lang="en-US" b="0" i="0" dirty="0">
              <a:solidFill>
                <a:srgbClr val="ECECF1"/>
              </a:solidFill>
              <a:effectLst/>
              <a:latin typeface="Söhne"/>
            </a:endParaRPr>
          </a:p>
          <a:p>
            <a:pPr marL="0" lvl="0" indent="0" algn="l" rtl="0">
              <a:spcBef>
                <a:spcPts val="0"/>
              </a:spcBef>
              <a:spcAft>
                <a:spcPts val="0"/>
              </a:spcAft>
              <a:buNone/>
            </a:pPr>
            <a:r>
              <a:rPr lang="en-US" b="0" i="0" dirty="0">
                <a:solidFill>
                  <a:srgbClr val="ECECF1"/>
                </a:solidFill>
                <a:effectLst/>
                <a:latin typeface="Söhne"/>
              </a:rPr>
              <a:t>&lt;click&gt;</a:t>
            </a:r>
          </a:p>
          <a:p>
            <a:pPr marL="0" lvl="0" indent="0" algn="l" rtl="0">
              <a:spcBef>
                <a:spcPts val="0"/>
              </a:spcBef>
              <a:spcAft>
                <a:spcPts val="0"/>
              </a:spcAft>
              <a:buNone/>
            </a:pPr>
            <a:r>
              <a:rPr lang="en-US" b="0" i="0" dirty="0">
                <a:solidFill>
                  <a:srgbClr val="ECECF1"/>
                </a:solidFill>
                <a:effectLst/>
                <a:latin typeface="Söhne"/>
              </a:rPr>
              <a:t>Instead of owning and maintaining physical hardware or infrastructure, users can leverage services provided by cloud service providers on a pay-as-you-go basis. This model offers flexibility, scalability, and cost-effectiveness, enabling individuals and businesses to deploy and manage applications and data without the need for significant upfront investments in hardware and IT infrastructure. </a:t>
            </a:r>
          </a:p>
          <a:p>
            <a:pPr marL="0" lvl="0" indent="0" algn="l" rtl="0">
              <a:spcBef>
                <a:spcPts val="0"/>
              </a:spcBef>
              <a:spcAft>
                <a:spcPts val="0"/>
              </a:spcAft>
              <a:buNone/>
            </a:pPr>
            <a:endParaRPr lang="en-US" b="0" i="0" dirty="0">
              <a:solidFill>
                <a:srgbClr val="ECECF1"/>
              </a:solidFill>
              <a:effectLst/>
              <a:latin typeface="Söhne"/>
            </a:endParaRPr>
          </a:p>
          <a:p>
            <a:pPr marL="0" lvl="0" indent="0" algn="l" rtl="0">
              <a:spcBef>
                <a:spcPts val="0"/>
              </a:spcBef>
              <a:spcAft>
                <a:spcPts val="0"/>
              </a:spcAft>
              <a:buNone/>
            </a:pPr>
            <a:r>
              <a:rPr lang="en-US" b="0" i="0" dirty="0">
                <a:solidFill>
                  <a:srgbClr val="ECECF1"/>
                </a:solidFill>
                <a:effectLst/>
                <a:latin typeface="Söhne"/>
              </a:rPr>
              <a:t>Cloud computing services can be categorized into Infrastructure as a Service (IaaS), Platform as a Service (PaaS), and Software as a Service (SaaS), each providing different levels of abstraction and management control.</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0000"/>
                </a:solidFill>
                <a:effectLst/>
                <a:latin typeface="Helvetica" pitchFamily="2" charset="0"/>
              </a:rPr>
              <a:t>Virtualization in the cloud lets multiple users run their own virtual computers on the same physical hardware, so they can use the cloud resources as if they were dedicated to them, even though they're sharing them with others.</a:t>
            </a:r>
          </a:p>
          <a:p>
            <a:endParaRPr lang="en-US" dirty="0"/>
          </a:p>
          <a:p>
            <a:endParaRPr lang="en-US" dirty="0"/>
          </a:p>
          <a:p>
            <a:r>
              <a:rPr lang="en-US" dirty="0"/>
              <a:t>Cloud providers may present the service in different ways via the web console, but concepts are similar. For example, both providers have the same attributes - IP, tag, location, status, network, subnet, etc.</a:t>
            </a:r>
            <a:endParaRPr lang="en-IN" dirty="0"/>
          </a:p>
        </p:txBody>
      </p:sp>
      <p:sp>
        <p:nvSpPr>
          <p:cNvPr id="4" name="Slide Number Placeholder 3"/>
          <p:cNvSpPr>
            <a:spLocks noGrp="1"/>
          </p:cNvSpPr>
          <p:nvPr>
            <p:ph type="sldNum" sz="quarter" idx="5"/>
          </p:nvPr>
        </p:nvSpPr>
        <p:spPr/>
        <p:txBody>
          <a:bodyPr/>
          <a:lstStyle/>
          <a:p>
            <a:fld id="{74552BB5-5DBE-4ABE-AD80-5ED01C1C7C64}" type="slidenum">
              <a:rPr lang="en-IN" smtClean="0"/>
              <a:t>5</a:t>
            </a:fld>
            <a:endParaRPr lang="en-IN"/>
          </a:p>
        </p:txBody>
      </p:sp>
    </p:spTree>
    <p:extLst>
      <p:ext uri="{BB962C8B-B14F-4D97-AF65-F5344CB8AC3E}">
        <p14:creationId xmlns:p14="http://schemas.microsoft.com/office/powerpoint/2010/main" val="1496532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4e040b739ec6329_13: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4e040b739ec6329_13:notes"/>
          <p:cNvSpPr txBox="1">
            <a:spLocks noGrp="1"/>
          </p:cNvSpPr>
          <p:nvPr>
            <p:ph type="body" idx="1"/>
          </p:nvPr>
        </p:nvSpPr>
        <p:spPr>
          <a:xfrm>
            <a:off x="711200" y="4926013"/>
            <a:ext cx="5683200" cy="4029000"/>
          </a:xfrm>
          <a:prstGeom prst="rect">
            <a:avLst/>
          </a:prstGeom>
        </p:spPr>
        <p:txBody>
          <a:bodyPr spcFirstLastPara="1" wrap="square" lIns="91425" tIns="45700" rIns="91425" bIns="45700" numCol="1" anchor="t" anchorCtr="0">
            <a:noAutofit/>
          </a:bodyPr>
          <a:lstStyle/>
          <a:p>
            <a:pPr marL="0" lvl="0" indent="0" algn="l" rtl="0">
              <a:spcBef>
                <a:spcPts val="0"/>
              </a:spcBef>
              <a:spcAft>
                <a:spcPts val="0"/>
              </a:spcAft>
              <a:buNone/>
            </a:pPr>
            <a:r>
              <a:rPr lang="en-US" b="1" u="sng" dirty="0"/>
              <a:t>Virtual Machines</a:t>
            </a:r>
          </a:p>
          <a:p>
            <a:pPr marL="0" lvl="0" indent="0" algn="l" rtl="0">
              <a:spcBef>
                <a:spcPts val="0"/>
              </a:spcBef>
              <a:spcAft>
                <a:spcPts val="0"/>
              </a:spcAft>
              <a:buNone/>
            </a:pPr>
            <a:r>
              <a:rPr lang="en-US" dirty="0"/>
              <a:t>A </a:t>
            </a:r>
            <a:r>
              <a:rPr lang="en-US" dirty="0">
                <a:hlinkClick r:id="rId3"/>
              </a:rPr>
              <a:t>virtual machine</a:t>
            </a:r>
            <a:r>
              <a:rPr lang="en-US" dirty="0"/>
              <a:t> is a digital copy of a physical machine. You can have multiple virtual machines with their own individual operating systems running on the same host operating system. In addition you can create a virtual machine that contains everything required to run your application. The physical computer is called the </a:t>
            </a:r>
            <a:r>
              <a:rPr lang="en-US" i="1" dirty="0"/>
              <a:t>host </a:t>
            </a:r>
            <a:r>
              <a:rPr lang="en-US" dirty="0"/>
              <a:t>computer and the virtual machine is called the </a:t>
            </a:r>
            <a:r>
              <a:rPr lang="en-US" i="1" dirty="0"/>
              <a:t>guest</a:t>
            </a:r>
            <a:r>
              <a:rPr lang="en-US" dirty="0"/>
              <a:t>. </a:t>
            </a:r>
          </a:p>
          <a:p>
            <a:pPr marL="0" lvl="0" indent="0" algn="l" rtl="0">
              <a:spcBef>
                <a:spcPts val="0"/>
              </a:spcBef>
              <a:spcAft>
                <a:spcPts val="0"/>
              </a:spcAft>
              <a:buNone/>
            </a:pPr>
            <a:endParaRPr lang="en-US" b="1" u="sng" dirty="0"/>
          </a:p>
          <a:p>
            <a:pPr marL="0" lvl="0" indent="0" algn="l" rtl="0">
              <a:spcBef>
                <a:spcPts val="0"/>
              </a:spcBef>
              <a:spcAft>
                <a:spcPts val="0"/>
              </a:spcAft>
              <a:buNone/>
            </a:pPr>
            <a:r>
              <a:rPr lang="en-US" dirty="0"/>
              <a:t>- </a:t>
            </a:r>
            <a:r>
              <a:rPr lang="en-US" b="1" dirty="0"/>
              <a:t>Purpose</a:t>
            </a:r>
            <a:r>
              <a:rPr lang="en-US" dirty="0"/>
              <a:t>: Historically, virtual machine technology was developed to efficiently use increasing physical hardware capacity and processing power. Running a single application environment on a single physical server underutilized hardware resources. Virtual machines allow organizations to install multiple operating systems and create multiple environments on the same physical machine.</a:t>
            </a:r>
          </a:p>
          <a:p>
            <a:pPr marL="0" lvl="0" indent="0" algn="l" rtl="0">
              <a:spcBef>
                <a:spcPts val="0"/>
              </a:spcBef>
              <a:spcAft>
                <a:spcPts val="0"/>
              </a:spcAft>
              <a:buNone/>
            </a:pPr>
            <a:endParaRPr lang="en-US" dirty="0"/>
          </a:p>
          <a:p>
            <a:pPr marL="0" lvl="0" indent="0" algn="l" rtl="0">
              <a:spcBef>
                <a:spcPts val="0"/>
              </a:spcBef>
              <a:spcAft>
                <a:spcPts val="0"/>
              </a:spcAft>
              <a:buNone/>
            </a:pPr>
            <a:r>
              <a:rPr lang="en-US" b="1" u="sng" dirty="0"/>
              <a:t>Containers</a:t>
            </a:r>
          </a:p>
          <a:p>
            <a:pPr marL="0" lvl="0" indent="0" algn="l" rtl="0">
              <a:spcBef>
                <a:spcPts val="0"/>
              </a:spcBef>
              <a:spcAft>
                <a:spcPts val="0"/>
              </a:spcAft>
              <a:buNone/>
            </a:pPr>
            <a:r>
              <a:rPr lang="en-US" dirty="0"/>
              <a:t>A container is a software code package containing an application’s code, its libraries, and other dependencies. </a:t>
            </a:r>
            <a:r>
              <a:rPr lang="en-US" dirty="0">
                <a:hlinkClick r:id="rId4"/>
              </a:rPr>
              <a:t>Containerization</a:t>
            </a:r>
            <a:r>
              <a:rPr lang="en-US" dirty="0"/>
              <a:t> makes your applications portable so that the same code can run on any device. Containers virtualize the operating system so the application can run independently on any platform.</a:t>
            </a:r>
          </a:p>
          <a:p>
            <a:pPr marL="0" lvl="0" indent="0" algn="l" rtl="0">
              <a:spcBef>
                <a:spcPts val="0"/>
              </a:spcBef>
              <a:spcAft>
                <a:spcPts val="0"/>
              </a:spcAft>
              <a:buNone/>
            </a:pPr>
            <a:endParaRPr lang="en-US" b="1" u="sng" dirty="0"/>
          </a:p>
          <a:p>
            <a:pPr marL="171450" lvl="0" indent="-171450" algn="l" rtl="0">
              <a:spcBef>
                <a:spcPts val="0"/>
              </a:spcBef>
              <a:spcAft>
                <a:spcPts val="0"/>
              </a:spcAft>
              <a:buFontTx/>
              <a:buChar char="-"/>
            </a:pPr>
            <a:r>
              <a:rPr lang="en-US" b="1" dirty="0"/>
              <a:t>Purpose</a:t>
            </a:r>
            <a:r>
              <a:rPr lang="en-US" dirty="0"/>
              <a:t>: Containers were created to package and run applications in a predictable and repeatable way across multiple environments. Instead of recreating the environment, you packaged the application to run on all types of physical or virtual environments. </a:t>
            </a:r>
          </a:p>
          <a:p>
            <a:pPr marL="0" lvl="0" indent="0" algn="l" rtl="0">
              <a:spcBef>
                <a:spcPts val="0"/>
              </a:spcBef>
              <a:spcAft>
                <a:spcPts val="0"/>
              </a:spcAft>
              <a:buNone/>
            </a:pPr>
            <a:endParaRPr lang="en-US" dirty="0"/>
          </a:p>
          <a:p>
            <a:pPr marL="0" lvl="0" indent="0" algn="l" rtl="0">
              <a:spcBef>
                <a:spcPts val="0"/>
              </a:spcBef>
              <a:spcAft>
                <a:spcPts val="0"/>
              </a:spcAft>
              <a:buNone/>
            </a:pPr>
            <a:r>
              <a:rPr lang="en-US" b="1" u="sng" dirty="0"/>
              <a:t>Choosing</a:t>
            </a:r>
          </a:p>
          <a:p>
            <a:pPr marL="171450" indent="-171450">
              <a:buFontTx/>
              <a:buChar char="-"/>
            </a:pPr>
            <a:r>
              <a:rPr lang="en-US" b="1" dirty="0"/>
              <a:t>Virtual machines</a:t>
            </a:r>
            <a:r>
              <a:rPr lang="en-US" dirty="0"/>
              <a:t> are full-stack systems and can be laborious to build and regenerate. Any modifications are time-consuming to validate as you have to regenerate the environment. Virtual machines take up more storage space and require you to provision more hardware in your on-premises data centers. Switching to cloud instances reduces costs but migrating your entire environment brings its own challenges.</a:t>
            </a:r>
          </a:p>
          <a:p>
            <a:pPr marL="171450" indent="-171450">
              <a:buFontTx/>
              <a:buChar char="-"/>
            </a:pPr>
            <a:r>
              <a:rPr lang="en-US" b="1" dirty="0"/>
              <a:t>Containers</a:t>
            </a:r>
            <a:r>
              <a:rPr lang="en-US" dirty="0"/>
              <a:t> are a better choice if you want to build, test, and release new features frequently. As they only include high-level software, they are very fast to modify and iterate on. Containers take up less space and are easier to scale. More importantly, containers provide granular control on application scalability by allowing you to use microservices.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References:</a:t>
            </a:r>
            <a:endParaRPr dirty="0"/>
          </a:p>
          <a:p>
            <a:pPr marL="457200" lvl="0" indent="-317500" algn="l" rtl="0">
              <a:spcBef>
                <a:spcPts val="0"/>
              </a:spcBef>
              <a:spcAft>
                <a:spcPts val="0"/>
              </a:spcAft>
              <a:buSzPts val="1400"/>
              <a:buChar char="●"/>
            </a:pPr>
            <a:r>
              <a:rPr lang="en-US" u="sng" dirty="0">
                <a:solidFill>
                  <a:schemeClr val="hlink"/>
                </a:solidFill>
                <a:hlinkClick r:id="rId5"/>
              </a:rPr>
              <a:t>https://www.weave.works/blog/a-practical-guide-to-choosing-between-docker-containers-and-vms</a:t>
            </a:r>
            <a:endParaRPr dirty="0"/>
          </a:p>
          <a:p>
            <a:pPr marL="0" lvl="0" indent="0" algn="l" rtl="0">
              <a:spcBef>
                <a:spcPts val="0"/>
              </a:spcBef>
              <a:spcAft>
                <a:spcPts val="0"/>
              </a:spcAft>
              <a:buNone/>
            </a:pPr>
            <a:endParaRPr dirty="0"/>
          </a:p>
        </p:txBody>
      </p:sp>
      <p:sp>
        <p:nvSpPr>
          <p:cNvPr id="137" name="Google Shape;137;g4e040b739ec6329_13: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numCol="1"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3167fd36b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53167fd36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OpEx</a:t>
            </a:r>
            <a:r>
              <a:rPr lang="en-US" dirty="0"/>
              <a:t> is a common business case for cloud computing. CFO may be even more interested than CIO and CTO.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SWOT – Strengths, Weaknesses, Opportunities, Threats</a:t>
            </a:r>
          </a:p>
          <a:p>
            <a:pPr marL="0" lvl="0" indent="0" algn="l" rtl="0">
              <a:spcBef>
                <a:spcPts val="0"/>
              </a:spcBef>
              <a:spcAft>
                <a:spcPts val="0"/>
              </a:spcAft>
              <a:buNone/>
            </a:pPr>
            <a:r>
              <a:rPr lang="en-US" dirty="0"/>
              <a:t>Strength - increases</a:t>
            </a:r>
            <a:endParaRPr dirty="0"/>
          </a:p>
        </p:txBody>
      </p:sp>
    </p:spTree>
    <p:extLst>
      <p:ext uri="{BB962C8B-B14F-4D97-AF65-F5344CB8AC3E}">
        <p14:creationId xmlns:p14="http://schemas.microsoft.com/office/powerpoint/2010/main" val="629153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0000"/>
                </a:solidFill>
                <a:effectLst/>
                <a:latin typeface="Helvetica" pitchFamily="2" charset="0"/>
              </a:rPr>
              <a:t>Cloud computing emerged as a response to the limitations of traditional on-premises infrastructure. It offers cost-efficiency, scalability, accessibility, and a wide array of services that empower businesses and individuals to harness the power of computing without the need for extensive upfront investments in hardware and infrastructure. This has led to the widespread adoption of cloud computing across various industries and use cases.</a:t>
            </a:r>
          </a:p>
          <a:p>
            <a:pPr marL="914400" lvl="0" indent="0" algn="l" rtl="0">
              <a:lnSpc>
                <a:spcPct val="115000"/>
              </a:lnSpc>
              <a:spcBef>
                <a:spcPts val="0"/>
              </a:spcBef>
              <a:spcAft>
                <a:spcPts val="1200"/>
              </a:spcAft>
              <a:buNone/>
            </a:pPr>
            <a:endParaRPr lang="en-US" dirty="0"/>
          </a:p>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10</a:t>
            </a:fld>
            <a:endParaRPr lang="en-IN"/>
          </a:p>
        </p:txBody>
      </p:sp>
    </p:spTree>
    <p:extLst>
      <p:ext uri="{BB962C8B-B14F-4D97-AF65-F5344CB8AC3E}">
        <p14:creationId xmlns:p14="http://schemas.microsoft.com/office/powerpoint/2010/main" val="3269631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lgn="l">
              <a:buNone/>
            </a:pPr>
            <a:r>
              <a:rPr lang="en-US" b="1" i="0" dirty="0">
                <a:solidFill>
                  <a:srgbClr val="333333"/>
                </a:solidFill>
                <a:effectLst/>
                <a:latin typeface="AmazonEmberBold"/>
              </a:rPr>
              <a:t>Public cloud</a:t>
            </a:r>
            <a:endParaRPr lang="en-US" b="1" i="0" dirty="0">
              <a:solidFill>
                <a:srgbClr val="333333"/>
              </a:solidFill>
              <a:effectLst/>
              <a:latin typeface="AmazonEmber"/>
            </a:endParaRPr>
          </a:p>
          <a:p>
            <a:pPr algn="l"/>
            <a:r>
              <a:rPr lang="en-US" b="0" i="0" dirty="0">
                <a:solidFill>
                  <a:srgbClr val="333333"/>
                </a:solidFill>
                <a:effectLst/>
                <a:latin typeface="AmazonEmber"/>
              </a:rPr>
              <a:t>A third-party cloud service provider manages the underlying computing resources. The provider is responsible for resource maintenance and guarantees availability, reliability, and security through service-level agreements. You don’t buy, own, and maintain physical data centers and servers; instead, you access technology services on an as-needed basis. In addition, several tasks, such as runtime resource scaling, are automated for operational efficiency.</a:t>
            </a:r>
          </a:p>
          <a:p>
            <a:pPr algn="l"/>
            <a:endParaRPr lang="en-US" b="0" i="0" dirty="0">
              <a:solidFill>
                <a:srgbClr val="333333"/>
              </a:solidFill>
              <a:effectLst/>
              <a:latin typeface="AmazonEmber"/>
            </a:endParaRPr>
          </a:p>
          <a:p>
            <a:pPr marL="158750" indent="0" algn="l">
              <a:buNone/>
            </a:pPr>
            <a:r>
              <a:rPr lang="en-US" b="0" i="1" dirty="0">
                <a:solidFill>
                  <a:srgbClr val="333333"/>
                </a:solidFill>
                <a:effectLst/>
                <a:latin typeface="AmazonEmber"/>
              </a:rPr>
              <a:t>Private cloud compared to public cloud</a:t>
            </a:r>
            <a:endParaRPr lang="en-US" b="1" i="0" dirty="0">
              <a:solidFill>
                <a:srgbClr val="333333"/>
              </a:solidFill>
              <a:effectLst/>
              <a:latin typeface="AmazonEmber"/>
            </a:endParaRPr>
          </a:p>
          <a:p>
            <a:pPr algn="l"/>
            <a:r>
              <a:rPr lang="en-US" b="0" i="0" dirty="0">
                <a:solidFill>
                  <a:srgbClr val="333333"/>
                </a:solidFill>
                <a:effectLst/>
                <a:latin typeface="AmazonEmber"/>
              </a:rPr>
              <a:t>It is almost impossible to replicate public cloud infrastructure privately. You get significantly more breadth and depth of services from a public cloud provider because it is fully dedicated to scaling and improving its offerings. You also get more innovation, access to a global community, and proven operational expertise.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Private Cloud</a:t>
            </a:r>
            <a:r>
              <a:rPr lang="en-US" dirty="0"/>
              <a:t> – </a:t>
            </a:r>
            <a:r>
              <a:rPr lang="en-US" b="0" i="0" dirty="0">
                <a:solidFill>
                  <a:srgbClr val="333333"/>
                </a:solidFill>
                <a:effectLst/>
                <a:latin typeface="AmazonEmber"/>
              </a:rPr>
              <a:t>Organizations kept hardware in their internal on-premises data centers and co-location facilities to support their IT operations. After AWS was launched, companies attempted to replicate the cloud computing model on their internal infrastructure. The term </a:t>
            </a:r>
            <a:r>
              <a:rPr lang="en-US" b="0" i="1" dirty="0">
                <a:solidFill>
                  <a:srgbClr val="333333"/>
                </a:solidFill>
                <a:effectLst/>
                <a:latin typeface="AmazonEmber"/>
              </a:rPr>
              <a:t>private cloud</a:t>
            </a:r>
            <a:r>
              <a:rPr lang="en-US" b="0" i="0" dirty="0">
                <a:solidFill>
                  <a:srgbClr val="333333"/>
                </a:solidFill>
                <a:effectLst/>
                <a:latin typeface="AmazonEmber"/>
              </a:rPr>
              <a:t> was introduced to distinguish between these internal cloud environments and third-party, public cloud services provided by organizations such as AWS.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Types of Private Cloud:</a:t>
            </a:r>
          </a:p>
          <a:p>
            <a:pPr algn="l"/>
            <a:r>
              <a:rPr lang="en-US" b="0" i="0" dirty="0">
                <a:solidFill>
                  <a:srgbClr val="333333"/>
                </a:solidFill>
                <a:effectLst/>
                <a:latin typeface="AmazonEmberBold"/>
              </a:rPr>
              <a:t>On-premises private cloud</a:t>
            </a:r>
            <a:r>
              <a:rPr lang="en-US" b="1" i="0" dirty="0">
                <a:solidFill>
                  <a:srgbClr val="333333"/>
                </a:solidFill>
                <a:effectLst/>
                <a:latin typeface="AmazonEmber"/>
              </a:rPr>
              <a:t> - </a:t>
            </a:r>
            <a:r>
              <a:rPr lang="en-US" b="0" i="0" dirty="0">
                <a:solidFill>
                  <a:srgbClr val="333333"/>
                </a:solidFill>
                <a:effectLst/>
                <a:latin typeface="AmazonEmber"/>
              </a:rPr>
              <a:t>You can deploy on your own resources in an internal data center. You must purchase the resources, maintain and upgrade them, and ensure security. On-premises private cloud management is expensive and requires heavy initial investment and ongoing expenses.</a:t>
            </a:r>
          </a:p>
          <a:p>
            <a:pPr algn="l"/>
            <a:r>
              <a:rPr lang="en-US" b="0" i="0" dirty="0">
                <a:solidFill>
                  <a:srgbClr val="333333"/>
                </a:solidFill>
                <a:effectLst/>
                <a:latin typeface="AmazonEmberBold"/>
              </a:rPr>
              <a:t>Managed private cloud - </a:t>
            </a:r>
            <a:r>
              <a:rPr lang="en-US" b="0" i="0" dirty="0">
                <a:solidFill>
                  <a:srgbClr val="333333"/>
                </a:solidFill>
                <a:effectLst/>
                <a:latin typeface="AmazonEmber"/>
              </a:rPr>
              <a:t>A single-tenant environment fully managed by a third party. For example, the IT infrastructure for your organization could be purchased and maintained by a third-party organization in its data center. The third party provides maintenance, upgrades, support, and remote management of your private cloud resources. While managed private clouds are expensive, they are more convenient than on-premises solutions.</a:t>
            </a:r>
          </a:p>
          <a:p>
            <a:pPr algn="l"/>
            <a:r>
              <a:rPr lang="en-US" b="0" i="0" dirty="0">
                <a:solidFill>
                  <a:srgbClr val="333333"/>
                </a:solidFill>
                <a:effectLst/>
                <a:latin typeface="AmazonEmberBold"/>
              </a:rPr>
              <a:t>Virtual private cloud</a:t>
            </a:r>
            <a:r>
              <a:rPr lang="en-US" b="1" i="0" dirty="0">
                <a:solidFill>
                  <a:srgbClr val="333333"/>
                </a:solidFill>
                <a:effectLst/>
                <a:latin typeface="AmazonEmber"/>
              </a:rPr>
              <a:t> - </a:t>
            </a:r>
            <a:r>
              <a:rPr lang="en-US" b="0" i="0" dirty="0">
                <a:solidFill>
                  <a:srgbClr val="333333"/>
                </a:solidFill>
                <a:effectLst/>
                <a:latin typeface="AmazonEmber"/>
              </a:rPr>
              <a:t>A private cloud that you can deploy within a public cloud infrastructure. It is a secure, isolated environment where private cloud users can run code, host websites, store data, and perform other tasks that require a traditional data center. Virtual private clouds efficiently give you the convenience and scalability of public cloud computing resources along with additional control and security.</a:t>
            </a:r>
          </a:p>
          <a:p>
            <a:pPr marL="0" lvl="0" indent="0" algn="l" rtl="0">
              <a:spcBef>
                <a:spcPts val="0"/>
              </a:spcBef>
              <a:spcAft>
                <a:spcPts val="0"/>
              </a:spcAft>
              <a:buNone/>
            </a:pPr>
            <a:endParaRPr lang="en-US" dirty="0"/>
          </a:p>
          <a:p>
            <a:pPr marL="158750" indent="0" algn="l">
              <a:buNone/>
            </a:pPr>
            <a:r>
              <a:rPr lang="en-US" b="1" i="0" dirty="0">
                <a:solidFill>
                  <a:srgbClr val="333333"/>
                </a:solidFill>
                <a:effectLst/>
                <a:latin typeface="AmazonEmberBold"/>
              </a:rPr>
              <a:t>Hybrid cloud</a:t>
            </a:r>
            <a:endParaRPr lang="en-US" b="1" i="0" dirty="0">
              <a:solidFill>
                <a:srgbClr val="333333"/>
              </a:solidFill>
              <a:effectLst/>
              <a:latin typeface="AmazonEmber"/>
            </a:endParaRPr>
          </a:p>
          <a:p>
            <a:pPr algn="l"/>
            <a:r>
              <a:rPr lang="en-US" b="0" i="0" dirty="0">
                <a:solidFill>
                  <a:srgbClr val="333333"/>
                </a:solidFill>
                <a:effectLst/>
                <a:latin typeface="AmazonEmber"/>
              </a:rPr>
              <a:t>A hybrid cloud is an IT infrastructure design that seamlessly integrates a company's public and private clouds. As a result, you can store your data and run your applications across multiple environments without noticing a difference. Your hybrid cloud environment consolidates your infrastructure, so that you can provision, scale, and centrally manage all your compute resources.</a:t>
            </a:r>
          </a:p>
          <a:p>
            <a:pPr algn="l"/>
            <a:r>
              <a:rPr lang="en-US" b="0" i="1" dirty="0">
                <a:solidFill>
                  <a:srgbClr val="333333"/>
                </a:solidFill>
                <a:effectLst/>
                <a:latin typeface="AmazonEmber"/>
              </a:rPr>
              <a:t>Private cloud compared to hybrid cloud</a:t>
            </a:r>
            <a:endParaRPr lang="en-US" b="1" i="0" dirty="0">
              <a:solidFill>
                <a:srgbClr val="333333"/>
              </a:solidFill>
              <a:effectLst/>
              <a:latin typeface="AmazonEmber"/>
            </a:endParaRPr>
          </a:p>
          <a:p>
            <a:pPr algn="l"/>
            <a:r>
              <a:rPr lang="en-US" b="0" i="0" dirty="0">
                <a:solidFill>
                  <a:srgbClr val="333333"/>
                </a:solidFill>
                <a:effectLst/>
                <a:latin typeface="AmazonEmber"/>
              </a:rPr>
              <a:t>Hybrid cloud services extend your private cloud computing model into the public cloud. For example, your private cloud applications can access public cloud resources when there is a spike in traffic that your data center cannot handle. You can also use hybrid cloud computing services to transition smoothly from private cloud environments to public clouds.</a:t>
            </a:r>
          </a:p>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11</a:t>
            </a:fld>
            <a:endParaRPr lang="en-IN"/>
          </a:p>
        </p:txBody>
      </p:sp>
    </p:spTree>
    <p:extLst>
      <p:ext uri="{BB962C8B-B14F-4D97-AF65-F5344CB8AC3E}">
        <p14:creationId xmlns:p14="http://schemas.microsoft.com/office/powerpoint/2010/main" val="3350305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SPIDERS: </a:t>
            </a:r>
            <a:r>
              <a:rPr lang="en-US" dirty="0" err="1"/>
              <a:t>SasS</a:t>
            </a:r>
            <a:r>
              <a:rPr lang="en-US" dirty="0"/>
              <a:t>, PaaS, IaaS, </a:t>
            </a:r>
            <a:r>
              <a:rPr lang="en-US" dirty="0" err="1"/>
              <a:t>bigData</a:t>
            </a:r>
            <a:r>
              <a:rPr lang="en-US" dirty="0"/>
              <a:t>, Elastic, Resilient, Subscription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On-premises:</a:t>
            </a:r>
            <a:r>
              <a:rPr lang="en-US" dirty="0"/>
              <a:t> If you decide to build your house from scratch, you do everything yourself. You’ll need to source the raw materials and tools, put everything together, and run to the store every time you need anything. This is similar to running an application on-premises, where you own everything from the hardware to your applications and scaling.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Infrastructure as a service: </a:t>
            </a:r>
            <a:r>
              <a:rPr lang="en-US" dirty="0"/>
              <a:t>If you are busy, you might consider hiring a contractor to do the work. You tell them how you want the house to look and how many rooms you want, and they take the instructions and build your home. IaaS works in a similar way for your applications. You rent the hardware to run your application on, but you are responsible for managing the OS, runtime, scale, and all the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Containers as a service: </a:t>
            </a:r>
            <a:r>
              <a:rPr lang="en-US" dirty="0"/>
              <a:t>If buying a home is just too much work due to the maintenance it comes with, you can choose to rent instead. The basic utilities are included, but you bring your own furniture and make the space yours. With containers, you can bring a containerized application, so you don't have to worry about the underlying operating system but still have control over scale and runtime.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Platform as a service: </a:t>
            </a:r>
            <a:r>
              <a:rPr lang="en-US" dirty="0"/>
              <a:t>If you don’t want to worry about furnishing your living space, you can rent a furnished house. PaaS lets you bring your own code and deploy it but leaves the server management and scaling up to the cloud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Function as a service: </a:t>
            </a:r>
            <a:r>
              <a:rPr lang="en-US" dirty="0"/>
              <a:t>If you just need a small dedicated place to work away from your home, you can rent a desk in a coworking workspace. Similarly, </a:t>
            </a:r>
            <a:r>
              <a:rPr lang="en-US" dirty="0" err="1"/>
              <a:t>FaaS</a:t>
            </a:r>
            <a:r>
              <a:rPr lang="en-US" dirty="0"/>
              <a:t> allows you to build and deploy a small piece of code, or a function, that performs a specific task. The cloud provider adds scale if needed when a function executes.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Software as a service: </a:t>
            </a:r>
            <a:r>
              <a:rPr lang="en-US" dirty="0"/>
              <a:t>Now, imagine you move into a finished house (rented or purchased), but you have to pay for upkeep, such as cleaning or lawn care. SaaS is the same—you pay to use a complete application for a specific purpose that is managed, maintained, and secured by the cloud provider, but you are responsible for taking care of your own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13</a:t>
            </a:fld>
            <a:endParaRPr lang="en-IN"/>
          </a:p>
        </p:txBody>
      </p:sp>
    </p:spTree>
    <p:extLst>
      <p:ext uri="{BB962C8B-B14F-4D97-AF65-F5344CB8AC3E}">
        <p14:creationId xmlns:p14="http://schemas.microsoft.com/office/powerpoint/2010/main" val="142705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Please explain the On-Prem elements briefly (this is IMP, learners always ask) then compare to Cloud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Runtime can be a little difficult to grasp for folks</a:t>
            </a:r>
          </a:p>
          <a:p>
            <a:pPr marL="914400" lvl="1" indent="-317500" algn="l" rtl="0">
              <a:lnSpc>
                <a:spcPct val="115000"/>
              </a:lnSpc>
              <a:spcBef>
                <a:spcPts val="0"/>
              </a:spcBef>
              <a:spcAft>
                <a:spcPts val="0"/>
              </a:spcAft>
              <a:buClr>
                <a:srgbClr val="595959"/>
              </a:buClr>
              <a:buSzPts val="1400"/>
              <a:buAutoNum type="alphaLcPeriod"/>
            </a:pPr>
            <a:r>
              <a:rPr lang="en-US" sz="1400" dirty="0">
                <a:solidFill>
                  <a:srgbClr val="595959"/>
                </a:solidFill>
              </a:rPr>
              <a:t>The runtime environment ensures that the software can utilize system resources effectively and provides an execution environment that is consistent across different platforms</a:t>
            </a:r>
          </a:p>
          <a:p>
            <a:pPr marL="914400" lvl="1" indent="-317500" algn="l" rtl="0">
              <a:lnSpc>
                <a:spcPct val="115000"/>
              </a:lnSpc>
              <a:spcBef>
                <a:spcPts val="0"/>
              </a:spcBef>
              <a:spcAft>
                <a:spcPts val="0"/>
              </a:spcAft>
              <a:buClr>
                <a:srgbClr val="595959"/>
              </a:buClr>
              <a:buSzPts val="1400"/>
              <a:buAutoNum type="alphaLcPeriod"/>
            </a:pPr>
            <a:r>
              <a:rPr lang="en-US" sz="1400" dirty="0">
                <a:solidFill>
                  <a:srgbClr val="595959"/>
                </a:solidFill>
              </a:rPr>
              <a:t>The runtime provides an abstraction layer between the application and the underlying hardware and operating system.</a:t>
            </a:r>
          </a:p>
          <a:p>
            <a:pPr marL="914400" lvl="1" indent="-317500" algn="l" rtl="0">
              <a:lnSpc>
                <a:spcPct val="115000"/>
              </a:lnSpc>
              <a:spcBef>
                <a:spcPts val="0"/>
              </a:spcBef>
              <a:spcAft>
                <a:spcPts val="0"/>
              </a:spcAft>
              <a:buClr>
                <a:srgbClr val="595959"/>
              </a:buClr>
              <a:buSzPts val="1400"/>
              <a:buAutoNum type="alphaLcPeriod"/>
            </a:pPr>
            <a:r>
              <a:rPr lang="en-US" sz="1400" dirty="0">
                <a:solidFill>
                  <a:srgbClr val="595959"/>
                </a:solidFill>
              </a:rPr>
              <a:t>It encompasses the libraries, frameworks, and other components required to run and manage the execution of the software. </a:t>
            </a:r>
            <a:endParaRPr lang="en-US" dirty="0"/>
          </a:p>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14</a:t>
            </a:fld>
            <a:endParaRPr lang="en-IN"/>
          </a:p>
        </p:txBody>
      </p:sp>
    </p:spTree>
    <p:extLst>
      <p:ext uri="{BB962C8B-B14F-4D97-AF65-F5344CB8AC3E}">
        <p14:creationId xmlns:p14="http://schemas.microsoft.com/office/powerpoint/2010/main" val="2833762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34 launched regions</a:t>
            </a:r>
          </a:p>
          <a:p>
            <a:pPr marL="171450" indent="-171450">
              <a:buFontTx/>
              <a:buChar char="-"/>
            </a:pPr>
            <a:r>
              <a:rPr lang="en-US" dirty="0"/>
              <a:t>108 availability zones</a:t>
            </a:r>
          </a:p>
          <a:p>
            <a:pPr marL="171450" indent="-171450">
              <a:buFontTx/>
              <a:buChar char="-"/>
            </a:pPr>
            <a:r>
              <a:rPr lang="en-US" dirty="0"/>
              <a:t>600+ Points of Presence (POPs) - CloudFront</a:t>
            </a:r>
          </a:p>
          <a:p>
            <a:pPr marL="171450" indent="-171450">
              <a:buFontTx/>
              <a:buChar char="-"/>
            </a:pPr>
            <a:r>
              <a:rPr lang="en-US" dirty="0"/>
              <a:t>13 regional edge caches (CloudFront)</a:t>
            </a:r>
          </a:p>
          <a:p>
            <a:pPr marL="171450" indent="-171450">
              <a:buFontTx/>
              <a:buChar char="-"/>
            </a:pPr>
            <a:r>
              <a:rPr lang="en-US" dirty="0"/>
              <a:t>200+ services</a:t>
            </a:r>
          </a:p>
          <a:p>
            <a:endParaRPr lang="en-US" dirty="0"/>
          </a:p>
          <a:p>
            <a:r>
              <a:rPr lang="en-US" b="1" dirty="0"/>
              <a:t>Region</a:t>
            </a:r>
            <a:r>
              <a:rPr lang="en-US" dirty="0"/>
              <a:t>: Independent geographic area</a:t>
            </a:r>
          </a:p>
          <a:p>
            <a:r>
              <a:rPr lang="en-US" b="1" dirty="0"/>
              <a:t>Availability Zone</a:t>
            </a:r>
            <a:r>
              <a:rPr lang="en-US" dirty="0"/>
              <a:t>: multiple isolated locations or data centers within a region</a:t>
            </a:r>
          </a:p>
          <a:p>
            <a:r>
              <a:rPr lang="en-US" b="1" dirty="0"/>
              <a:t>Edge Locations</a:t>
            </a:r>
            <a:r>
              <a:rPr lang="en-US" dirty="0"/>
              <a:t>: Locations with caching devices near populated areas. May be a rack or more in a shared location, not necessarily a large data center.</a:t>
            </a:r>
          </a:p>
          <a:p>
            <a:r>
              <a:rPr lang="en-US" b="1" dirty="0"/>
              <a:t>Point of Presence (POP)</a:t>
            </a:r>
            <a:r>
              <a:rPr lang="en-US" dirty="0"/>
              <a:t>: Physical location where two or more networks or communication devices build a connection from one place to the rest of the internet. It's essentially a junction point where different networks intersect</a:t>
            </a:r>
          </a:p>
          <a:p>
            <a:endParaRPr lang="en-US" dirty="0"/>
          </a:p>
          <a:p>
            <a:r>
              <a:rPr lang="en-US" dirty="0"/>
              <a:t>Reference: </a:t>
            </a:r>
          </a:p>
          <a:p>
            <a:r>
              <a:rPr lang="en-US" dirty="0"/>
              <a:t>- https://</a:t>
            </a:r>
            <a:r>
              <a:rPr lang="en-US" dirty="0" err="1"/>
              <a:t>aws.amazon.com</a:t>
            </a:r>
            <a:r>
              <a:rPr lang="en-US" dirty="0"/>
              <a:t>/about-</a:t>
            </a:r>
            <a:r>
              <a:rPr lang="en-US" dirty="0" err="1"/>
              <a:t>aws</a:t>
            </a:r>
            <a:r>
              <a:rPr lang="en-US" dirty="0"/>
              <a:t>/global-infrastructure/</a:t>
            </a:r>
          </a:p>
          <a:p>
            <a:endParaRPr lang="en-US" dirty="0"/>
          </a:p>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16</a:t>
            </a:fld>
            <a:endParaRPr lang="en-IN"/>
          </a:p>
        </p:txBody>
      </p:sp>
    </p:spTree>
    <p:extLst>
      <p:ext uri="{BB962C8B-B14F-4D97-AF65-F5344CB8AC3E}">
        <p14:creationId xmlns:p14="http://schemas.microsoft.com/office/powerpoint/2010/main" val="2973042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552BB5-5DBE-4ABE-AD80-5ED01C1C7C64}" type="slidenum">
              <a:rPr lang="en-IN" smtClean="0"/>
              <a:t>18</a:t>
            </a:fld>
            <a:endParaRPr lang="en-IN"/>
          </a:p>
        </p:txBody>
      </p:sp>
    </p:spTree>
    <p:extLst>
      <p:ext uri="{BB962C8B-B14F-4D97-AF65-F5344CB8AC3E}">
        <p14:creationId xmlns:p14="http://schemas.microsoft.com/office/powerpoint/2010/main" val="3727399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53167fd36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53167fd36b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4e040b739ec6329_6: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4e040b739ec6329_6:notes"/>
          <p:cNvSpPr txBox="1">
            <a:spLocks noGrp="1"/>
          </p:cNvSpPr>
          <p:nvPr>
            <p:ph type="body" idx="1"/>
          </p:nvPr>
        </p:nvSpPr>
        <p:spPr>
          <a:xfrm>
            <a:off x="711200" y="4926013"/>
            <a:ext cx="5683200" cy="4029000"/>
          </a:xfrm>
          <a:prstGeom prst="rect">
            <a:avLst/>
          </a:prstGeom>
        </p:spPr>
        <p:txBody>
          <a:bodyPr spcFirstLastPara="1" wrap="square" lIns="91425" tIns="45700" rIns="91425" bIns="45700" numCol="1" anchor="t" anchorCtr="0">
            <a:noAutofit/>
          </a:bodyPr>
          <a:lstStyle/>
          <a:p>
            <a:pPr marL="0" lvl="0" indent="0" algn="l" rtl="0">
              <a:spcBef>
                <a:spcPts val="0"/>
              </a:spcBef>
              <a:spcAft>
                <a:spcPts val="0"/>
              </a:spcAft>
              <a:buNone/>
            </a:pPr>
            <a:r>
              <a:rPr lang="en-US" dirty="0"/>
              <a:t>References:</a:t>
            </a:r>
            <a:endParaRPr dirty="0"/>
          </a:p>
          <a:p>
            <a:pPr marL="457200" lvl="0" indent="-317500" algn="l" rtl="0">
              <a:spcBef>
                <a:spcPts val="0"/>
              </a:spcBef>
              <a:spcAft>
                <a:spcPts val="0"/>
              </a:spcAft>
              <a:buSzPts val="1400"/>
              <a:buChar char="●"/>
            </a:pPr>
            <a:r>
              <a:rPr lang="en-US" u="sng" dirty="0">
                <a:solidFill>
                  <a:schemeClr val="hlink"/>
                </a:solidFill>
                <a:hlinkClick r:id="rId3"/>
              </a:rPr>
              <a:t>https://aws.amazon.com/compliance/shared-responsibility-model/</a:t>
            </a:r>
            <a:endParaRPr dirty="0"/>
          </a:p>
          <a:p>
            <a:pPr marL="0" lvl="0" indent="0" algn="l" rtl="0">
              <a:spcBef>
                <a:spcPts val="0"/>
              </a:spcBef>
              <a:spcAft>
                <a:spcPts val="0"/>
              </a:spcAft>
              <a:buNone/>
            </a:pPr>
            <a:endParaRPr dirty="0"/>
          </a:p>
        </p:txBody>
      </p:sp>
      <p:sp>
        <p:nvSpPr>
          <p:cNvPr id="130" name="Google Shape;130;g4e040b739ec6329_6: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numCol="1"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dirty="0">
                <a:sym typeface="+mn-ea"/>
              </a:rPr>
              <a:t>Harvard Business Review - “Research: Cloud Computing Is Helping Smaller, Newer Firms Compete” </a:t>
            </a:r>
            <a:r>
              <a:rPr lang="en-US" dirty="0">
                <a:sym typeface="+mn-ea"/>
              </a:rPr>
              <a:t>https://</a:t>
            </a:r>
            <a:r>
              <a:rPr lang="en-US" dirty="0" err="1">
                <a:sym typeface="+mn-ea"/>
              </a:rPr>
              <a:t>hbr.org</a:t>
            </a:r>
            <a:r>
              <a:rPr lang="en-US" dirty="0">
                <a:sym typeface="+mn-ea"/>
              </a:rPr>
              <a:t>/2018/08/research-cloud-computing-is-helping-smaller-newer-firms-compete</a:t>
            </a:r>
          </a:p>
          <a:p>
            <a:endParaRPr lang="en-US" altLang="en-US" dirty="0">
              <a:sym typeface="+mn-ea"/>
            </a:endParaRPr>
          </a:p>
          <a:p>
            <a:r>
              <a:rPr lang="en-US" altLang="en-US" dirty="0">
                <a:sym typeface="+mn-ea"/>
              </a:rPr>
              <a:t>You know cloud is not just a big boys game! The corporations with deep pockets! Not at all! What you and I have as individuals is the SAME as that of GE, Unilever, you name it!</a:t>
            </a:r>
          </a:p>
          <a:p>
            <a:endParaRPr lang="en-US" altLang="en-US" dirty="0">
              <a:sym typeface="+mn-ea"/>
            </a:endParaRPr>
          </a:p>
          <a:p>
            <a:r>
              <a:rPr lang="en-US" altLang="en-US" dirty="0">
                <a:sym typeface="+mn-ea"/>
              </a:rPr>
              <a:t>Remember on thing though - is cloud the differentiator? NO, it provides the tools which can be used to create that “differentiator” quickly, and to fail fast so that you can pivot quickly !</a:t>
            </a:r>
          </a:p>
          <a:p>
            <a:endParaRPr lang="en-US" altLang="en-US" dirty="0">
              <a:sym typeface="+mn-ea"/>
            </a:endParaRPr>
          </a:p>
          <a:p>
            <a:r>
              <a:rPr lang="en-US" b="1" dirty="0"/>
              <a:t>Notes:</a:t>
            </a:r>
            <a:endParaRPr lang="en-US" dirty="0"/>
          </a:p>
          <a:p>
            <a:pPr>
              <a:buFont typeface="Arial" panose="020B0604020202020204" pitchFamily="34" charset="0"/>
              <a:buChar char="•"/>
            </a:pPr>
            <a:r>
              <a:rPr lang="en-US" dirty="0"/>
              <a:t>Benefits across industries or organization types (startup or traditional)</a:t>
            </a:r>
          </a:p>
          <a:p>
            <a:r>
              <a:rPr lang="en-US" b="1" dirty="0"/>
              <a:t>Key Takeaways:</a:t>
            </a:r>
            <a:endParaRPr lang="en-US" dirty="0"/>
          </a:p>
          <a:p>
            <a:pPr>
              <a:buFont typeface="Arial" panose="020B0604020202020204" pitchFamily="34" charset="0"/>
              <a:buChar char="•"/>
            </a:pPr>
            <a:r>
              <a:rPr lang="en-US" dirty="0"/>
              <a:t>Low cost of entry due to usage based pricing</a:t>
            </a:r>
          </a:p>
          <a:p>
            <a:pPr>
              <a:buFont typeface="Arial" panose="020B0604020202020204" pitchFamily="34" charset="0"/>
              <a:buChar char="•"/>
            </a:pPr>
            <a:r>
              <a:rPr lang="en-US" dirty="0"/>
              <a:t>startups mostly leveraging to become profitable, but also legacy/traditional to reduce operating costs and become more nimble</a:t>
            </a:r>
          </a:p>
          <a:p>
            <a:pPr>
              <a:buFont typeface="Arial" panose="020B0604020202020204" pitchFamily="34" charset="0"/>
              <a:buChar char="•"/>
            </a:pPr>
            <a:r>
              <a:rPr lang="en-US" dirty="0"/>
              <a:t>Agility, being immediately able to create applications and become productive (day 1)</a:t>
            </a:r>
          </a:p>
          <a:p>
            <a:pPr>
              <a:buFont typeface="Arial" panose="020B0604020202020204" pitchFamily="34" charset="0"/>
              <a:buChar char="•"/>
            </a:pPr>
            <a:r>
              <a:rPr lang="en-US" dirty="0"/>
              <a:t>here again, startups can quickly launch services and compete, but also legacy/traditional enterprises must become more nimble to compete with startups!</a:t>
            </a:r>
          </a:p>
          <a:p>
            <a:pPr>
              <a:buFont typeface="Arial" panose="020B0604020202020204" pitchFamily="34" charset="0"/>
              <a:buChar char="•"/>
            </a:pPr>
            <a:r>
              <a:rPr lang="en-US" dirty="0"/>
              <a:t>being able to build an app in a few hours to days (depending) or launch a product in even 20 days (depending)</a:t>
            </a:r>
          </a:p>
          <a:p>
            <a:r>
              <a:rPr lang="en-US" b="1" dirty="0"/>
              <a:t>References:</a:t>
            </a:r>
            <a:endParaRPr lang="en-US" dirty="0"/>
          </a:p>
          <a:p>
            <a:pPr>
              <a:buFont typeface="Arial" panose="020B0604020202020204" pitchFamily="34" charset="0"/>
              <a:buChar char="•"/>
            </a:pPr>
            <a:r>
              <a:rPr lang="en-US" dirty="0" err="1"/>
              <a:t>Monzo</a:t>
            </a:r>
            <a:r>
              <a:rPr lang="en-US" dirty="0"/>
              <a:t> (UK bank), </a:t>
            </a:r>
            <a:r>
              <a:rPr lang="en-US" dirty="0" err="1"/>
              <a:t>finacial</a:t>
            </a:r>
            <a:r>
              <a:rPr lang="en-US" dirty="0"/>
              <a:t> services</a:t>
            </a:r>
          </a:p>
          <a:p>
            <a:pPr>
              <a:buFont typeface="Arial" panose="020B0604020202020204" pitchFamily="34" charset="0"/>
              <a:buChar char="•"/>
            </a:pPr>
            <a:r>
              <a:rPr lang="en-US" dirty="0"/>
              <a:t>8 engineers manage infrastructure for 4+ million customers</a:t>
            </a:r>
          </a:p>
          <a:p>
            <a:pPr>
              <a:buFont typeface="Arial" panose="020B0604020202020204" pitchFamily="34" charset="0"/>
              <a:buChar char="•"/>
            </a:pPr>
            <a:r>
              <a:rPr lang="en-US" dirty="0"/>
              <a:t>real-time statements instead of typical 48 hours or more</a:t>
            </a:r>
          </a:p>
          <a:p>
            <a:pPr>
              <a:buFont typeface="Arial" panose="020B0604020202020204" pitchFamily="34" charset="0"/>
              <a:buChar char="•"/>
            </a:pPr>
            <a:r>
              <a:rPr lang="en-US" dirty="0"/>
              <a:t>also migrated to multi-account setup in less than a day</a:t>
            </a:r>
          </a:p>
          <a:p>
            <a:pPr>
              <a:buFont typeface="Arial" panose="020B0604020202020204" pitchFamily="34" charset="0"/>
              <a:buChar char="•"/>
            </a:pPr>
            <a:r>
              <a:rPr lang="en-US" dirty="0"/>
              <a:t>Robinhood (US financial services)</a:t>
            </a:r>
          </a:p>
          <a:p>
            <a:pPr>
              <a:buFont typeface="Arial" panose="020B0604020202020204" pitchFamily="34" charset="0"/>
              <a:buChar char="•"/>
            </a:pPr>
            <a:r>
              <a:rPr lang="en-US" dirty="0"/>
              <a:t>2 DevOps engineers</a:t>
            </a:r>
          </a:p>
          <a:p>
            <a:pPr marL="0" lvl="0" indent="0" algn="l" rtl="0">
              <a:spcBef>
                <a:spcPts val="0"/>
              </a:spcBef>
              <a:spcAft>
                <a:spcPts val="0"/>
              </a:spcAft>
              <a:buNone/>
            </a:pPr>
            <a:endParaRPr lang="en-US" dirty="0"/>
          </a:p>
          <a:p>
            <a:endParaRPr lang="en-US" altLang="en-US"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lvl="0"/>
            <a:r>
              <a:rPr lang="en-US" altLang="en-US" dirty="0">
                <a:sym typeface="+mn-ea"/>
              </a:rPr>
              <a:t>Gartner - “The everywhere enterprise” https://</a:t>
            </a:r>
            <a:r>
              <a:rPr lang="en-US" altLang="en-US" dirty="0" err="1">
                <a:sym typeface="+mn-ea"/>
              </a:rPr>
              <a:t>www.gartner.com</a:t>
            </a:r>
            <a:r>
              <a:rPr lang="en-US" altLang="en-US" dirty="0">
                <a:sym typeface="+mn-ea"/>
              </a:rPr>
              <a:t>/</a:t>
            </a:r>
            <a:r>
              <a:rPr lang="en-US" altLang="en-US" dirty="0" err="1">
                <a:sym typeface="+mn-ea"/>
              </a:rPr>
              <a:t>en</a:t>
            </a:r>
            <a:r>
              <a:rPr lang="en-US" altLang="en-US" dirty="0">
                <a:sym typeface="+mn-ea"/>
              </a:rPr>
              <a:t>/conferences/hub/cloud-conferences/insights/</a:t>
            </a:r>
            <a:r>
              <a:rPr lang="en-US" altLang="en-US" dirty="0" err="1">
                <a:sym typeface="+mn-ea"/>
              </a:rPr>
              <a:t>swg</a:t>
            </a:r>
            <a:r>
              <a:rPr lang="en-US" altLang="en-US" dirty="0">
                <a:sym typeface="+mn-ea"/>
              </a:rPr>
              <a:t>-the-everywhere-enterprise-a-</a:t>
            </a:r>
            <a:r>
              <a:rPr lang="en-US" altLang="en-US" dirty="0" err="1">
                <a:sym typeface="+mn-ea"/>
              </a:rPr>
              <a:t>gartner</a:t>
            </a:r>
            <a:r>
              <a:rPr lang="en-US" altLang="en-US" dirty="0">
                <a:sym typeface="+mn-ea"/>
              </a:rPr>
              <a:t>-</a:t>
            </a:r>
            <a:r>
              <a:rPr lang="en-US" altLang="en-US" dirty="0" err="1">
                <a:sym typeface="+mn-ea"/>
              </a:rPr>
              <a:t>qa</a:t>
            </a:r>
            <a:r>
              <a:rPr lang="en-US" altLang="en-US" dirty="0">
                <a:sym typeface="+mn-ea"/>
              </a:rPr>
              <a:t>-with-</a:t>
            </a:r>
            <a:r>
              <a:rPr lang="en-US" altLang="en-US" dirty="0" err="1">
                <a:sym typeface="+mn-ea"/>
              </a:rPr>
              <a:t>david</a:t>
            </a:r>
            <a:r>
              <a:rPr lang="en-US" altLang="en-US" dirty="0">
                <a:sym typeface="+mn-ea"/>
              </a:rPr>
              <a:t>-</a:t>
            </a:r>
            <a:r>
              <a:rPr lang="en-US" altLang="en-US" dirty="0" err="1">
                <a:sym typeface="+mn-ea"/>
              </a:rPr>
              <a:t>cappuccio</a:t>
            </a:r>
            <a:endParaRPr lang="en-US" altLang="en-US" dirty="0"/>
          </a:p>
          <a:p>
            <a:endParaRPr lang="en-US" altLang="en-US" dirty="0"/>
          </a:p>
          <a:p>
            <a:r>
              <a:rPr lang="en-US" altLang="en-US" dirty="0"/>
              <a:t>Q: Have you noticed a common theme in all these case studies - “Doing something FAST, be agile &amp; not fragile :)”</a:t>
            </a:r>
          </a:p>
          <a:p>
            <a:endParaRPr lang="en-US" altLang="en-US" dirty="0"/>
          </a:p>
          <a:p>
            <a:r>
              <a:rPr lang="en-US" altLang="en-US" dirty="0"/>
              <a:t>Another important point - Historically enterprises that were restricted by the complexity of data center ops worldwide have broken free! Indeed it is now a level playing field.</a:t>
            </a:r>
          </a:p>
          <a:p>
            <a:endParaRPr lang="en-US" altLang="en-US" dirty="0"/>
          </a:p>
          <a:p>
            <a:r>
              <a:rPr lang="en-US" b="1" dirty="0"/>
              <a:t>Notes:</a:t>
            </a:r>
            <a:endParaRPr lang="en-US" dirty="0"/>
          </a:p>
          <a:p>
            <a:pPr>
              <a:buFont typeface="Arial" panose="020B0604020202020204" pitchFamily="34" charset="0"/>
              <a:buChar char="•"/>
            </a:pPr>
            <a:r>
              <a:rPr lang="en-US" dirty="0"/>
              <a:t>cloud and DC difference is about delivery, the how (including financing going from </a:t>
            </a:r>
            <a:r>
              <a:rPr lang="en-US" dirty="0" err="1"/>
              <a:t>CapEx</a:t>
            </a:r>
            <a:r>
              <a:rPr lang="en-US" dirty="0"/>
              <a:t> to </a:t>
            </a:r>
            <a:r>
              <a:rPr lang="en-US" dirty="0" err="1"/>
              <a:t>OpEx</a:t>
            </a:r>
            <a:r>
              <a:rPr lang="en-US" dirty="0"/>
              <a:t>)</a:t>
            </a:r>
          </a:p>
          <a:p>
            <a:pPr>
              <a:buFont typeface="Arial" panose="020B0604020202020204" pitchFamily="34" charset="0"/>
              <a:buChar char="•"/>
            </a:pPr>
            <a:r>
              <a:rPr lang="en-US" dirty="0"/>
              <a:t>enterprises are moving to a hybrid approach, where it makes sense</a:t>
            </a:r>
          </a:p>
          <a:p>
            <a:pPr>
              <a:buFont typeface="Arial" panose="020B0604020202020204" pitchFamily="34" charset="0"/>
              <a:buChar char="•"/>
            </a:pPr>
            <a:r>
              <a:rPr lang="en-US" dirty="0"/>
              <a:t>having deployment options (cloud or DC, edge/pop, regions) is "everywhere enterprise"</a:t>
            </a:r>
          </a:p>
          <a:p>
            <a:r>
              <a:rPr lang="en-US" dirty="0"/>
              <a:t>** Key takeaways:**</a:t>
            </a:r>
          </a:p>
          <a:p>
            <a:pPr>
              <a:buFont typeface="Arial" panose="020B0604020202020204" pitchFamily="34" charset="0"/>
              <a:buChar char="•"/>
            </a:pPr>
            <a:r>
              <a:rPr lang="en-US" dirty="0"/>
              <a:t>multiple options for enterprises such as regional expansions, and growth, DC or cloud</a:t>
            </a:r>
          </a:p>
          <a:p>
            <a:pPr>
              <a:buFont typeface="Arial" panose="020B0604020202020204" pitchFamily="34" charset="0"/>
              <a:buChar char="•"/>
            </a:pPr>
            <a:r>
              <a:rPr lang="en-US" dirty="0"/>
              <a:t>cloud enabled scale and focus on value add activities</a:t>
            </a:r>
          </a:p>
          <a:p>
            <a:pPr>
              <a:buFont typeface="Arial" panose="020B0604020202020204" pitchFamily="34" charset="0"/>
              <a:buChar char="•"/>
            </a:pPr>
            <a:r>
              <a:rPr lang="en-US" dirty="0"/>
              <a:t>cloud also has its own challenges and cautions!</a:t>
            </a:r>
          </a:p>
          <a:p>
            <a:pPr>
              <a:buFont typeface="Arial" panose="020B0604020202020204" pitchFamily="34" charset="0"/>
              <a:buChar char="•"/>
            </a:pPr>
            <a:r>
              <a:rPr lang="en-US" dirty="0"/>
              <a:t>the usual: security, latency, networking, configurations</a:t>
            </a:r>
          </a:p>
          <a:p>
            <a:pPr>
              <a:buFont typeface="Arial" panose="020B0604020202020204" pitchFamily="34" charset="0"/>
              <a:buChar char="•"/>
            </a:pPr>
            <a:r>
              <a:rPr lang="en-US" dirty="0"/>
              <a:t>people, processes and procedures are the most common challenges. Need to think different and make some changes!</a:t>
            </a:r>
          </a:p>
          <a:p>
            <a:r>
              <a:rPr lang="en-US" b="1" dirty="0"/>
              <a:t>References:</a:t>
            </a:r>
            <a:endParaRPr lang="en-US" dirty="0"/>
          </a:p>
          <a:p>
            <a:pPr>
              <a:buFont typeface="Arial" panose="020B0604020202020204" pitchFamily="34" charset="0"/>
              <a:buChar char="•"/>
            </a:pPr>
            <a:r>
              <a:rPr lang="en-US" dirty="0"/>
              <a:t>HBO Max global rollout across 30 markets using event-driven architecture</a:t>
            </a:r>
          </a:p>
          <a:p>
            <a:pPr>
              <a:buFont typeface="Arial" panose="020B0604020202020204" pitchFamily="34" charset="0"/>
              <a:buChar char="•"/>
            </a:pPr>
            <a:r>
              <a:rPr lang="en-US" dirty="0"/>
              <a:t>services 70+ million global customers</a:t>
            </a:r>
          </a:p>
          <a:p>
            <a:pPr>
              <a:buFont typeface="Arial" panose="020B0604020202020204" pitchFamily="34" charset="0"/>
              <a:buChar char="•"/>
            </a:pPr>
            <a:r>
              <a:rPr lang="en-US" dirty="0"/>
              <a:t>Comcast uses hybrid environment to deploy Xfinity X1 features several times a week instead of once every 12-18 months (from previous architecture)</a:t>
            </a:r>
          </a:p>
          <a:p>
            <a:pPr marL="0" lvl="0" indent="0" algn="l" rtl="0">
              <a:spcBef>
                <a:spcPts val="0"/>
              </a:spcBef>
              <a:spcAft>
                <a:spcPts val="0"/>
              </a:spcAft>
              <a:buNone/>
            </a:pPr>
            <a:endParaRPr lang="en-US" dirty="0"/>
          </a:p>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lvl="0"/>
            <a:r>
              <a:rPr lang="en-US" altLang="en-US" dirty="0">
                <a:sym typeface="+mn-ea"/>
              </a:rPr>
              <a:t>Harvard Business Review - “How Cloud Computing Is Changing Management” https://</a:t>
            </a:r>
            <a:r>
              <a:rPr lang="en-US" altLang="en-US" dirty="0" err="1">
                <a:sym typeface="+mn-ea"/>
              </a:rPr>
              <a:t>hbr.org</a:t>
            </a:r>
            <a:r>
              <a:rPr lang="en-US" altLang="en-US" dirty="0">
                <a:sym typeface="+mn-ea"/>
              </a:rPr>
              <a:t>/2018/02/how-cloud-computing-is-changing-management</a:t>
            </a:r>
          </a:p>
          <a:p>
            <a:pPr lvl="0"/>
            <a:endParaRPr lang="en-US" altLang="en-US" dirty="0">
              <a:sym typeface="+mn-ea"/>
            </a:endParaRPr>
          </a:p>
          <a:p>
            <a:pPr lvl="0"/>
            <a:r>
              <a:rPr lang="en-US" altLang="en-US" dirty="0">
                <a:sym typeface="+mn-ea"/>
              </a:rPr>
              <a:t>The likely outcomes of the move to cloud include changing how products are designed; where we can experience closer collaboration between IT and other business units, including sales, finance and forecasting; and more customer interaction, even to a point of jointly developing products with their consumers. In particular, new ways of writing and deploying software will encourage new types of faster-acting organizational designs.</a:t>
            </a:r>
          </a:p>
          <a:p>
            <a:pPr lvl="0"/>
            <a:endParaRPr lang="en-US" altLang="en-US" dirty="0">
              <a:sym typeface="+mn-ea"/>
            </a:endParaRPr>
          </a:p>
          <a:p>
            <a:pPr lvl="0"/>
            <a:r>
              <a:rPr lang="en-US" altLang="en-US" dirty="0">
                <a:sym typeface="+mn-ea"/>
              </a:rPr>
              <a:t>And this is a big one - historically IT has been looked at as a cost center (INTERNAL: describe what a cost center is), now there is a distinct shift where IT is generating business again by providing the tools that is allowing the business to grow and innovate at an </a:t>
            </a:r>
            <a:r>
              <a:rPr lang="en-US" altLang="en-US" dirty="0" err="1">
                <a:sym typeface="+mn-ea"/>
              </a:rPr>
              <a:t>unprecidented</a:t>
            </a:r>
            <a:r>
              <a:rPr lang="en-US" altLang="en-US" dirty="0">
                <a:sym typeface="+mn-ea"/>
              </a:rPr>
              <a:t> velocity! Revenue transfer to cloud teams/business unit is a reality.</a:t>
            </a:r>
          </a:p>
          <a:p>
            <a:pPr lvl="0"/>
            <a:endParaRPr lang="en-US" altLang="en-US" dirty="0">
              <a:sym typeface="+mn-ea"/>
            </a:endParaRPr>
          </a:p>
          <a:p>
            <a:pPr lvl="0"/>
            <a:r>
              <a:rPr lang="en-US" altLang="en-US" dirty="0">
                <a:sym typeface="+mn-ea"/>
              </a:rPr>
              <a:t>The shift to “cloud native” organizations - “Cloud native” software approaches stresses ease of use and low-impact alteration of components of any given software application. Massive applications are subdivided into a series of “microservices” that can be tweaked with little effect on a running piece of software.</a:t>
            </a:r>
          </a:p>
          <a:p>
            <a:pPr lvl="0"/>
            <a:endParaRPr lang="en-US" altLang="en-US" dirty="0">
              <a:sym typeface="+mn-ea"/>
            </a:endParaRPr>
          </a:p>
          <a:p>
            <a:pPr lvl="0"/>
            <a:r>
              <a:rPr lang="en-US" altLang="en-US" dirty="0">
                <a:sym typeface="+mn-ea"/>
              </a:rPr>
              <a:t>I have to say this - “IT seems to be not just supporting the business but is helping defining it as well”! Well this is good for us!</a:t>
            </a:r>
          </a:p>
          <a:p>
            <a:endParaRPr lang="en-US" altLang="en-US" dirty="0"/>
          </a:p>
          <a:p>
            <a:r>
              <a:rPr lang="en-US" b="1" dirty="0"/>
              <a:t>Notes:</a:t>
            </a:r>
            <a:endParaRPr lang="en-US" dirty="0"/>
          </a:p>
          <a:p>
            <a:pPr>
              <a:buFont typeface="Arial" panose="020B0604020202020204" pitchFamily="34" charset="0"/>
              <a:buChar char="•"/>
            </a:pPr>
            <a:r>
              <a:rPr lang="en-US" dirty="0"/>
              <a:t>Shift to "product" centric thinking which combines business units (and customers!) to jointly develop customer services, and plan for the entire product lifecycle and ongoing financing</a:t>
            </a:r>
          </a:p>
          <a:p>
            <a:pPr>
              <a:buFont typeface="Arial" panose="020B0604020202020204" pitchFamily="34" charset="0"/>
              <a:buChar char="•"/>
            </a:pPr>
            <a:r>
              <a:rPr lang="en-US" dirty="0"/>
              <a:t>a "project" based thinking approach uses defined </a:t>
            </a:r>
            <a:r>
              <a:rPr lang="en-US" dirty="0" err="1"/>
              <a:t>timeperiod</a:t>
            </a:r>
            <a:r>
              <a:rPr lang="en-US" dirty="0"/>
              <a:t> for launches, and features, defined or separate teams (""throw-over the wall" to operations), and struggles with IT financing</a:t>
            </a:r>
          </a:p>
          <a:p>
            <a:pPr>
              <a:buFont typeface="Arial" panose="020B0604020202020204" pitchFamily="34" charset="0"/>
              <a:buChar char="•"/>
            </a:pPr>
            <a:r>
              <a:rPr lang="en-US" dirty="0"/>
              <a:t>Agile, or incremental approach to services and updates (low-impact and shortened feedback loop approach to testing)</a:t>
            </a:r>
          </a:p>
          <a:p>
            <a:pPr>
              <a:buFont typeface="Arial" panose="020B0604020202020204" pitchFamily="34" charset="0"/>
              <a:buChar char="•"/>
            </a:pPr>
            <a:r>
              <a:rPr lang="en-US" dirty="0"/>
              <a:t>Cloud first and cloud native thinking</a:t>
            </a:r>
          </a:p>
          <a:p>
            <a:pPr>
              <a:buFont typeface="Arial" panose="020B0604020202020204" pitchFamily="34" charset="0"/>
              <a:buChar char="•"/>
            </a:pPr>
            <a:r>
              <a:rPr lang="en-US" dirty="0"/>
              <a:t>Microservices (one example) for reduced blast radius, and incremental changes</a:t>
            </a:r>
          </a:p>
          <a:p>
            <a:pPr>
              <a:buFont typeface="Arial" panose="020B0604020202020204" pitchFamily="34" charset="0"/>
              <a:buChar char="•"/>
            </a:pPr>
            <a:r>
              <a:rPr lang="en-US" dirty="0"/>
              <a:t>Shorter feedback loop</a:t>
            </a:r>
          </a:p>
          <a:p>
            <a:r>
              <a:rPr lang="en-US" b="1" dirty="0"/>
              <a:t>Key Takeaways:</a:t>
            </a:r>
            <a:endParaRPr lang="en-US" dirty="0"/>
          </a:p>
          <a:p>
            <a:pPr>
              <a:buFont typeface="Arial" panose="020B0604020202020204" pitchFamily="34" charset="0"/>
              <a:buChar char="•"/>
            </a:pPr>
            <a:r>
              <a:rPr lang="en-US" dirty="0"/>
              <a:t>Focus on product and service, not just single aspect or business unit</a:t>
            </a:r>
          </a:p>
          <a:p>
            <a:pPr>
              <a:buFont typeface="Arial" panose="020B0604020202020204" pitchFamily="34" charset="0"/>
              <a:buChar char="•"/>
            </a:pPr>
            <a:r>
              <a:rPr lang="en-US" dirty="0"/>
              <a:t>IT as value enabler, not cost center</a:t>
            </a:r>
          </a:p>
          <a:p>
            <a:pPr>
              <a:buFont typeface="Arial" panose="020B0604020202020204" pitchFamily="34" charset="0"/>
              <a:buChar char="•"/>
            </a:pPr>
            <a:r>
              <a:rPr lang="en-US" dirty="0"/>
              <a:t>Data driven approach to features and changes</a:t>
            </a:r>
          </a:p>
          <a:p>
            <a:pPr>
              <a:buFont typeface="Arial" panose="020B0604020202020204" pitchFamily="34" charset="0"/>
              <a:buChar char="•"/>
            </a:pPr>
            <a:r>
              <a:rPr lang="en-US" dirty="0"/>
              <a:t>Smaller, more rapid incremental changes</a:t>
            </a:r>
          </a:p>
          <a:p>
            <a:pPr>
              <a:buFont typeface="Arial" panose="020B0604020202020204" pitchFamily="34" charset="0"/>
              <a:buChar char="•"/>
            </a:pPr>
            <a:r>
              <a:rPr lang="en-US" dirty="0"/>
              <a:t>Shifting to ""cloud native", which is using cloud services first (reduce and eliminate non-differentiated </a:t>
            </a:r>
            <a:r>
              <a:rPr lang="en-US" dirty="0" err="1"/>
              <a:t>activites</a:t>
            </a:r>
            <a:r>
              <a:rPr lang="en-US" dirty="0"/>
              <a:t> allowing focus on core business).</a:t>
            </a:r>
          </a:p>
          <a:p>
            <a:r>
              <a:rPr lang="en-US" b="1" dirty="0"/>
              <a:t>References:</a:t>
            </a:r>
            <a:endParaRPr lang="en-US" dirty="0"/>
          </a:p>
          <a:p>
            <a:pPr>
              <a:buFont typeface="Arial" panose="020B0604020202020204" pitchFamily="34" charset="0"/>
              <a:buChar char="•"/>
            </a:pPr>
            <a:r>
              <a:rPr lang="en-US" dirty="0"/>
              <a:t>3M Health and Information Systems (healthcare) went all in on AWS.</a:t>
            </a:r>
          </a:p>
          <a:p>
            <a:pPr>
              <a:buFont typeface="Arial" panose="020B0604020202020204" pitchFamily="34" charset="0"/>
              <a:buChar char="•"/>
            </a:pPr>
            <a:r>
              <a:rPr lang="en-US" dirty="0"/>
              <a:t>not an IT company, allowed focus of R&amp;D on healthcare analytics</a:t>
            </a:r>
          </a:p>
          <a:p>
            <a:pPr>
              <a:buFont typeface="Arial" panose="020B0604020202020204" pitchFamily="34" charset="0"/>
              <a:buChar char="•"/>
            </a:pPr>
            <a:r>
              <a:rPr lang="en-US" dirty="0"/>
              <a:t>apps are glue between patients, healthcare providers, and payers</a:t>
            </a:r>
          </a:p>
          <a:p>
            <a:pPr>
              <a:buFont typeface="Arial" panose="020B0604020202020204" pitchFamily="34" charset="0"/>
              <a:buChar char="•"/>
            </a:pPr>
            <a:r>
              <a:rPr lang="en-US" dirty="0"/>
              <a:t>benefits?</a:t>
            </a:r>
          </a:p>
          <a:p>
            <a:pPr>
              <a:buFont typeface="Arial" panose="020B0604020202020204" pitchFamily="34" charset="0"/>
              <a:buChar char="•"/>
            </a:pPr>
            <a:r>
              <a:rPr lang="en-US" dirty="0"/>
              <a:t>reduced provisioning time from 10+ weeks to minutes allowing focus on other areas</a:t>
            </a:r>
          </a:p>
          <a:p>
            <a:pPr>
              <a:buFont typeface="Arial" panose="020B0604020202020204" pitchFamily="34" charset="0"/>
              <a:buChar char="•"/>
            </a:pPr>
            <a:r>
              <a:rPr lang="en-US" dirty="0"/>
              <a:t>allow massive scale to support spike in customer demands for large data processing requests</a:t>
            </a:r>
          </a:p>
          <a:p>
            <a:pPr>
              <a:buFont typeface="Arial" panose="020B0604020202020204" pitchFamily="34" charset="0"/>
              <a:buChar char="•"/>
            </a:pPr>
            <a:r>
              <a:rPr lang="en-US" dirty="0"/>
              <a:t>faster innovation, with deployments down to weekly instead of 6 weeks</a:t>
            </a:r>
          </a:p>
          <a:p>
            <a:pPr marL="0" lvl="0" indent="0" algn="l" rtl="0">
              <a:spcBef>
                <a:spcPts val="0"/>
              </a:spcBef>
              <a:spcAft>
                <a:spcPts val="0"/>
              </a:spcAft>
              <a:buNone/>
            </a:pPr>
            <a:endParaRPr lang="en-US" dirty="0"/>
          </a:p>
          <a:p>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lvl="0"/>
            <a:r>
              <a:rPr lang="en-US" altLang="en-US" dirty="0">
                <a:sym typeface="+mn-ea"/>
              </a:rPr>
              <a:t>Gartner - “Setup your organization for cloud adoption success” https://</a:t>
            </a:r>
            <a:r>
              <a:rPr lang="en-US" altLang="en-US" dirty="0" err="1">
                <a:sym typeface="+mn-ea"/>
              </a:rPr>
              <a:t>www.gartner.com</a:t>
            </a:r>
            <a:r>
              <a:rPr lang="en-US" altLang="en-US" dirty="0">
                <a:sym typeface="+mn-ea"/>
              </a:rPr>
              <a:t>/</a:t>
            </a:r>
            <a:r>
              <a:rPr lang="en-US" altLang="en-US" dirty="0" err="1">
                <a:sym typeface="+mn-ea"/>
              </a:rPr>
              <a:t>en</a:t>
            </a:r>
            <a:r>
              <a:rPr lang="en-US" altLang="en-US" dirty="0">
                <a:sym typeface="+mn-ea"/>
              </a:rPr>
              <a:t>/conferences/hub/cloud-conferences/insights/how-to-build-a-cloud-center-of-excellence</a:t>
            </a:r>
          </a:p>
          <a:p>
            <a:pPr lvl="0"/>
            <a:endParaRPr lang="en-US" altLang="en-US" dirty="0">
              <a:sym typeface="+mn-ea"/>
            </a:endParaRPr>
          </a:p>
          <a:p>
            <a:pPr lvl="0"/>
            <a:r>
              <a:rPr lang="en-US" altLang="en-US" dirty="0">
                <a:sym typeface="+mn-ea"/>
              </a:rPr>
              <a:t>“Enterprise architecture” was and “is” all about business and less about tech. Do you think there is a stark similarity of the enterprise architecture charter with CCOE?</a:t>
            </a:r>
          </a:p>
          <a:p>
            <a:pPr lvl="0"/>
            <a:endParaRPr lang="en-US" altLang="en-US" dirty="0">
              <a:sym typeface="+mn-ea"/>
            </a:endParaRPr>
          </a:p>
          <a:p>
            <a:pPr lvl="0"/>
            <a:r>
              <a:rPr lang="en-US" altLang="en-US" dirty="0">
                <a:sym typeface="+mn-ea"/>
              </a:rPr>
              <a:t>It is also about “Citizen driven development”, give the power at the hands of the grass root foot soldiers, you know like you and me, the people who deliver stuff for our customers. We know what it takes, we know what the problems and how to tackle them. All this knowledge was bottled up, now with democratized tech, we can be product creators! Creators of reusable assets, define best practices, define automation, limitless possibilities! Isn’t it?</a:t>
            </a:r>
            <a:endParaRPr lang="en-US" altLang="en-US" dirty="0"/>
          </a:p>
          <a:p>
            <a:endParaRPr lang="en-US" altLang="en-US" dirty="0"/>
          </a:p>
          <a:p>
            <a:r>
              <a:rPr lang="en-US" b="1" dirty="0"/>
              <a:t>Notes:</a:t>
            </a:r>
            <a:endParaRPr lang="en-US" dirty="0"/>
          </a:p>
          <a:p>
            <a:pPr>
              <a:buFont typeface="Arial" panose="020B0604020202020204" pitchFamily="34" charset="0"/>
              <a:buChar char="•"/>
            </a:pPr>
            <a:r>
              <a:rPr lang="en-US" dirty="0"/>
              <a:t>need right skills and organizational structure</a:t>
            </a:r>
          </a:p>
          <a:p>
            <a:pPr>
              <a:buFont typeface="Arial" panose="020B0604020202020204" pitchFamily="34" charset="0"/>
              <a:buChar char="•"/>
            </a:pPr>
            <a:r>
              <a:rPr lang="en-US" dirty="0"/>
              <a:t>Will not be as successful (successful) if conforming to old norms, practices, and organization structures</a:t>
            </a:r>
          </a:p>
          <a:p>
            <a:r>
              <a:rPr lang="en-US" b="1" dirty="0"/>
              <a:t>Key </a:t>
            </a:r>
            <a:r>
              <a:rPr lang="en-US" b="1" dirty="0" err="1"/>
              <a:t>takeways</a:t>
            </a:r>
            <a:r>
              <a:rPr lang="en-US" b="1" dirty="0"/>
              <a:t>:</a:t>
            </a:r>
            <a:endParaRPr lang="en-US" dirty="0"/>
          </a:p>
          <a:p>
            <a:pPr>
              <a:buFont typeface="Arial" panose="020B0604020202020204" pitchFamily="34" charset="0"/>
              <a:buChar char="•"/>
            </a:pPr>
            <a:r>
              <a:rPr lang="en-US" dirty="0"/>
              <a:t>Adopt Cloud Center of Excellence (</a:t>
            </a:r>
            <a:r>
              <a:rPr lang="en-US" dirty="0" err="1"/>
              <a:t>CCoE</a:t>
            </a:r>
            <a:r>
              <a:rPr lang="en-US" dirty="0"/>
              <a:t>) to drive practices, provide guidance and oversight and drive innovation</a:t>
            </a:r>
          </a:p>
          <a:p>
            <a:pPr>
              <a:buFont typeface="Arial" panose="020B0604020202020204" pitchFamily="34" charset="0"/>
              <a:buChar char="•"/>
            </a:pPr>
            <a:r>
              <a:rPr lang="en-US" dirty="0"/>
              <a:t>build up knowledge communities and develop skills</a:t>
            </a:r>
          </a:p>
          <a:p>
            <a:pPr>
              <a:buFont typeface="Arial" panose="020B0604020202020204" pitchFamily="34" charset="0"/>
              <a:buChar char="•"/>
            </a:pPr>
            <a:r>
              <a:rPr lang="en-US" dirty="0"/>
              <a:t>lunch and learn, developer forums, etc.</a:t>
            </a:r>
          </a:p>
          <a:p>
            <a:pPr>
              <a:buFont typeface="Arial" panose="020B0604020202020204" pitchFamily="34" charset="0"/>
              <a:buChar char="•"/>
            </a:pPr>
            <a:r>
              <a:rPr lang="en-US" dirty="0"/>
              <a:t>Develop policies, patterns and blueprints, but let teams innovate for their particular use case</a:t>
            </a:r>
          </a:p>
          <a:p>
            <a:pPr marL="0" lvl="0" indent="0" algn="l" rtl="0">
              <a:spcBef>
                <a:spcPts val="0"/>
              </a:spcBef>
              <a:spcAft>
                <a:spcPts val="0"/>
              </a:spcAft>
              <a:buNone/>
            </a:pPr>
            <a:endParaRPr lang="en-US" dirty="0"/>
          </a:p>
          <a:p>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Reference - https://www.mckinsey.com/business-functions/mckinsey-digital/our-insights/how-cios-and-ctos-can-accelerate-digital-transformations-through-cloud-platforms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Reference - https://www.mckinsey.com/business-functions/mckinsey-digital/our-insights/how-cios-and-ctos-can-accelerate-digital-transformations-through-cloud-platforms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Reference - https://www.mckinsey.com/business-functions/mckinsey-digital/our-insights/how-cios-and-ctos-can-accelerate-digital-transformations-through-cloud-platforms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38A4-9B4E-41B9-B3B3-E1095300B9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89ABAC2-FBE7-47CE-BF98-A03EC72AE4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814EBC-7ABE-4B23-A5C6-6CE1DD5F8BEA}"/>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32B8E466-5519-4617-8263-21EEEF93D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3ED8B1-D082-4FA0-9800-64FA864FE5EA}"/>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2399538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B89305B-8C37-49E5-A54A-AF038C139C54}"/>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2FD8A2BB-F051-4A42-A996-03C0272979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301D5F-CBC6-4E09-BBE2-4CFDAF120A6C}"/>
              </a:ext>
            </a:extLst>
          </p:cNvPr>
          <p:cNvSpPr>
            <a:spLocks noGrp="1"/>
          </p:cNvSpPr>
          <p:nvPr>
            <p:ph type="sldNum" sz="quarter" idx="12"/>
          </p:nvPr>
        </p:nvSpPr>
        <p:spPr/>
        <p:txBody>
          <a:bodyPr/>
          <a:lstStyle/>
          <a:p>
            <a:fld id="{0990AB17-7952-47FA-8BB9-F2A89EF27D8E}" type="slidenum">
              <a:rPr lang="en-IN" smtClean="0"/>
              <a:t>‹#›</a:t>
            </a:fld>
            <a:endParaRPr lang="en-IN"/>
          </a:p>
        </p:txBody>
      </p:sp>
      <p:sp>
        <p:nvSpPr>
          <p:cNvPr id="7" name="Title 1">
            <a:extLst>
              <a:ext uri="{FF2B5EF4-FFF2-40B4-BE49-F238E27FC236}">
                <a16:creationId xmlns:a16="http://schemas.microsoft.com/office/drawing/2014/main" id="{81548E56-E9F0-4E31-991E-3CA80267A201}"/>
              </a:ext>
            </a:extLst>
          </p:cNvPr>
          <p:cNvSpPr>
            <a:spLocks noGrp="1"/>
          </p:cNvSpPr>
          <p:nvPr>
            <p:ph type="title"/>
          </p:nvPr>
        </p:nvSpPr>
        <p:spPr>
          <a:xfrm>
            <a:off x="838200" y="365125"/>
            <a:ext cx="10515600" cy="1325563"/>
          </a:xfrm>
        </p:spPr>
        <p:txBody>
          <a:bodyPr/>
          <a:lstStyle/>
          <a:p>
            <a:r>
              <a:rPr lang="en-US" dirty="0"/>
              <a:t>Virtual Machines</a:t>
            </a:r>
            <a:endParaRPr lang="en-IN" dirty="0"/>
          </a:p>
        </p:txBody>
      </p:sp>
      <p:cxnSp>
        <p:nvCxnSpPr>
          <p:cNvPr id="8" name="Straight Arrow Connector 7">
            <a:extLst>
              <a:ext uri="{FF2B5EF4-FFF2-40B4-BE49-F238E27FC236}">
                <a16:creationId xmlns:a16="http://schemas.microsoft.com/office/drawing/2014/main" id="{FAD3913E-99EF-4463-B7BB-718E103242BB}"/>
              </a:ext>
            </a:extLst>
          </p:cNvPr>
          <p:cNvCxnSpPr>
            <a:cxnSpLocks/>
          </p:cNvCxnSpPr>
          <p:nvPr userDrawn="1"/>
        </p:nvCxnSpPr>
        <p:spPr>
          <a:xfrm>
            <a:off x="2955934" y="2353801"/>
            <a:ext cx="2357160" cy="0"/>
          </a:xfrm>
          <a:prstGeom prst="straightConnector1">
            <a:avLst/>
          </a:prstGeom>
          <a:ln w="38100">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6313721-2EC6-41B2-8DEB-33737585ECE0}"/>
              </a:ext>
            </a:extLst>
          </p:cNvPr>
          <p:cNvCxnSpPr>
            <a:cxnSpLocks/>
          </p:cNvCxnSpPr>
          <p:nvPr userDrawn="1"/>
        </p:nvCxnSpPr>
        <p:spPr>
          <a:xfrm flipV="1">
            <a:off x="2237344" y="2348886"/>
            <a:ext cx="727286" cy="16496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55899F9-F7AE-4043-8A32-AE6745B51B47}"/>
              </a:ext>
            </a:extLst>
          </p:cNvPr>
          <p:cNvCxnSpPr>
            <a:cxnSpLocks/>
          </p:cNvCxnSpPr>
          <p:nvPr userDrawn="1"/>
        </p:nvCxnSpPr>
        <p:spPr>
          <a:xfrm flipH="1" flipV="1">
            <a:off x="2237344" y="4003936"/>
            <a:ext cx="658235" cy="18819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A42E5A9-A5CE-457B-BC2E-A72200F91380}"/>
              </a:ext>
            </a:extLst>
          </p:cNvPr>
          <p:cNvCxnSpPr>
            <a:cxnSpLocks/>
          </p:cNvCxnSpPr>
          <p:nvPr userDrawn="1"/>
        </p:nvCxnSpPr>
        <p:spPr>
          <a:xfrm>
            <a:off x="2895579" y="5885895"/>
            <a:ext cx="2608064" cy="0"/>
          </a:xfrm>
          <a:prstGeom prst="straightConnector1">
            <a:avLst/>
          </a:prstGeom>
          <a:ln w="38100">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13" name="Text Box 9">
            <a:extLst>
              <a:ext uri="{FF2B5EF4-FFF2-40B4-BE49-F238E27FC236}">
                <a16:creationId xmlns:a16="http://schemas.microsoft.com/office/drawing/2014/main" id="{BAA44382-DD6B-45B0-AD47-7C7C0A827FC1}"/>
              </a:ext>
            </a:extLst>
          </p:cNvPr>
          <p:cNvSpPr txBox="1"/>
          <p:nvPr userDrawn="1"/>
        </p:nvSpPr>
        <p:spPr>
          <a:xfrm>
            <a:off x="3729314" y="2348886"/>
            <a:ext cx="1036320" cy="523220"/>
          </a:xfrm>
          <a:prstGeom prst="rect">
            <a:avLst/>
          </a:prstGeom>
          <a:noFill/>
        </p:spPr>
        <p:txBody>
          <a:bodyPr wrap="square" rtlCol="0">
            <a:spAutoFit/>
          </a:bodyPr>
          <a:lstStyle/>
          <a:p>
            <a:pPr algn="l"/>
            <a:r>
              <a:rPr lang="en-US" sz="2800" dirty="0"/>
              <a:t>AWS</a:t>
            </a:r>
          </a:p>
        </p:txBody>
      </p:sp>
      <p:sp>
        <p:nvSpPr>
          <p:cNvPr id="14" name="Text Box 10">
            <a:extLst>
              <a:ext uri="{FF2B5EF4-FFF2-40B4-BE49-F238E27FC236}">
                <a16:creationId xmlns:a16="http://schemas.microsoft.com/office/drawing/2014/main" id="{2CD31C85-4A74-4F44-B008-3EBA50F10B52}"/>
              </a:ext>
            </a:extLst>
          </p:cNvPr>
          <p:cNvSpPr txBox="1"/>
          <p:nvPr userDrawn="1"/>
        </p:nvSpPr>
        <p:spPr>
          <a:xfrm>
            <a:off x="3662661" y="5341725"/>
            <a:ext cx="1242060" cy="523220"/>
          </a:xfrm>
          <a:prstGeom prst="rect">
            <a:avLst/>
          </a:prstGeom>
          <a:noFill/>
        </p:spPr>
        <p:txBody>
          <a:bodyPr wrap="square" rtlCol="0">
            <a:spAutoFit/>
          </a:bodyPr>
          <a:lstStyle/>
          <a:p>
            <a:r>
              <a:rPr lang="en-US" sz="2800" dirty="0"/>
              <a:t>Azure</a:t>
            </a:r>
          </a:p>
        </p:txBody>
      </p:sp>
    </p:spTree>
    <p:extLst>
      <p:ext uri="{BB962C8B-B14F-4D97-AF65-F5344CB8AC3E}">
        <p14:creationId xmlns:p14="http://schemas.microsoft.com/office/powerpoint/2010/main" val="829428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0976-58EF-4723-A30C-49DC49DDDA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F34E55-2A02-44B8-83C9-87E99F9365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AD7508-E75D-4B60-B9AE-6CC6D175796B}"/>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C3E73358-F467-4B91-8701-2BDC429D98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66F85A-790A-4BE8-AD17-78F3BF6E4022}"/>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144180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675E-334F-45D3-BFDD-3AD7064571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401FEB-3B04-490C-884A-9F5CB36DAD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A913D1-3242-4C7D-9F00-92893B137E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1F9A78-DECD-4113-81AC-B5C8F193314D}"/>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6" name="Footer Placeholder 5">
            <a:extLst>
              <a:ext uri="{FF2B5EF4-FFF2-40B4-BE49-F238E27FC236}">
                <a16:creationId xmlns:a16="http://schemas.microsoft.com/office/drawing/2014/main" id="{EF49B9C2-0BBA-4FF8-95BA-B24F78EE6E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69F0D8-156C-4DBF-97C2-8430F1682538}"/>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223324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EEA09-2E02-4EF5-83DE-A9F188DE87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770D34-D921-4AF3-ABA8-4DD5CE63EE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2A14EE-B1FE-4CD8-9975-478DBEA7DB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A87D19-F271-4093-A6A2-649D77DBC8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E8B48A-29B5-4194-A010-D62F43B694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FFED70-82B8-4F87-952A-D05F8871D12E}"/>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8" name="Footer Placeholder 7">
            <a:extLst>
              <a:ext uri="{FF2B5EF4-FFF2-40B4-BE49-F238E27FC236}">
                <a16:creationId xmlns:a16="http://schemas.microsoft.com/office/drawing/2014/main" id="{30D7AB33-E267-4E6B-AB24-57763F62BE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78689-F8B8-4EFD-BBD2-09B62BE70731}"/>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3464449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3968-00F2-4809-B630-977C2B3FD0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796B72-9DDC-47AC-9292-613A2DD23707}"/>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4" name="Footer Placeholder 3">
            <a:extLst>
              <a:ext uri="{FF2B5EF4-FFF2-40B4-BE49-F238E27FC236}">
                <a16:creationId xmlns:a16="http://schemas.microsoft.com/office/drawing/2014/main" id="{0CA63FAD-AB63-4ED7-A04D-ABC8E52682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B25134-C46F-43CF-A4C8-340EEEC98CEA}"/>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67552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B4FB68-6219-4348-8263-2A1BAD41691E}"/>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3" name="Footer Placeholder 2">
            <a:extLst>
              <a:ext uri="{FF2B5EF4-FFF2-40B4-BE49-F238E27FC236}">
                <a16:creationId xmlns:a16="http://schemas.microsoft.com/office/drawing/2014/main" id="{851E5C78-D890-4FC4-8EBD-8A3845F0EE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EAEDF6-4381-4D41-BC79-82A7F04DEA9E}"/>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1948200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1117-EA2F-4256-8CEC-CA68A9F86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07DA39-6001-4DCC-B2CD-E86A15F4E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9F1C06-21B7-4F7B-868C-D311AF825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8CF925-840F-4BDE-9586-A37168380FBD}"/>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6" name="Footer Placeholder 5">
            <a:extLst>
              <a:ext uri="{FF2B5EF4-FFF2-40B4-BE49-F238E27FC236}">
                <a16:creationId xmlns:a16="http://schemas.microsoft.com/office/drawing/2014/main" id="{B1690D8F-1740-47BD-8268-5FCFAEF8D5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B397DE-795C-478F-83D4-32A8BAED4B1E}"/>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287669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BBE5-860B-40B0-8109-2E476B9D1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173A1A-E675-4A8E-B383-C9CC6A5DAF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E72EFD-BF70-4183-ADD8-7D1DD62B1E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7658CC-4DE9-4CF6-A808-CC659150CC16}"/>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6" name="Footer Placeholder 5">
            <a:extLst>
              <a:ext uri="{FF2B5EF4-FFF2-40B4-BE49-F238E27FC236}">
                <a16:creationId xmlns:a16="http://schemas.microsoft.com/office/drawing/2014/main" id="{3F828A3B-9D43-42D2-A867-89CC64D411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035E11-8BD8-464B-97DC-8D6DA0B5C0CD}"/>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2815070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DD413-DD99-43E1-B623-2FEA9C54BB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FE8EE9-6CA9-48A6-BDE1-32F5475A5F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C5E01-E3AE-4CEC-9E61-859616EEDB0E}"/>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A495E89B-89DD-4594-A809-78234B0DF1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C1C028-1AC2-4401-BEE4-43481D2CA546}"/>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78832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A51EA-087C-4E7E-9258-C2D50F174A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0FAC36-CA1D-4937-B615-490F35490D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F8C9BE-B65C-4D08-AB8E-F0A17B5F06BE}"/>
              </a:ext>
            </a:extLst>
          </p:cNvPr>
          <p:cNvSpPr>
            <a:spLocks noGrp="1"/>
          </p:cNvSpPr>
          <p:nvPr>
            <p:ph type="dt" sz="half" idx="10"/>
          </p:nvPr>
        </p:nvSpPr>
        <p:spPr/>
        <p:txBody>
          <a:body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9C5606E6-D4C7-464F-8BFB-00BAF5D8E7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1E0BA-11EC-42C5-BD15-8A7B8F590309}"/>
              </a:ext>
            </a:extLst>
          </p:cNvPr>
          <p:cNvSpPr>
            <a:spLocks noGrp="1"/>
          </p:cNvSpPr>
          <p:nvPr>
            <p:ph type="sldNum" sz="quarter" idx="12"/>
          </p:nvPr>
        </p:nvSpPr>
        <p:spPr/>
        <p:txBody>
          <a:bodyPr/>
          <a:lstStyle/>
          <a:p>
            <a:fld id="{0990AB17-7952-47FA-8BB9-F2A89EF27D8E}" type="slidenum">
              <a:rPr lang="en-IN" smtClean="0"/>
              <a:t>‹#›</a:t>
            </a:fld>
            <a:endParaRPr lang="en-IN"/>
          </a:p>
        </p:txBody>
      </p:sp>
    </p:spTree>
    <p:extLst>
      <p:ext uri="{BB962C8B-B14F-4D97-AF65-F5344CB8AC3E}">
        <p14:creationId xmlns:p14="http://schemas.microsoft.com/office/powerpoint/2010/main" val="2065394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338455" y="258445"/>
            <a:ext cx="11506835" cy="611505"/>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338455" y="1048385"/>
            <a:ext cx="11506835" cy="5128895"/>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705868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66922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12294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1EE697-40C7-47CD-BA37-9001AA534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69C18B-3FCD-4A69-ACCF-FBCF7C0FA9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83281F-757D-4668-9A1D-611414244A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5CFDF-1021-4021-9383-E917CC081235}" type="datetimeFigureOut">
              <a:rPr lang="en-IN" smtClean="0"/>
              <a:t>06/03/26</a:t>
            </a:fld>
            <a:endParaRPr lang="en-IN"/>
          </a:p>
        </p:txBody>
      </p:sp>
      <p:sp>
        <p:nvSpPr>
          <p:cNvPr id="5" name="Footer Placeholder 4">
            <a:extLst>
              <a:ext uri="{FF2B5EF4-FFF2-40B4-BE49-F238E27FC236}">
                <a16:creationId xmlns:a16="http://schemas.microsoft.com/office/drawing/2014/main" id="{61D98FFA-2555-43EF-95A9-95B562B1CC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F30840-5C1F-4A3F-9C36-2E62EBB40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AB17-7952-47FA-8BB9-F2A89EF27D8E}" type="slidenum">
              <a:rPr lang="en-IN" smtClean="0"/>
              <a:t>‹#›</a:t>
            </a:fld>
            <a:endParaRPr lang="en-IN"/>
          </a:p>
        </p:txBody>
      </p:sp>
    </p:spTree>
    <p:extLst>
      <p:ext uri="{BB962C8B-B14F-4D97-AF65-F5344CB8AC3E}">
        <p14:creationId xmlns:p14="http://schemas.microsoft.com/office/powerpoint/2010/main" val="1832901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inkedin.com/in/cgswo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avP5d16wEp0"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hyperlink" Target="https://www.youtube.com/watch?v=q6WlzHLxNK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992767"/>
            <a:ext cx="11360800" cy="2736800"/>
          </a:xfrm>
          <a:prstGeom prst="rect">
            <a:avLst/>
          </a:prstGeom>
        </p:spPr>
        <p:txBody>
          <a:bodyPr spcFirstLastPara="1" vert="horz" wrap="square" lIns="121900" tIns="121900" rIns="121900" bIns="121900" rtlCol="0" anchor="b" anchorCtr="0">
            <a:normAutofit/>
          </a:bodyPr>
          <a:lstStyle/>
          <a:p>
            <a:pPr>
              <a:spcBef>
                <a:spcPts val="0"/>
              </a:spcBef>
            </a:pPr>
            <a:r>
              <a:rPr lang="en" dirty="0"/>
              <a:t>Cloud Computing &amp; DevOps</a:t>
            </a:r>
            <a:endParaRPr dirty="0"/>
          </a:p>
        </p:txBody>
      </p:sp>
      <p:sp>
        <p:nvSpPr>
          <p:cNvPr id="55" name="Google Shape;55;p13"/>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t" anchorCtr="0">
            <a:normAutofit/>
          </a:bodyPr>
          <a:lstStyle/>
          <a:p>
            <a:pPr>
              <a:spcBef>
                <a:spcPts val="0"/>
              </a:spcBef>
            </a:pPr>
            <a:r>
              <a:rPr lang="en" dirty="0"/>
              <a:t>Cloud Foundations</a:t>
            </a:r>
            <a:endParaRPr dirty="0"/>
          </a:p>
        </p:txBody>
      </p:sp>
      <p:pic>
        <p:nvPicPr>
          <p:cNvPr id="3" name="Picture 2" descr="A person in a white shirt&#10;&#10;Description automatically generated">
            <a:extLst>
              <a:ext uri="{FF2B5EF4-FFF2-40B4-BE49-F238E27FC236}">
                <a16:creationId xmlns:a16="http://schemas.microsoft.com/office/drawing/2014/main" id="{A8ACA07C-8DD8-B90B-0209-B484338EC02B}"/>
              </a:ext>
            </a:extLst>
          </p:cNvPr>
          <p:cNvPicPr>
            <a:picLocks noChangeAspect="1"/>
          </p:cNvPicPr>
          <p:nvPr/>
        </p:nvPicPr>
        <p:blipFill rotWithShape="1">
          <a:blip r:embed="rId3"/>
          <a:srcRect l="12230" t="9588" r="21805" b="35681"/>
          <a:stretch/>
        </p:blipFill>
        <p:spPr>
          <a:xfrm>
            <a:off x="415601" y="4720205"/>
            <a:ext cx="1575369" cy="1740529"/>
          </a:xfrm>
          <a:prstGeom prst="rect">
            <a:avLst/>
          </a:prstGeom>
        </p:spPr>
      </p:pic>
      <p:sp>
        <p:nvSpPr>
          <p:cNvPr id="4" name="TextBox 3">
            <a:extLst>
              <a:ext uri="{FF2B5EF4-FFF2-40B4-BE49-F238E27FC236}">
                <a16:creationId xmlns:a16="http://schemas.microsoft.com/office/drawing/2014/main" id="{89A7DE10-C532-5BC5-CF60-C5B75B2D2A77}"/>
              </a:ext>
            </a:extLst>
          </p:cNvPr>
          <p:cNvSpPr txBox="1"/>
          <p:nvPr/>
        </p:nvSpPr>
        <p:spPr>
          <a:xfrm>
            <a:off x="1990969" y="5927253"/>
            <a:ext cx="3348675" cy="502573"/>
          </a:xfrm>
          <a:prstGeom prst="rect">
            <a:avLst/>
          </a:prstGeom>
          <a:noFill/>
        </p:spPr>
        <p:txBody>
          <a:bodyPr wrap="square" rtlCol="0">
            <a:spAutoFit/>
          </a:bodyPr>
          <a:lstStyle/>
          <a:p>
            <a:r>
              <a:rPr lang="en-US" sz="1333" dirty="0">
                <a:solidFill>
                  <a:srgbClr val="0070C0"/>
                </a:solidFill>
              </a:rPr>
              <a:t>LinkedIn</a:t>
            </a:r>
            <a:r>
              <a:rPr lang="en-US" sz="1333" dirty="0"/>
              <a:t>: </a:t>
            </a:r>
            <a:r>
              <a:rPr lang="en-US" sz="1333" dirty="0">
                <a:hlinkClick r:id="rId4"/>
              </a:rPr>
              <a:t>https://linkedin.com/in/cgswong</a:t>
            </a:r>
            <a:endParaRPr lang="en-US" sz="1333" dirty="0"/>
          </a:p>
          <a:p>
            <a:r>
              <a:rPr lang="en-US" sz="1333" dirty="0"/>
              <a:t>@</a:t>
            </a:r>
            <a:r>
              <a:rPr lang="en-US" sz="1333" dirty="0" err="1"/>
              <a:t>cgswong</a:t>
            </a:r>
            <a:endParaRPr lang="en-US" sz="13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54000" y="1644233"/>
            <a:ext cx="5393600" cy="1976400"/>
          </a:xfrm>
        </p:spPr>
        <p:txBody>
          <a:bodyPr spcFirstLastPara="1" vert="horz" wrap="square" lIns="121900" tIns="121900" rIns="121900" bIns="121900" rtlCol="0" anchor="b" anchorCtr="0">
            <a:normAutofit/>
          </a:bodyPr>
          <a:lstStyle/>
          <a:p>
            <a:r>
              <a:rPr lang="en" dirty="0"/>
              <a:t>Agenda</a:t>
            </a:r>
            <a:endParaRPr lang="en-US" dirty="0"/>
          </a:p>
        </p:txBody>
      </p:sp>
      <p:sp>
        <p:nvSpPr>
          <p:cNvPr id="71" name="Subtitle 2">
            <a:extLst>
              <a:ext uri="{FF2B5EF4-FFF2-40B4-BE49-F238E27FC236}">
                <a16:creationId xmlns:a16="http://schemas.microsoft.com/office/drawing/2014/main" id="{D3206DBA-42AE-4936-2E05-DCF518ECF788}"/>
              </a:ext>
            </a:extLst>
          </p:cNvPr>
          <p:cNvSpPr>
            <a:spLocks noGrp="1"/>
          </p:cNvSpPr>
          <p:nvPr>
            <p:ph type="subTitle" idx="1"/>
          </p:nvPr>
        </p:nvSpPr>
        <p:spPr>
          <a:xfrm>
            <a:off x="354000" y="3737433"/>
            <a:ext cx="5393600" cy="1646800"/>
          </a:xfrm>
        </p:spPr>
        <p:txBody>
          <a:bodyPr/>
          <a:lstStyle/>
          <a:p>
            <a:endParaRPr lang="en-US"/>
          </a:p>
        </p:txBody>
      </p:sp>
      <p:sp>
        <p:nvSpPr>
          <p:cNvPr id="66" name="Google Shape;66;p15"/>
          <p:cNvSpPr txBox="1">
            <a:spLocks noGrp="1"/>
          </p:cNvSpPr>
          <p:nvPr>
            <p:ph type="body" idx="2"/>
          </p:nvPr>
        </p:nvSpPr>
        <p:spPr>
          <a:xfrm>
            <a:off x="6586000" y="477078"/>
            <a:ext cx="5116000" cy="5926372"/>
          </a:xfrm>
        </p:spPr>
        <p:txBody>
          <a:bodyPr spcFirstLastPara="1" vert="horz" wrap="square" lIns="121900" tIns="121900" rIns="121900" bIns="121900" rtlCol="0" anchor="ctr" anchorCtr="0">
            <a:normAutofit/>
          </a:bodyPr>
          <a:lstStyle/>
          <a:p>
            <a:pPr indent="-423323">
              <a:lnSpc>
                <a:spcPct val="105000"/>
              </a:lnSpc>
              <a:spcAft>
                <a:spcPts val="800"/>
              </a:spcAft>
              <a:buSzPts val="1400"/>
            </a:pPr>
            <a:r>
              <a:rPr lang="en-US" sz="2000" dirty="0"/>
              <a:t>Brief history of Cloud Computing</a:t>
            </a:r>
          </a:p>
          <a:p>
            <a:pPr indent="-423323">
              <a:lnSpc>
                <a:spcPct val="105000"/>
              </a:lnSpc>
              <a:spcAft>
                <a:spcPts val="800"/>
              </a:spcAft>
              <a:buSzPts val="1400"/>
            </a:pPr>
            <a:r>
              <a:rPr lang="en-US" sz="2000" dirty="0"/>
              <a:t>What is Cloud Computing?</a:t>
            </a:r>
          </a:p>
          <a:p>
            <a:pPr indent="-423323">
              <a:lnSpc>
                <a:spcPct val="105000"/>
              </a:lnSpc>
              <a:spcAft>
                <a:spcPts val="800"/>
              </a:spcAft>
              <a:buSzPts val="1400"/>
            </a:pPr>
            <a:r>
              <a:rPr lang="en-US" sz="2000" dirty="0"/>
              <a:t>Benefits of Cloud Computing</a:t>
            </a:r>
          </a:p>
          <a:p>
            <a:pPr indent="-423323">
              <a:lnSpc>
                <a:spcPct val="105000"/>
              </a:lnSpc>
              <a:spcAft>
                <a:spcPts val="800"/>
              </a:spcAft>
              <a:buSzPts val="1400"/>
            </a:pPr>
            <a:r>
              <a:rPr lang="en-US" sz="2000" dirty="0"/>
              <a:t>Cloud Models</a:t>
            </a:r>
          </a:p>
          <a:p>
            <a:pPr indent="-423323">
              <a:lnSpc>
                <a:spcPct val="105000"/>
              </a:lnSpc>
              <a:spcAft>
                <a:spcPts val="800"/>
              </a:spcAft>
              <a:buSzPts val="1400"/>
            </a:pPr>
            <a:r>
              <a:rPr lang="en-US" sz="2000" dirty="0"/>
              <a:t>Service Models (IaaS, </a:t>
            </a:r>
            <a:r>
              <a:rPr lang="en-US" sz="2000" dirty="0" err="1"/>
              <a:t>Paas</a:t>
            </a:r>
            <a:r>
              <a:rPr lang="en-US" sz="2000" dirty="0"/>
              <a:t>, Saas)</a:t>
            </a:r>
          </a:p>
          <a:p>
            <a:pPr indent="-423323">
              <a:lnSpc>
                <a:spcPct val="105000"/>
              </a:lnSpc>
              <a:spcAft>
                <a:spcPts val="800"/>
              </a:spcAft>
              <a:buSzPts val="1400"/>
            </a:pPr>
            <a:r>
              <a:rPr lang="en-US" sz="2000" dirty="0"/>
              <a:t>Types of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415600" y="593367"/>
            <a:ext cx="11360800" cy="763600"/>
          </a:xfrm>
        </p:spPr>
        <p:txBody>
          <a:bodyPr spcFirstLastPara="1" vert="horz" wrap="square" lIns="121900" tIns="121900" rIns="121900" bIns="121900" rtlCol="0" anchor="t" anchorCtr="0">
            <a:normAutofit fontScale="90000"/>
          </a:bodyPr>
          <a:lstStyle/>
          <a:p>
            <a:r>
              <a:rPr lang="en" dirty="0"/>
              <a:t>Brief history of Cloud Computing</a:t>
            </a:r>
            <a:endParaRPr lang="en-US" dirty="0"/>
          </a:p>
        </p:txBody>
      </p:sp>
      <p:sp>
        <p:nvSpPr>
          <p:cNvPr id="66" name="Google Shape;66;p15"/>
          <p:cNvSpPr txBox="1">
            <a:spLocks noGrp="1"/>
          </p:cNvSpPr>
          <p:nvPr>
            <p:ph type="body" idx="1"/>
          </p:nvPr>
        </p:nvSpPr>
        <p:spPr>
          <a:xfrm>
            <a:off x="415600" y="1536633"/>
            <a:ext cx="11360800" cy="4555200"/>
          </a:xfrm>
        </p:spPr>
        <p:txBody>
          <a:bodyPr spcFirstLastPara="1" vert="horz" wrap="square" lIns="121900" tIns="121900" rIns="121900" bIns="121900" rtlCol="0" anchor="t" anchorCtr="0">
            <a:normAutofit/>
          </a:bodyPr>
          <a:lstStyle/>
          <a:p>
            <a:pPr marL="567252" indent="-380990">
              <a:lnSpc>
                <a:spcPct val="105000"/>
              </a:lnSpc>
              <a:spcAft>
                <a:spcPts val="800"/>
              </a:spcAft>
              <a:buSzPts val="1400"/>
            </a:pPr>
            <a:r>
              <a:rPr lang="en-US" sz="2400" dirty="0"/>
              <a:t>Before learning about Cloud Computing let’s go back to understand the need, for every journey has a start, with a why.</a:t>
            </a:r>
          </a:p>
          <a:p>
            <a:pPr marL="186262" indent="0">
              <a:lnSpc>
                <a:spcPct val="105000"/>
              </a:lnSpc>
              <a:spcAft>
                <a:spcPts val="800"/>
              </a:spcAft>
              <a:buSzPts val="1400"/>
              <a:buNone/>
            </a:pPr>
            <a:endParaRPr lang="en-US" sz="2400" dirty="0"/>
          </a:p>
          <a:p>
            <a:pPr marL="567252" indent="-380990">
              <a:lnSpc>
                <a:spcPct val="105000"/>
              </a:lnSpc>
              <a:spcAft>
                <a:spcPts val="800"/>
              </a:spcAft>
              <a:buSzPts val="1400"/>
            </a:pPr>
            <a:r>
              <a:rPr lang="en-US" dirty="0"/>
              <a:t>Salesforce was the first, but </a:t>
            </a:r>
            <a:r>
              <a:rPr lang="en-US" sz="2267" dirty="0"/>
              <a:t>Amazon made it a service</a:t>
            </a:r>
          </a:p>
          <a:p>
            <a:pPr marL="186262" indent="0">
              <a:lnSpc>
                <a:spcPct val="105000"/>
              </a:lnSpc>
              <a:spcAft>
                <a:spcPts val="800"/>
              </a:spcAft>
              <a:buSzPts val="1400"/>
              <a:buNone/>
            </a:pPr>
            <a:endParaRPr lang="en-US" sz="2267" dirty="0"/>
          </a:p>
          <a:p>
            <a:pPr marL="567252" indent="-380990">
              <a:lnSpc>
                <a:spcPct val="105000"/>
              </a:lnSpc>
              <a:spcAft>
                <a:spcPts val="800"/>
              </a:spcAft>
              <a:buSzPts val="1400"/>
            </a:pPr>
            <a:r>
              <a:rPr lang="en-US" sz="2267" i="1" dirty="0"/>
              <a:t>A history of cloud computing, is a history of Amazon…</a:t>
            </a:r>
          </a:p>
        </p:txBody>
      </p:sp>
      <p:pic>
        <p:nvPicPr>
          <p:cNvPr id="1026" name="Picture 2">
            <a:extLst>
              <a:ext uri="{FF2B5EF4-FFF2-40B4-BE49-F238E27FC236}">
                <a16:creationId xmlns:a16="http://schemas.microsoft.com/office/drawing/2014/main" id="{44219D6F-EA8D-6604-9758-D8820573D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7256" y="2601687"/>
            <a:ext cx="2015067" cy="1422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D7A7ED7-C5C5-494D-5A28-B9D81BCFC9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9321" y="4657339"/>
            <a:ext cx="948267"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60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dirty="0"/>
              <a:t>What is Cloud Computing?</a:t>
            </a:r>
            <a:endParaRPr dirty="0"/>
          </a:p>
        </p:txBody>
      </p:sp>
      <p:sp>
        <p:nvSpPr>
          <p:cNvPr id="99" name="Google Shape;99;p2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593922" indent="-380990">
              <a:buSzPct val="100000"/>
            </a:pPr>
            <a:r>
              <a:rPr lang="en" sz="2133" b="1" dirty="0">
                <a:solidFill>
                  <a:srgbClr val="00B0F0"/>
                </a:solidFill>
              </a:rPr>
              <a:t>Compute</a:t>
            </a:r>
            <a:r>
              <a:rPr lang="en" sz="1867" dirty="0"/>
              <a:t> po</a:t>
            </a:r>
            <a:r>
              <a:rPr lang="en-US" sz="1867" dirty="0"/>
              <a:t>we</a:t>
            </a:r>
            <a:r>
              <a:rPr lang="en" sz="1867" dirty="0" err="1"/>
              <a:t>rs</a:t>
            </a:r>
            <a:r>
              <a:rPr lang="en" sz="1867" dirty="0"/>
              <a:t> the processing and execution of tasks</a:t>
            </a:r>
            <a:endParaRPr sz="1867" dirty="0"/>
          </a:p>
          <a:p>
            <a:pPr indent="-396653">
              <a:buSzPct val="100000"/>
            </a:pPr>
            <a:r>
              <a:rPr lang="en" sz="2133" b="1" dirty="0">
                <a:solidFill>
                  <a:srgbClr val="00B0F0"/>
                </a:solidFill>
              </a:rPr>
              <a:t>Networking</a:t>
            </a:r>
            <a:r>
              <a:rPr lang="en" sz="1867" dirty="0"/>
              <a:t> facilitates the communication and transfer of data between devices</a:t>
            </a:r>
            <a:endParaRPr sz="1867" dirty="0"/>
          </a:p>
          <a:p>
            <a:pPr indent="-396653">
              <a:buSzPct val="100000"/>
            </a:pPr>
            <a:r>
              <a:rPr lang="en" sz="2133" b="1" dirty="0">
                <a:solidFill>
                  <a:srgbClr val="00B0F0"/>
                </a:solidFill>
              </a:rPr>
              <a:t>Storage</a:t>
            </a:r>
            <a:r>
              <a:rPr lang="en" sz="1867" dirty="0"/>
              <a:t> enables the retention and retrieval of data at various stages</a:t>
            </a:r>
            <a:endParaRPr sz="1867" dirty="0"/>
          </a:p>
          <a:p>
            <a:pPr marL="0" indent="0">
              <a:spcBef>
                <a:spcPts val="1600"/>
              </a:spcBef>
              <a:buNone/>
            </a:pPr>
            <a:endParaRPr lang="en" sz="1867" b="1" dirty="0"/>
          </a:p>
          <a:p>
            <a:pPr marL="0" indent="0">
              <a:spcBef>
                <a:spcPts val="1600"/>
              </a:spcBef>
              <a:buNone/>
            </a:pPr>
            <a:r>
              <a:rPr lang="en" sz="1867" i="1" dirty="0"/>
              <a:t>The on-demand delivery of computer system resources, </a:t>
            </a:r>
            <a:r>
              <a:rPr lang="en" sz="1867" i="1" dirty="0" err="1"/>
              <a:t>wi</a:t>
            </a:r>
            <a:r>
              <a:rPr lang="en-US" sz="1867" i="1" dirty="0" err="1"/>
              <a:t>th</a:t>
            </a:r>
            <a:r>
              <a:rPr lang="en" sz="1867" i="1" dirty="0"/>
              <a:t>out direct, active management over the internet. Typically in a pay-as-you-go pricing model.</a:t>
            </a:r>
          </a:p>
          <a:p>
            <a:pPr marL="0" indent="0">
              <a:spcBef>
                <a:spcPts val="1600"/>
              </a:spcBef>
              <a:buNone/>
            </a:pPr>
            <a:endParaRPr lang="en" sz="1867" b="1" dirty="0"/>
          </a:p>
          <a:p>
            <a:pPr marL="0" indent="0">
              <a:spcBef>
                <a:spcPts val="1600"/>
              </a:spcBef>
              <a:buNone/>
            </a:pPr>
            <a:r>
              <a:rPr lang="en" sz="1867" i="1" dirty="0"/>
              <a:t>Using someone else’s </a:t>
            </a:r>
            <a:r>
              <a:rPr lang="en-US" sz="1867" i="1" dirty="0"/>
              <a:t>computing resources over the internet!</a:t>
            </a:r>
            <a:endParaRPr sz="1867" i="1" dirty="0"/>
          </a:p>
        </p:txBody>
      </p:sp>
      <p:pic>
        <p:nvPicPr>
          <p:cNvPr id="3076" name="Picture 4" descr="Compute Data Center Solutions">
            <a:extLst>
              <a:ext uri="{FF2B5EF4-FFF2-40B4-BE49-F238E27FC236}">
                <a16:creationId xmlns:a16="http://schemas.microsoft.com/office/drawing/2014/main" id="{EEA8EBEF-CC8E-19B3-A61D-8D1B13ED4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7427" y="4135688"/>
            <a:ext cx="4228972" cy="2376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9B37-4C84-435A-97AC-BF83A3D3A6D7}"/>
              </a:ext>
            </a:extLst>
          </p:cNvPr>
          <p:cNvSpPr>
            <a:spLocks noGrp="1"/>
          </p:cNvSpPr>
          <p:nvPr>
            <p:ph type="title"/>
          </p:nvPr>
        </p:nvSpPr>
        <p:spPr/>
        <p:txBody>
          <a:bodyPr/>
          <a:lstStyle/>
          <a:p>
            <a:r>
              <a:rPr lang="en-US" dirty="0"/>
              <a:t>Virtual Machines</a:t>
            </a:r>
            <a:endParaRPr lang="en-IN" dirty="0"/>
          </a:p>
        </p:txBody>
      </p:sp>
      <p:sp>
        <p:nvSpPr>
          <p:cNvPr id="3" name="TextBox 2">
            <a:extLst>
              <a:ext uri="{FF2B5EF4-FFF2-40B4-BE49-F238E27FC236}">
                <a16:creationId xmlns:a16="http://schemas.microsoft.com/office/drawing/2014/main" id="{66080240-FEB5-4F4B-8D8D-F23ABB84E672}"/>
              </a:ext>
            </a:extLst>
          </p:cNvPr>
          <p:cNvSpPr txBox="1"/>
          <p:nvPr/>
        </p:nvSpPr>
        <p:spPr>
          <a:xfrm>
            <a:off x="26634" y="3728631"/>
            <a:ext cx="2388093" cy="461665"/>
          </a:xfrm>
          <a:prstGeom prst="rect">
            <a:avLst/>
          </a:prstGeom>
          <a:noFill/>
        </p:spPr>
        <p:txBody>
          <a:bodyPr wrap="square" rtlCol="0">
            <a:spAutoFit/>
          </a:bodyPr>
          <a:lstStyle/>
          <a:p>
            <a:r>
              <a:rPr lang="en-US" sz="2400" dirty="0"/>
              <a:t>Virtual Machines</a:t>
            </a:r>
            <a:endParaRPr lang="en-IN" sz="2400" dirty="0"/>
          </a:p>
        </p:txBody>
      </p:sp>
      <p:sp>
        <p:nvSpPr>
          <p:cNvPr id="4" name="TextBox 3">
            <a:extLst>
              <a:ext uri="{FF2B5EF4-FFF2-40B4-BE49-F238E27FC236}">
                <a16:creationId xmlns:a16="http://schemas.microsoft.com/office/drawing/2014/main" id="{F888E6E1-656A-4151-B614-A479410AE71E}"/>
              </a:ext>
            </a:extLst>
          </p:cNvPr>
          <p:cNvSpPr txBox="1"/>
          <p:nvPr/>
        </p:nvSpPr>
        <p:spPr>
          <a:xfrm>
            <a:off x="4023062" y="4399962"/>
            <a:ext cx="2388093" cy="461665"/>
          </a:xfrm>
          <a:prstGeom prst="rect">
            <a:avLst/>
          </a:prstGeom>
          <a:noFill/>
        </p:spPr>
        <p:txBody>
          <a:bodyPr wrap="square" rtlCol="0">
            <a:spAutoFit/>
          </a:bodyPr>
          <a:lstStyle/>
          <a:p>
            <a:r>
              <a:rPr lang="en-US" sz="2400" dirty="0"/>
              <a:t>Azure VMs</a:t>
            </a:r>
            <a:endParaRPr lang="en-IN" sz="2400" dirty="0"/>
          </a:p>
        </p:txBody>
      </p:sp>
      <p:sp>
        <p:nvSpPr>
          <p:cNvPr id="5" name="TextBox 4">
            <a:extLst>
              <a:ext uri="{FF2B5EF4-FFF2-40B4-BE49-F238E27FC236}">
                <a16:creationId xmlns:a16="http://schemas.microsoft.com/office/drawing/2014/main" id="{BB4076B0-C350-4969-BEA4-876029D8D863}"/>
              </a:ext>
            </a:extLst>
          </p:cNvPr>
          <p:cNvSpPr txBox="1"/>
          <p:nvPr/>
        </p:nvSpPr>
        <p:spPr>
          <a:xfrm>
            <a:off x="4828712" y="1665694"/>
            <a:ext cx="2388093" cy="461665"/>
          </a:xfrm>
          <a:prstGeom prst="rect">
            <a:avLst/>
          </a:prstGeom>
          <a:noFill/>
        </p:spPr>
        <p:txBody>
          <a:bodyPr wrap="square" rtlCol="0">
            <a:spAutoFit/>
          </a:bodyPr>
          <a:lstStyle/>
          <a:p>
            <a:r>
              <a:rPr lang="en-US" sz="2400" dirty="0"/>
              <a:t>EC2</a:t>
            </a:r>
            <a:endParaRPr lang="en-IN" sz="2400" dirty="0"/>
          </a:p>
        </p:txBody>
      </p:sp>
      <p:pic>
        <p:nvPicPr>
          <p:cNvPr id="3074" name="Picture 2">
            <a:extLst>
              <a:ext uri="{FF2B5EF4-FFF2-40B4-BE49-F238E27FC236}">
                <a16:creationId xmlns:a16="http://schemas.microsoft.com/office/drawing/2014/main" id="{FE0419FA-4AE4-4BDC-B5C8-116816441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7979" y="3748494"/>
            <a:ext cx="6462297" cy="31095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9BBD50F-C2C7-4A87-A27C-FC4D49A80E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7979" y="0"/>
            <a:ext cx="5943600" cy="372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2245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4e040b739ec6329_13"/>
          <p:cNvSpPr txBox="1">
            <a:spLocks noGrp="1"/>
          </p:cNvSpPr>
          <p:nvPr>
            <p:ph type="title"/>
          </p:nvPr>
        </p:nvSpPr>
        <p:spPr>
          <a:xfrm>
            <a:off x="338455" y="258445"/>
            <a:ext cx="11506800" cy="611400"/>
          </a:xfrm>
          <a:prstGeom prst="rect">
            <a:avLst/>
          </a:prstGeom>
        </p:spPr>
        <p:txBody>
          <a:bodyPr spcFirstLastPara="1" wrap="square" lIns="91425" tIns="45700" rIns="91425" bIns="45700" numCol="1" anchor="ctr" anchorCtr="0">
            <a:normAutofit/>
          </a:bodyPr>
          <a:lstStyle/>
          <a:p>
            <a:pPr marL="0" lvl="0" indent="0" algn="l" rtl="0">
              <a:spcBef>
                <a:spcPts val="0"/>
              </a:spcBef>
              <a:spcAft>
                <a:spcPts val="0"/>
              </a:spcAft>
              <a:buNone/>
            </a:pPr>
            <a:r>
              <a:rPr lang="en-US"/>
              <a:t>VMs and Containers</a:t>
            </a:r>
            <a:endParaRPr/>
          </a:p>
        </p:txBody>
      </p:sp>
      <p:pic>
        <p:nvPicPr>
          <p:cNvPr id="140" name="Google Shape;140;g4e040b739ec6329_13"/>
          <p:cNvPicPr preferRelativeResize="0"/>
          <p:nvPr/>
        </p:nvPicPr>
        <p:blipFill>
          <a:blip r:embed="rId3">
            <a:alphaModFix/>
          </a:blip>
          <a:stretch>
            <a:fillRect/>
          </a:stretch>
        </p:blipFill>
        <p:spPr>
          <a:xfrm>
            <a:off x="152400" y="1022245"/>
            <a:ext cx="11226379" cy="56833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5B86C0-CC29-7C92-679A-DB5DDAAAF81E}"/>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spcBef>
                <a:spcPct val="0"/>
              </a:spcBef>
            </a:pPr>
            <a:r>
              <a:rPr lang="en-US" sz="6600" kern="1200">
                <a:solidFill>
                  <a:schemeClr val="tx1"/>
                </a:solidFill>
                <a:latin typeface="+mj-lt"/>
                <a:ea typeface="+mj-ea"/>
                <a:cs typeface="+mj-cs"/>
              </a:rPr>
              <a:t>Containers &amp; Virtual Machines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A3FC1DB-878D-612B-3B76-3118D45C5FFA}"/>
              </a:ext>
            </a:extLst>
          </p:cNvPr>
          <p:cNvGraphicFramePr>
            <a:graphicFrameLocks noGrp="1"/>
          </p:cNvGraphicFramePr>
          <p:nvPr>
            <p:extLst>
              <p:ext uri="{D42A27DB-BD31-4B8C-83A1-F6EECF244321}">
                <p14:modId xmlns:p14="http://schemas.microsoft.com/office/powerpoint/2010/main" val="956839507"/>
              </p:ext>
            </p:extLst>
          </p:nvPr>
        </p:nvGraphicFramePr>
        <p:xfrm>
          <a:off x="320040" y="2690219"/>
          <a:ext cx="11548873" cy="4007235"/>
        </p:xfrm>
        <a:graphic>
          <a:graphicData uri="http://schemas.openxmlformats.org/drawingml/2006/table">
            <a:tbl>
              <a:tblPr firstRow="1" bandRow="1">
                <a:noFill/>
                <a:tableStyleId>{5C22544A-7EE6-4342-B048-85BDC9FD1C3A}</a:tableStyleId>
              </a:tblPr>
              <a:tblGrid>
                <a:gridCol w="2152704">
                  <a:extLst>
                    <a:ext uri="{9D8B030D-6E8A-4147-A177-3AD203B41FA5}">
                      <a16:colId xmlns:a16="http://schemas.microsoft.com/office/drawing/2014/main" val="3646478446"/>
                    </a:ext>
                  </a:extLst>
                </a:gridCol>
                <a:gridCol w="4468969">
                  <a:extLst>
                    <a:ext uri="{9D8B030D-6E8A-4147-A177-3AD203B41FA5}">
                      <a16:colId xmlns:a16="http://schemas.microsoft.com/office/drawing/2014/main" val="4202885654"/>
                    </a:ext>
                  </a:extLst>
                </a:gridCol>
                <a:gridCol w="4927200">
                  <a:extLst>
                    <a:ext uri="{9D8B030D-6E8A-4147-A177-3AD203B41FA5}">
                      <a16:colId xmlns:a16="http://schemas.microsoft.com/office/drawing/2014/main" val="3290456516"/>
                    </a:ext>
                  </a:extLst>
                </a:gridCol>
              </a:tblGrid>
              <a:tr h="400177">
                <a:tc>
                  <a:txBody>
                    <a:bodyPr/>
                    <a:lstStyle/>
                    <a:p>
                      <a:r>
                        <a:rPr lang="en-US" sz="1500" b="1" cap="none" spc="0">
                          <a:solidFill>
                            <a:schemeClr val="tx1"/>
                          </a:solidFill>
                        </a:rPr>
                        <a:t>Characteristic</a:t>
                      </a:r>
                    </a:p>
                  </a:txBody>
                  <a:tcPr marL="58767" marR="83953" marT="16791" marB="125930" anchor="b">
                    <a:lnL w="12700" cmpd="sng">
                      <a:noFill/>
                    </a:lnL>
                    <a:lnR w="12700" cmpd="sng">
                      <a:noFill/>
                    </a:lnR>
                    <a:lnT w="9525" cap="flat" cmpd="sng" algn="ctr">
                      <a:noFill/>
                      <a:prstDash val="solid"/>
                    </a:lnT>
                    <a:lnB w="38100" cmpd="sng">
                      <a:noFill/>
                    </a:lnB>
                    <a:noFill/>
                  </a:tcPr>
                </a:tc>
                <a:tc>
                  <a:txBody>
                    <a:bodyPr/>
                    <a:lstStyle/>
                    <a:p>
                      <a:r>
                        <a:rPr lang="en-US" sz="1500" b="1" cap="none" spc="0">
                          <a:solidFill>
                            <a:schemeClr val="tx1"/>
                          </a:solidFill>
                        </a:rPr>
                        <a:t>Container</a:t>
                      </a:r>
                    </a:p>
                  </a:txBody>
                  <a:tcPr marL="58767" marR="83953" marT="16791" marB="125930" anchor="b">
                    <a:lnL w="12700" cmpd="sng">
                      <a:noFill/>
                    </a:lnL>
                    <a:lnR w="12700" cmpd="sng">
                      <a:noFill/>
                    </a:lnR>
                    <a:lnT w="9525" cap="flat" cmpd="sng" algn="ctr">
                      <a:noFill/>
                      <a:prstDash val="solid"/>
                    </a:lnT>
                    <a:lnB w="38100" cmpd="sng">
                      <a:noFill/>
                    </a:lnB>
                    <a:noFill/>
                  </a:tcPr>
                </a:tc>
                <a:tc>
                  <a:txBody>
                    <a:bodyPr/>
                    <a:lstStyle/>
                    <a:p>
                      <a:r>
                        <a:rPr lang="en-US" sz="1500" b="1" cap="none" spc="0">
                          <a:solidFill>
                            <a:schemeClr val="tx1"/>
                          </a:solidFill>
                        </a:rPr>
                        <a:t>Virtual Machine</a:t>
                      </a:r>
                    </a:p>
                  </a:txBody>
                  <a:tcPr marL="58767" marR="83953" marT="16791" marB="12593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8525383"/>
                  </a:ext>
                </a:extLst>
              </a:tr>
              <a:tr h="680020">
                <a:tc>
                  <a:txBody>
                    <a:bodyPr/>
                    <a:lstStyle/>
                    <a:p>
                      <a:r>
                        <a:rPr lang="en-US" sz="1100" cap="none" spc="0">
                          <a:solidFill>
                            <a:schemeClr val="tx1"/>
                          </a:solidFill>
                        </a:rPr>
                        <a:t>What is it?</a:t>
                      </a:r>
                    </a:p>
                  </a:txBody>
                  <a:tcPr marL="58767" marR="83953" marT="16791" marB="125930">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r>
                        <a:rPr lang="en-US" sz="1100" cap="none" spc="0" dirty="0">
                          <a:solidFill>
                            <a:schemeClr val="tx1"/>
                          </a:solidFill>
                        </a:rPr>
                        <a:t>Docker is a software platform to create and run containers. A container is an emulation of a user-space instance, the part of the OS where user processes run.</a:t>
                      </a:r>
                    </a:p>
                  </a:txBody>
                  <a:tcPr marL="58767" marR="83953" marT="16791" marB="125930">
                    <a:lnL w="12700" cmpd="sng">
                      <a:noFill/>
                      <a:prstDash val="solid"/>
                    </a:lnL>
                    <a:lnR w="12700" cmpd="sng">
                      <a:noFill/>
                      <a:prstDash val="solid"/>
                    </a:lnR>
                    <a:lnT w="38100" cmpd="sng">
                      <a:noFill/>
                    </a:lnT>
                    <a:lnB w="9525" cap="flat" cmpd="sng" algn="ctr">
                      <a:noFill/>
                      <a:prstDash val="solid"/>
                    </a:lnB>
                    <a:noFill/>
                  </a:tcPr>
                </a:tc>
                <a:tc>
                  <a:txBody>
                    <a:bodyPr/>
                    <a:lstStyle/>
                    <a:p>
                      <a:r>
                        <a:rPr lang="en-US" sz="1100" cap="none" spc="0">
                          <a:solidFill>
                            <a:schemeClr val="tx1"/>
                          </a:solidFill>
                        </a:rPr>
                        <a:t>Emulation of a physical machine running an operating system.</a:t>
                      </a:r>
                    </a:p>
                  </a:txBody>
                  <a:tcPr marL="58767" marR="83953" marT="16791" marB="125930">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1085288988"/>
                  </a:ext>
                </a:extLst>
              </a:tr>
              <a:tr h="512114">
                <a:tc>
                  <a:txBody>
                    <a:bodyPr/>
                    <a:lstStyle/>
                    <a:p>
                      <a:r>
                        <a:rPr lang="en-US" sz="1100" cap="none" spc="0">
                          <a:solidFill>
                            <a:schemeClr val="tx1"/>
                          </a:solidFill>
                        </a:rPr>
                        <a:t>Virtualization</a:t>
                      </a:r>
                    </a:p>
                  </a:txBody>
                  <a:tcPr marL="58767" marR="83953" marT="16791" marB="125930">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r>
                        <a:rPr lang="en-US" sz="1100" cap="none" spc="0" dirty="0">
                          <a:solidFill>
                            <a:schemeClr val="tx1"/>
                          </a:solidFill>
                        </a:rPr>
                        <a:t>Container abstracts operating system details from the application code – virtualizes the OS</a:t>
                      </a:r>
                    </a:p>
                  </a:txBody>
                  <a:tcPr marL="58767" marR="83953" marT="16791" marB="125930">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cap="none" spc="0" dirty="0">
                          <a:solidFill>
                            <a:schemeClr val="tx1"/>
                          </a:solidFill>
                        </a:rPr>
                        <a:t>Abstracts hardware details from application, e</a:t>
                      </a:r>
                      <a:r>
                        <a:rPr lang="en-US" sz="1100" dirty="0"/>
                        <a:t>ncapsulating the operating system, all software, and multiple applications</a:t>
                      </a:r>
                    </a:p>
                    <a:p>
                      <a:endParaRPr lang="en-US" sz="1100" cap="none" spc="0" dirty="0">
                        <a:solidFill>
                          <a:schemeClr val="tx1"/>
                        </a:solidFill>
                      </a:endParaRPr>
                    </a:p>
                  </a:txBody>
                  <a:tcPr marL="58767" marR="83953" marT="16791" marB="125930">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105546076"/>
                  </a:ext>
                </a:extLst>
              </a:tr>
              <a:tr h="512114">
                <a:tc>
                  <a:txBody>
                    <a:bodyPr/>
                    <a:lstStyle/>
                    <a:p>
                      <a:pPr>
                        <a:buNone/>
                      </a:pPr>
                      <a:r>
                        <a:rPr lang="en-US" sz="1100" cap="none" spc="0" dirty="0">
                          <a:solidFill>
                            <a:schemeClr val="tx1"/>
                          </a:solidFill>
                        </a:rPr>
                        <a:t>Resource Sizing</a:t>
                      </a:r>
                    </a:p>
                  </a:txBody>
                  <a:tcPr marL="58767" marR="83953" marT="16791" marB="12593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r>
                        <a:rPr lang="en-US" sz="1100" dirty="0"/>
                        <a:t>Size in terms of MB</a:t>
                      </a:r>
                    </a:p>
                  </a:txBody>
                  <a:tcPr marL="58767" marR="83953" marT="16791" marB="12593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r>
                        <a:rPr lang="en-US" sz="1100" dirty="0"/>
                        <a:t>Size in terms of GB</a:t>
                      </a:r>
                    </a:p>
                  </a:txBody>
                  <a:tcPr marL="58767" marR="83953" marT="16791" marB="12593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113195089"/>
                  </a:ext>
                </a:extLst>
              </a:tr>
              <a:tr h="512114">
                <a:tc>
                  <a:txBody>
                    <a:bodyPr/>
                    <a:lstStyle/>
                    <a:p>
                      <a:pPr>
                        <a:buNone/>
                      </a:pPr>
                      <a:r>
                        <a:rPr lang="en-US" sz="1100" cap="none" spc="0">
                          <a:solidFill>
                            <a:schemeClr val="tx1"/>
                          </a:solidFill>
                        </a:rPr>
                        <a:t>Managed by</a:t>
                      </a:r>
                    </a:p>
                  </a:txBody>
                  <a:tcPr marL="58767" marR="83953" marT="16791" marB="12593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cap="none" spc="0" dirty="0">
                          <a:solidFill>
                            <a:schemeClr val="tx1"/>
                          </a:solidFill>
                        </a:rPr>
                        <a:t>Container engine coordinates with underlying operating system for resources</a:t>
                      </a:r>
                      <a:endParaRPr lang="en-US" sz="1100" dirty="0"/>
                    </a:p>
                    <a:p>
                      <a:pPr>
                        <a:buNone/>
                      </a:pPr>
                      <a:endParaRPr lang="en-US" sz="1100" cap="none" spc="0" dirty="0">
                        <a:solidFill>
                          <a:schemeClr val="tx1"/>
                        </a:solidFill>
                      </a:endParaRPr>
                    </a:p>
                  </a:txBody>
                  <a:tcPr marL="58767" marR="83953" marT="16791" marB="12593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100" cap="none" spc="0">
                          <a:solidFill>
                            <a:schemeClr val="tx1"/>
                          </a:solidFill>
                        </a:rPr>
                        <a:t>Hypervisor coordinates between the machine’s physical hardware and virtual machine.</a:t>
                      </a:r>
                    </a:p>
                  </a:txBody>
                  <a:tcPr marL="58767" marR="83953" marT="16791" marB="12593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125221111"/>
                  </a:ext>
                </a:extLst>
              </a:tr>
              <a:tr h="344208">
                <a:tc>
                  <a:txBody>
                    <a:bodyPr/>
                    <a:lstStyle/>
                    <a:p>
                      <a:pPr>
                        <a:buNone/>
                      </a:pPr>
                      <a:r>
                        <a:rPr lang="en-US" sz="1100" cap="none" spc="0">
                          <a:solidFill>
                            <a:schemeClr val="tx1"/>
                          </a:solidFill>
                        </a:rPr>
                        <a:t>Architecture</a:t>
                      </a:r>
                    </a:p>
                  </a:txBody>
                  <a:tcPr marL="58767" marR="83953" marT="16791" marB="125930"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cap="none" spc="0" dirty="0">
                          <a:solidFill>
                            <a:schemeClr val="tx1"/>
                          </a:solidFill>
                        </a:rPr>
                        <a:t>Shares resources with the underlying host kernel; l</a:t>
                      </a:r>
                      <a:r>
                        <a:rPr lang="en-US" sz="1100" dirty="0"/>
                        <a:t>ess control of environment outside container</a:t>
                      </a:r>
                    </a:p>
                  </a:txBody>
                  <a:tcPr marL="58767" marR="83953" marT="16791" marB="125930"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cap="none" spc="0" dirty="0">
                          <a:solidFill>
                            <a:schemeClr val="tx1"/>
                          </a:solidFill>
                        </a:rPr>
                        <a:t>Runs its own kernel and operating system; m</a:t>
                      </a:r>
                      <a:r>
                        <a:rPr lang="en-US" sz="1100" dirty="0"/>
                        <a:t>ore control over entire environment</a:t>
                      </a:r>
                    </a:p>
                  </a:txBody>
                  <a:tcPr marL="58767" marR="83953" marT="16791" marB="125930"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1881567592"/>
                  </a:ext>
                </a:extLst>
              </a:tr>
              <a:tr h="512114">
                <a:tc>
                  <a:txBody>
                    <a:bodyPr/>
                    <a:lstStyle/>
                    <a:p>
                      <a:pPr>
                        <a:buNone/>
                      </a:pPr>
                      <a:r>
                        <a:rPr lang="en-US" sz="1100" cap="none" spc="0" dirty="0">
                          <a:solidFill>
                            <a:schemeClr val="tx1"/>
                          </a:solidFill>
                        </a:rPr>
                        <a:t>Control &amp; Flexibility</a:t>
                      </a:r>
                    </a:p>
                  </a:txBody>
                  <a:tcPr marL="58767" marR="83953" marT="16791" marB="125930"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Highly scalable with granular scalability with microservices; more flexible, quick migration between environments</a:t>
                      </a:r>
                    </a:p>
                    <a:p>
                      <a:endParaRPr lang="en-US" sz="1100" dirty="0"/>
                    </a:p>
                  </a:txBody>
                  <a:tcPr marL="58767" marR="83953" marT="16791" marB="12593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Scale can be costly; less flexibility, migration challenges</a:t>
                      </a:r>
                    </a:p>
                  </a:txBody>
                  <a:tcPr marL="58767" marR="83953" marT="16791" marB="125930"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66005013"/>
                  </a:ext>
                </a:extLst>
              </a:tr>
            </a:tbl>
          </a:graphicData>
        </a:graphic>
      </p:graphicFrame>
    </p:spTree>
    <p:extLst>
      <p:ext uri="{BB962C8B-B14F-4D97-AF65-F5344CB8AC3E}">
        <p14:creationId xmlns:p14="http://schemas.microsoft.com/office/powerpoint/2010/main" val="209390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C5E3-1D5F-4AE8-246A-1AF9A00D9851}"/>
              </a:ext>
            </a:extLst>
          </p:cNvPr>
          <p:cNvSpPr>
            <a:spLocks noGrp="1"/>
          </p:cNvSpPr>
          <p:nvPr>
            <p:ph type="title"/>
          </p:nvPr>
        </p:nvSpPr>
        <p:spPr/>
        <p:txBody>
          <a:bodyPr/>
          <a:lstStyle/>
          <a:p>
            <a:r>
              <a:rPr lang="en-US" dirty="0"/>
              <a:t>Containers &amp; Virtual Machines – When to use</a:t>
            </a:r>
          </a:p>
        </p:txBody>
      </p:sp>
      <p:sp>
        <p:nvSpPr>
          <p:cNvPr id="3" name="Text Placeholder 2">
            <a:extLst>
              <a:ext uri="{FF2B5EF4-FFF2-40B4-BE49-F238E27FC236}">
                <a16:creationId xmlns:a16="http://schemas.microsoft.com/office/drawing/2014/main" id="{63D56372-BADE-AC2D-128C-459C05BF33BA}"/>
              </a:ext>
            </a:extLst>
          </p:cNvPr>
          <p:cNvSpPr>
            <a:spLocks noGrp="1"/>
          </p:cNvSpPr>
          <p:nvPr>
            <p:ph type="body" idx="1"/>
          </p:nvPr>
        </p:nvSpPr>
        <p:spPr/>
        <p:txBody>
          <a:bodyPr/>
          <a:lstStyle/>
          <a:p>
            <a:r>
              <a:rPr lang="en-US" dirty="0"/>
              <a:t>Containers</a:t>
            </a:r>
          </a:p>
        </p:txBody>
      </p:sp>
      <p:graphicFrame>
        <p:nvGraphicFramePr>
          <p:cNvPr id="8" name="Content Placeholder 3">
            <a:extLst>
              <a:ext uri="{FF2B5EF4-FFF2-40B4-BE49-F238E27FC236}">
                <a16:creationId xmlns:a16="http://schemas.microsoft.com/office/drawing/2014/main" id="{660970C4-EE73-F26D-ADA6-59640FB0F497}"/>
              </a:ext>
            </a:extLst>
          </p:cNvPr>
          <p:cNvGraphicFramePr>
            <a:graphicFrameLocks noGrp="1"/>
          </p:cNvGraphicFramePr>
          <p:nvPr>
            <p:ph sz="half" idx="2"/>
            <p:extLst>
              <p:ext uri="{D42A27DB-BD31-4B8C-83A1-F6EECF244321}">
                <p14:modId xmlns:p14="http://schemas.microsoft.com/office/powerpoint/2010/main" val="1502753886"/>
              </p:ext>
            </p:extLst>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E6EA165E-2410-9A89-78D0-8484A0B7858F}"/>
              </a:ext>
            </a:extLst>
          </p:cNvPr>
          <p:cNvSpPr>
            <a:spLocks noGrp="1"/>
          </p:cNvSpPr>
          <p:nvPr>
            <p:ph type="body" sz="quarter" idx="3"/>
          </p:nvPr>
        </p:nvSpPr>
        <p:spPr/>
        <p:txBody>
          <a:bodyPr/>
          <a:lstStyle/>
          <a:p>
            <a:r>
              <a:rPr lang="en-US" dirty="0"/>
              <a:t>Virtual Machines</a:t>
            </a:r>
          </a:p>
        </p:txBody>
      </p:sp>
      <p:sp>
        <p:nvSpPr>
          <p:cNvPr id="6" name="Content Placeholder 5">
            <a:extLst>
              <a:ext uri="{FF2B5EF4-FFF2-40B4-BE49-F238E27FC236}">
                <a16:creationId xmlns:a16="http://schemas.microsoft.com/office/drawing/2014/main" id="{446A1CEB-4E0F-5308-407C-F83AE7D9BB22}"/>
              </a:ext>
            </a:extLst>
          </p:cNvPr>
          <p:cNvSpPr>
            <a:spLocks noGrp="1"/>
          </p:cNvSpPr>
          <p:nvPr>
            <p:ph sz="quarter" idx="4"/>
          </p:nvPr>
        </p:nvSpPr>
        <p:spPr/>
        <p:txBody>
          <a:bodyPr>
            <a:normAutofit/>
          </a:bodyPr>
          <a:lstStyle/>
          <a:p>
            <a:endParaRPr lang="en-US" dirty="0"/>
          </a:p>
        </p:txBody>
      </p:sp>
      <p:graphicFrame>
        <p:nvGraphicFramePr>
          <p:cNvPr id="10" name="Content Placeholder 3">
            <a:extLst>
              <a:ext uri="{FF2B5EF4-FFF2-40B4-BE49-F238E27FC236}">
                <a16:creationId xmlns:a16="http://schemas.microsoft.com/office/drawing/2014/main" id="{21C7100A-FD38-1F66-59B8-0EBF7D4FF339}"/>
              </a:ext>
            </a:extLst>
          </p:cNvPr>
          <p:cNvGraphicFramePr>
            <a:graphicFrameLocks/>
          </p:cNvGraphicFramePr>
          <p:nvPr>
            <p:extLst>
              <p:ext uri="{D42A27DB-BD31-4B8C-83A1-F6EECF244321}">
                <p14:modId xmlns:p14="http://schemas.microsoft.com/office/powerpoint/2010/main" val="796203531"/>
              </p:ext>
            </p:extLst>
          </p:nvPr>
        </p:nvGraphicFramePr>
        <p:xfrm>
          <a:off x="6194425" y="2505075"/>
          <a:ext cx="5157787" cy="36845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7367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dirty="0"/>
              <a:t>Cloud Computing and </a:t>
            </a:r>
            <a:r>
              <a:rPr lang="en" dirty="0" err="1"/>
              <a:t>CapEx</a:t>
            </a:r>
            <a:r>
              <a:rPr lang="en" dirty="0"/>
              <a:t> vs. </a:t>
            </a:r>
            <a:r>
              <a:rPr lang="en" dirty="0" err="1"/>
              <a:t>OpEx</a:t>
            </a:r>
            <a:endParaRPr dirty="0"/>
          </a:p>
        </p:txBody>
      </p:sp>
      <p:sp>
        <p:nvSpPr>
          <p:cNvPr id="99" name="Google Shape;99;p2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212932" indent="0">
              <a:buSzPct val="100000"/>
              <a:buNone/>
            </a:pPr>
            <a:r>
              <a:rPr lang="en" sz="2133" b="1" dirty="0">
                <a:solidFill>
                  <a:srgbClr val="00B0F0"/>
                </a:solidFill>
              </a:rPr>
              <a:t>Capital Expenditure (</a:t>
            </a:r>
            <a:r>
              <a:rPr lang="en" sz="2133" b="1" dirty="0" err="1">
                <a:solidFill>
                  <a:srgbClr val="00B0F0"/>
                </a:solidFill>
              </a:rPr>
              <a:t>CapEx</a:t>
            </a:r>
            <a:r>
              <a:rPr lang="en" sz="2133" b="1" dirty="0">
                <a:solidFill>
                  <a:srgbClr val="00B0F0"/>
                </a:solidFill>
              </a:rPr>
              <a:t>)</a:t>
            </a:r>
          </a:p>
          <a:p>
            <a:pPr marL="593922" indent="-380990">
              <a:buSzPct val="100000"/>
            </a:pPr>
            <a:r>
              <a:rPr lang="en" sz="1867" dirty="0"/>
              <a:t>Up-front payment on physical resources</a:t>
            </a:r>
          </a:p>
          <a:p>
            <a:pPr marL="593922" indent="-380990">
              <a:buSzPct val="100000"/>
            </a:pPr>
            <a:r>
              <a:rPr lang="en" sz="1867" dirty="0"/>
              <a:t>Resources are owned</a:t>
            </a:r>
          </a:p>
          <a:p>
            <a:pPr marL="593922" indent="-380990">
              <a:buSzPct val="100000"/>
            </a:pPr>
            <a:r>
              <a:rPr lang="en" sz="1867" dirty="0"/>
              <a:t>Value of resources depreciate over time</a:t>
            </a:r>
          </a:p>
          <a:p>
            <a:pPr marL="593922" indent="-380990">
              <a:buSzPct val="100000"/>
            </a:pPr>
            <a:r>
              <a:rPr lang="en" sz="1867" dirty="0"/>
              <a:t>Ongoing costs hidden</a:t>
            </a:r>
            <a:endParaRPr sz="1867" dirty="0"/>
          </a:p>
          <a:p>
            <a:pPr marL="212932" indent="0">
              <a:buSzPct val="100000"/>
              <a:buNone/>
            </a:pPr>
            <a:endParaRPr lang="en" sz="1867" b="1" dirty="0">
              <a:solidFill>
                <a:srgbClr val="0070C0"/>
              </a:solidFill>
            </a:endParaRPr>
          </a:p>
          <a:p>
            <a:pPr marL="212932" indent="0">
              <a:buSzPct val="100000"/>
              <a:buNone/>
            </a:pPr>
            <a:r>
              <a:rPr lang="en" sz="2133" b="1" dirty="0">
                <a:solidFill>
                  <a:srgbClr val="00B0F0"/>
                </a:solidFill>
              </a:rPr>
              <a:t>Operational Expenditure (</a:t>
            </a:r>
            <a:r>
              <a:rPr lang="en" sz="2133" b="1" dirty="0" err="1">
                <a:solidFill>
                  <a:srgbClr val="00B0F0"/>
                </a:solidFill>
              </a:rPr>
              <a:t>OpEx</a:t>
            </a:r>
            <a:r>
              <a:rPr lang="en" sz="2133" b="1" dirty="0">
                <a:solidFill>
                  <a:srgbClr val="00B0F0"/>
                </a:solidFill>
              </a:rPr>
              <a:t>)</a:t>
            </a:r>
            <a:endParaRPr sz="2133" b="1" dirty="0">
              <a:solidFill>
                <a:srgbClr val="00B0F0"/>
              </a:solidFill>
            </a:endParaRPr>
          </a:p>
          <a:p>
            <a:pPr indent="-396653">
              <a:buSzPct val="100000"/>
            </a:pPr>
            <a:r>
              <a:rPr lang="en" sz="1867" dirty="0"/>
              <a:t>Spend on products and services as needed, or pay-as-you-go</a:t>
            </a:r>
          </a:p>
          <a:p>
            <a:pPr indent="-396653">
              <a:buSzPct val="100000"/>
            </a:pPr>
            <a:r>
              <a:rPr lang="en" sz="1867" dirty="0"/>
              <a:t>No resource ownership</a:t>
            </a:r>
          </a:p>
          <a:p>
            <a:pPr indent="-396653">
              <a:buSzPct val="100000"/>
            </a:pPr>
            <a:r>
              <a:rPr lang="en" sz="1867" dirty="0"/>
              <a:t>Billed immediately</a:t>
            </a:r>
          </a:p>
          <a:p>
            <a:pPr indent="-396653">
              <a:buSzPct val="100000"/>
            </a:pPr>
            <a:r>
              <a:rPr lang="en" sz="1867" dirty="0"/>
              <a:t>Transparent costs</a:t>
            </a:r>
            <a:endParaRPr sz="1867" dirty="0"/>
          </a:p>
        </p:txBody>
      </p:sp>
      <p:pic>
        <p:nvPicPr>
          <p:cNvPr id="4098" name="Picture 2" descr="CapEx vs OpEx: What's the difference?">
            <a:extLst>
              <a:ext uri="{FF2B5EF4-FFF2-40B4-BE49-F238E27FC236}">
                <a16:creationId xmlns:a16="http://schemas.microsoft.com/office/drawing/2014/main" id="{389B0E0D-88A4-75C5-AC5A-EAA7F7F08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5018" y="1536634"/>
            <a:ext cx="4351383" cy="243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23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9">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9">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CF5690-9471-4CAC-37E0-46CBB9477F27}"/>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spcBef>
                <a:spcPct val="0"/>
              </a:spcBef>
            </a:pPr>
            <a:r>
              <a:rPr lang="en-US" sz="5400" kern="1200">
                <a:solidFill>
                  <a:schemeClr val="tx1"/>
                </a:solidFill>
                <a:latin typeface="+mj-lt"/>
                <a:ea typeface="+mj-ea"/>
                <a:cs typeface="+mj-cs"/>
              </a:rPr>
              <a:t>Benefits of Cloud Computing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ext Placeholder 2">
            <a:extLst>
              <a:ext uri="{FF2B5EF4-FFF2-40B4-BE49-F238E27FC236}">
                <a16:creationId xmlns:a16="http://schemas.microsoft.com/office/drawing/2014/main" id="{76D96083-A56E-6DB3-30E2-C18C0FD58203}"/>
              </a:ext>
            </a:extLst>
          </p:cNvPr>
          <p:cNvGraphicFramePr/>
          <p:nvPr>
            <p:extLst>
              <p:ext uri="{D42A27DB-BD31-4B8C-83A1-F6EECF244321}">
                <p14:modId xmlns:p14="http://schemas.microsoft.com/office/powerpoint/2010/main" val="2664289864"/>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390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395D0-E6DF-454E-AAB6-43741E322EC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kern="1200">
                <a:solidFill>
                  <a:schemeClr val="tx1"/>
                </a:solidFill>
                <a:latin typeface="+mj-lt"/>
                <a:ea typeface="+mj-ea"/>
                <a:cs typeface="+mj-cs"/>
              </a:rPr>
              <a:t>Cloud Service Models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C372B-E7F0-4A73-A75D-7BC1BF37C410}"/>
              </a:ext>
            </a:extLst>
          </p:cNvPr>
          <p:cNvSpPr txBox="1">
            <a:spLocks/>
          </p:cNvSpPr>
          <p:nvPr/>
        </p:nvSpPr>
        <p:spPr>
          <a:xfrm>
            <a:off x="838200" y="1929384"/>
            <a:ext cx="10515600" cy="42519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t>Public Cloud </a:t>
            </a:r>
            <a:r>
              <a:rPr lang="en-US" sz="2200" dirty="0"/>
              <a:t>: A </a:t>
            </a:r>
            <a:r>
              <a:rPr lang="en-US" sz="2200" b="0" i="0" dirty="0">
                <a:effectLst/>
              </a:rPr>
              <a:t>model where a service provider makes resources, such as applications and storage, available to the general public over the internet</a:t>
            </a:r>
            <a:br>
              <a:rPr lang="en-US" sz="2200" b="0" i="0" dirty="0">
                <a:effectLst/>
              </a:rPr>
            </a:br>
            <a:endParaRPr lang="en-US" sz="2200" b="0" i="0" dirty="0">
              <a:effectLst/>
            </a:endParaRPr>
          </a:p>
          <a:p>
            <a:r>
              <a:rPr lang="en-US" sz="2200" b="1" dirty="0"/>
              <a:t>Private Cloud </a:t>
            </a:r>
            <a:r>
              <a:rPr lang="en-US" sz="2200" dirty="0"/>
              <a:t>: A set of c</a:t>
            </a:r>
            <a:r>
              <a:rPr lang="en-US" sz="2200" b="0" i="0" dirty="0">
                <a:effectLst/>
              </a:rPr>
              <a:t>loud computing services enabled in an internal data center of an organization</a:t>
            </a:r>
            <a:br>
              <a:rPr lang="en-US" sz="2200" b="0" i="0" dirty="0">
                <a:effectLst/>
              </a:rPr>
            </a:br>
            <a:endParaRPr lang="en-US" sz="2200" b="0" i="0" dirty="0">
              <a:effectLst/>
            </a:endParaRPr>
          </a:p>
          <a:p>
            <a:r>
              <a:rPr lang="en-US" sz="2200" b="1" dirty="0"/>
              <a:t>Hybrid Cloud </a:t>
            </a:r>
            <a:r>
              <a:rPr lang="en-US" sz="2200" dirty="0"/>
              <a:t>: Any combination of Public, Private &amp; Community. </a:t>
            </a:r>
            <a:br>
              <a:rPr lang="en-US" sz="2200" dirty="0"/>
            </a:br>
            <a:r>
              <a:rPr lang="en-US" sz="2200" dirty="0"/>
              <a:t>E.g. -  any cloud (one or more) along with any static in-house data center (one or more) are integrated </a:t>
            </a:r>
          </a:p>
        </p:txBody>
      </p:sp>
    </p:spTree>
    <p:extLst>
      <p:ext uri="{BB962C8B-B14F-4D97-AF65-F5344CB8AC3E}">
        <p14:creationId xmlns:p14="http://schemas.microsoft.com/office/powerpoint/2010/main" val="2852567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395D0-E6DF-454E-AAB6-43741E322EC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kern="1200">
                <a:solidFill>
                  <a:schemeClr val="tx1"/>
                </a:solidFill>
                <a:latin typeface="+mj-lt"/>
                <a:ea typeface="+mj-ea"/>
                <a:cs typeface="+mj-cs"/>
              </a:rPr>
              <a:t>Managed Services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C372B-E7F0-4A73-A75D-7BC1BF37C410}"/>
              </a:ext>
            </a:extLst>
          </p:cNvPr>
          <p:cNvSpPr txBox="1">
            <a:spLocks/>
          </p:cNvSpPr>
          <p:nvPr/>
        </p:nvSpPr>
        <p:spPr>
          <a:xfrm>
            <a:off x="838200" y="1929384"/>
            <a:ext cx="10515600" cy="42519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0" i="0">
                <a:effectLst/>
              </a:rPr>
              <a:t>Managed cloud services are services that offer partial or complete management of a client’s cloud resources or infrastructure.</a:t>
            </a:r>
            <a:br>
              <a:rPr lang="en-US" sz="2200" b="0" i="0">
                <a:effectLst/>
              </a:rPr>
            </a:br>
            <a:endParaRPr lang="en-US" sz="2200" b="0" i="0">
              <a:effectLst/>
            </a:endParaRPr>
          </a:p>
          <a:p>
            <a:r>
              <a:rPr lang="en-US" sz="2200"/>
              <a:t>Provides out-of-the-box solutions for multiple use-cases. </a:t>
            </a:r>
            <a:br>
              <a:rPr lang="en-US" sz="2200" b="0" i="0">
                <a:effectLst/>
              </a:rPr>
            </a:br>
            <a:endParaRPr lang="en-US" sz="2200" b="0" i="0">
              <a:effectLst/>
            </a:endParaRPr>
          </a:p>
          <a:p>
            <a:r>
              <a:rPr lang="en-US" sz="2200"/>
              <a:t>Multiple configurations and pricing models are available so that you can select the one which is the best fit for your use-case. </a:t>
            </a:r>
          </a:p>
        </p:txBody>
      </p:sp>
    </p:spTree>
    <p:extLst>
      <p:ext uri="{BB962C8B-B14F-4D97-AF65-F5344CB8AC3E}">
        <p14:creationId xmlns:p14="http://schemas.microsoft.com/office/powerpoint/2010/main" val="3257621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395D0-E6DF-454E-AAB6-43741E322EC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kern="1200" dirty="0">
                <a:solidFill>
                  <a:schemeClr val="tx1"/>
                </a:solidFill>
                <a:latin typeface="+mj-lt"/>
                <a:ea typeface="+mj-ea"/>
                <a:cs typeface="+mj-cs"/>
              </a:rPr>
              <a:t>Cloud Deployment Models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C372B-E7F0-4A73-A75D-7BC1BF37C410}"/>
              </a:ext>
            </a:extLst>
          </p:cNvPr>
          <p:cNvSpPr txBox="1">
            <a:spLocks/>
          </p:cNvSpPr>
          <p:nvPr/>
        </p:nvSpPr>
        <p:spPr>
          <a:xfrm>
            <a:off x="838200" y="1929384"/>
            <a:ext cx="10515600" cy="42519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a:t>Infrastructure as a Service(IaaS)</a:t>
            </a:r>
            <a:r>
              <a:rPr lang="en-US" sz="2000"/>
              <a:t> :A</a:t>
            </a:r>
            <a:r>
              <a:rPr lang="en-US" sz="2000" b="0" i="0">
                <a:effectLst/>
              </a:rPr>
              <a:t> cloud computing service where enterprises rent or lease servers for compute and storage in the cloud.</a:t>
            </a:r>
            <a:r>
              <a:rPr lang="en-US" sz="2000"/>
              <a:t>  </a:t>
            </a:r>
          </a:p>
          <a:p>
            <a:r>
              <a:rPr lang="en-US" sz="2000" b="1"/>
              <a:t>Platform as a Service (PaaS)</a:t>
            </a:r>
            <a:r>
              <a:rPr lang="en-US" sz="2000"/>
              <a:t> : A</a:t>
            </a:r>
            <a:r>
              <a:rPr lang="en-US" sz="2000" b="0" i="0">
                <a:effectLst/>
              </a:rPr>
              <a:t> cloud computing model where a third-party provider delivers hardware and software tools to users over the internet.</a:t>
            </a:r>
            <a:endParaRPr lang="en-US" sz="2000"/>
          </a:p>
          <a:p>
            <a:r>
              <a:rPr lang="en-US" sz="2000" b="1"/>
              <a:t>Software as a Service (SaaS)</a:t>
            </a:r>
            <a:r>
              <a:rPr lang="en-US" sz="2000"/>
              <a:t> : A</a:t>
            </a:r>
            <a:r>
              <a:rPr lang="en-US" sz="2000" b="0" i="0">
                <a:effectLst/>
              </a:rPr>
              <a:t> method of software delivery and licensing in which software is accessed online via a subscription, rather than bought and installed on an individual computer</a:t>
            </a:r>
          </a:p>
          <a:p>
            <a:r>
              <a:rPr lang="en-US" sz="2000" b="1"/>
              <a:t>Container as a Service (CaaS)</a:t>
            </a:r>
            <a:r>
              <a:rPr lang="en-US" sz="2000"/>
              <a:t> : </a:t>
            </a:r>
            <a:r>
              <a:rPr lang="en-US" sz="2000" b="0" i="0">
                <a:effectLst/>
              </a:rPr>
              <a:t>Containers as a service ( CaaS ) is a cloud-based service that allows software developers and IT departments to upload, organize, run, scale, and manage containers by using container-based virtualization.</a:t>
            </a:r>
          </a:p>
          <a:p>
            <a:r>
              <a:rPr lang="en-US" sz="2000" b="1"/>
              <a:t>Serverless Deployment</a:t>
            </a:r>
            <a:r>
              <a:rPr lang="en-US" sz="2000"/>
              <a:t> : </a:t>
            </a:r>
            <a:r>
              <a:rPr lang="en-US" sz="2000" i="0">
                <a:effectLst/>
              </a:rPr>
              <a:t>Serverless is a </a:t>
            </a:r>
            <a:r>
              <a:rPr lang="en-US" sz="2000" i="0" u="none" strike="noStrike">
                <a:effectLst/>
              </a:rPr>
              <a:t>cloud-native</a:t>
            </a:r>
            <a:r>
              <a:rPr lang="en-US" sz="2000" i="0">
                <a:effectLst/>
              </a:rPr>
              <a:t> development model that allows developers to build and run applications without having to manage servers. There are still servers in serverless, but they are abstracted away from app development</a:t>
            </a:r>
          </a:p>
          <a:p>
            <a:endParaRPr lang="en-US" sz="2000"/>
          </a:p>
        </p:txBody>
      </p:sp>
    </p:spTree>
    <p:extLst>
      <p:ext uri="{BB962C8B-B14F-4D97-AF65-F5344CB8AC3E}">
        <p14:creationId xmlns:p14="http://schemas.microsoft.com/office/powerpoint/2010/main" val="363154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ervice&#10;&#10;AI-generated content may be incorrect.">
            <a:extLst>
              <a:ext uri="{FF2B5EF4-FFF2-40B4-BE49-F238E27FC236}">
                <a16:creationId xmlns:a16="http://schemas.microsoft.com/office/drawing/2014/main" id="{0852C465-C015-11C2-F5CE-440B3454F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1993"/>
            <a:ext cx="12468156" cy="6734013"/>
          </a:xfrm>
          <a:prstGeom prst="rect">
            <a:avLst/>
          </a:prstGeom>
        </p:spPr>
      </p:pic>
    </p:spTree>
    <p:extLst>
      <p:ext uri="{BB962C8B-B14F-4D97-AF65-F5344CB8AC3E}">
        <p14:creationId xmlns:p14="http://schemas.microsoft.com/office/powerpoint/2010/main" val="2947002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white sheet&#10;&#10;AI-generated content may be incorrect.">
            <a:extLst>
              <a:ext uri="{FF2B5EF4-FFF2-40B4-BE49-F238E27FC236}">
                <a16:creationId xmlns:a16="http://schemas.microsoft.com/office/drawing/2014/main" id="{6B4FCB9D-7E12-D6D7-42D6-E6F5C2940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375" y="0"/>
            <a:ext cx="5663250" cy="6858000"/>
          </a:xfrm>
          <a:prstGeom prst="rect">
            <a:avLst/>
          </a:prstGeom>
        </p:spPr>
      </p:pic>
    </p:spTree>
    <p:extLst>
      <p:ext uri="{BB962C8B-B14F-4D97-AF65-F5344CB8AC3E}">
        <p14:creationId xmlns:p14="http://schemas.microsoft.com/office/powerpoint/2010/main" val="1407167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62BE94D-50E8-294F-29A1-B32E40933F49}"/>
              </a:ext>
            </a:extLst>
          </p:cNvPr>
          <p:cNvPicPr>
            <a:picLocks noChangeAspect="1"/>
          </p:cNvPicPr>
          <p:nvPr/>
        </p:nvPicPr>
        <p:blipFill>
          <a:blip r:embed="rId3"/>
          <a:srcRect l="1315"/>
          <a:stretch/>
        </p:blipFill>
        <p:spPr>
          <a:xfrm>
            <a:off x="20" y="1282"/>
            <a:ext cx="12191980" cy="6856718"/>
          </a:xfrm>
          <a:prstGeom prst="rect">
            <a:avLst/>
          </a:prstGeom>
        </p:spPr>
      </p:pic>
      <p:sp>
        <p:nvSpPr>
          <p:cNvPr id="4" name="Title 3">
            <a:extLst>
              <a:ext uri="{FF2B5EF4-FFF2-40B4-BE49-F238E27FC236}">
                <a16:creationId xmlns:a16="http://schemas.microsoft.com/office/drawing/2014/main" id="{C84461E6-7BFC-0C3E-5251-E1D3ED56AA41}"/>
              </a:ext>
            </a:extLst>
          </p:cNvPr>
          <p:cNvSpPr txBox="1">
            <a:spLocks/>
          </p:cNvSpPr>
          <p:nvPr/>
        </p:nvSpPr>
        <p:spPr>
          <a:xfrm>
            <a:off x="0" y="104272"/>
            <a:ext cx="10730580" cy="34630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FFFFFF"/>
                </a:solidFill>
                <a:effectLst>
                  <a:outerShdw blurRad="38100" dist="38100" dir="2700000" algn="tl">
                    <a:srgbClr val="000000">
                      <a:alpha val="43137"/>
                    </a:srgbClr>
                  </a:outerShdw>
                </a:effectLst>
              </a:rPr>
              <a:t>AWS Global Infrastructure Map</a:t>
            </a:r>
            <a:endParaRPr lang="en-US" sz="2400" dirty="0">
              <a:solidFill>
                <a:srgbClr val="FFFFFF"/>
              </a:solidFill>
            </a:endParaRPr>
          </a:p>
        </p:txBody>
      </p:sp>
      <p:pic>
        <p:nvPicPr>
          <p:cNvPr id="5" name="Picture 4">
            <a:extLst>
              <a:ext uri="{FF2B5EF4-FFF2-40B4-BE49-F238E27FC236}">
                <a16:creationId xmlns:a16="http://schemas.microsoft.com/office/drawing/2014/main" id="{B916170E-1F70-EBA3-87B4-0428CF4F4858}"/>
              </a:ext>
            </a:extLst>
          </p:cNvPr>
          <p:cNvPicPr>
            <a:picLocks noChangeAspect="1"/>
          </p:cNvPicPr>
          <p:nvPr/>
        </p:nvPicPr>
        <p:blipFill>
          <a:blip r:embed="rId4"/>
          <a:stretch>
            <a:fillRect/>
          </a:stretch>
        </p:blipFill>
        <p:spPr>
          <a:xfrm>
            <a:off x="4975363" y="6510416"/>
            <a:ext cx="1416690" cy="346302"/>
          </a:xfrm>
          <a:prstGeom prst="rect">
            <a:avLst/>
          </a:prstGeom>
        </p:spPr>
      </p:pic>
      <p:pic>
        <p:nvPicPr>
          <p:cNvPr id="6" name="Picture 5">
            <a:extLst>
              <a:ext uri="{FF2B5EF4-FFF2-40B4-BE49-F238E27FC236}">
                <a16:creationId xmlns:a16="http://schemas.microsoft.com/office/drawing/2014/main" id="{3702C40E-0581-521E-7732-2047E03C8181}"/>
              </a:ext>
            </a:extLst>
          </p:cNvPr>
          <p:cNvPicPr>
            <a:picLocks noChangeAspect="1"/>
          </p:cNvPicPr>
          <p:nvPr/>
        </p:nvPicPr>
        <p:blipFill>
          <a:blip r:embed="rId5"/>
          <a:stretch>
            <a:fillRect/>
          </a:stretch>
        </p:blipFill>
        <p:spPr>
          <a:xfrm>
            <a:off x="6392053" y="6509134"/>
            <a:ext cx="1665269" cy="300294"/>
          </a:xfrm>
          <a:prstGeom prst="rect">
            <a:avLst/>
          </a:prstGeom>
        </p:spPr>
      </p:pic>
    </p:spTree>
    <p:extLst>
      <p:ext uri="{BB962C8B-B14F-4D97-AF65-F5344CB8AC3E}">
        <p14:creationId xmlns:p14="http://schemas.microsoft.com/office/powerpoint/2010/main" val="1590088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E360C4-1F9A-863A-9420-1D88AAB0C01C}"/>
              </a:ext>
            </a:extLst>
          </p:cNvPr>
          <p:cNvPicPr>
            <a:picLocks noChangeAspect="1"/>
          </p:cNvPicPr>
          <p:nvPr/>
        </p:nvPicPr>
        <p:blipFill>
          <a:blip r:embed="rId2"/>
          <a:stretch>
            <a:fillRect/>
          </a:stretch>
        </p:blipFill>
        <p:spPr>
          <a:xfrm>
            <a:off x="643467" y="948098"/>
            <a:ext cx="10905066" cy="4961802"/>
          </a:xfrm>
          <a:prstGeom prst="rect">
            <a:avLst/>
          </a:prstGeom>
        </p:spPr>
      </p:pic>
    </p:spTree>
    <p:extLst>
      <p:ext uri="{BB962C8B-B14F-4D97-AF65-F5344CB8AC3E}">
        <p14:creationId xmlns:p14="http://schemas.microsoft.com/office/powerpoint/2010/main" val="1307192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570CC06-DB21-401C-BCF8-AAC5FF550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A45008-632F-92D6-1CDD-F715E7C9BF04}"/>
              </a:ext>
            </a:extLst>
          </p:cNvPr>
          <p:cNvSpPr>
            <a:spLocks noGrp="1"/>
          </p:cNvSpPr>
          <p:nvPr>
            <p:ph type="title"/>
          </p:nvPr>
        </p:nvSpPr>
        <p:spPr>
          <a:xfrm>
            <a:off x="640080" y="640080"/>
            <a:ext cx="3566160" cy="3580330"/>
          </a:xfrm>
        </p:spPr>
        <p:txBody>
          <a:bodyPr vert="horz" lIns="91440" tIns="45720" rIns="91440" bIns="45720" rtlCol="0" anchor="b">
            <a:normAutofit/>
          </a:bodyPr>
          <a:lstStyle/>
          <a:p>
            <a:r>
              <a:rPr lang="en-US" sz="5400"/>
              <a:t>Type of Services</a:t>
            </a:r>
          </a:p>
        </p:txBody>
      </p:sp>
      <p:pic>
        <p:nvPicPr>
          <p:cNvPr id="5" name="Picture 4">
            <a:extLst>
              <a:ext uri="{FF2B5EF4-FFF2-40B4-BE49-F238E27FC236}">
                <a16:creationId xmlns:a16="http://schemas.microsoft.com/office/drawing/2014/main" id="{A21BF7BF-B2F2-243D-04DF-1062CD8790B3}"/>
              </a:ext>
            </a:extLst>
          </p:cNvPr>
          <p:cNvPicPr>
            <a:picLocks noChangeAspect="1"/>
          </p:cNvPicPr>
          <p:nvPr/>
        </p:nvPicPr>
        <p:blipFill>
          <a:blip r:embed="rId3"/>
          <a:stretch>
            <a:fillRect/>
          </a:stretch>
        </p:blipFill>
        <p:spPr>
          <a:xfrm>
            <a:off x="4849037" y="1000731"/>
            <a:ext cx="3300984" cy="2698554"/>
          </a:xfrm>
          <a:prstGeom prst="rect">
            <a:avLst/>
          </a:prstGeom>
        </p:spPr>
      </p:pic>
      <p:pic>
        <p:nvPicPr>
          <p:cNvPr id="3" name="Picture 2">
            <a:extLst>
              <a:ext uri="{FF2B5EF4-FFF2-40B4-BE49-F238E27FC236}">
                <a16:creationId xmlns:a16="http://schemas.microsoft.com/office/drawing/2014/main" id="{55EF52CE-A36B-1699-D34A-16D89BD4D271}"/>
              </a:ext>
            </a:extLst>
          </p:cNvPr>
          <p:cNvPicPr>
            <a:picLocks noChangeAspect="1"/>
          </p:cNvPicPr>
          <p:nvPr/>
        </p:nvPicPr>
        <p:blipFill>
          <a:blip r:embed="rId4"/>
          <a:stretch>
            <a:fillRect/>
          </a:stretch>
        </p:blipFill>
        <p:spPr>
          <a:xfrm>
            <a:off x="8287181" y="948965"/>
            <a:ext cx="3438144" cy="2802086"/>
          </a:xfrm>
          <a:prstGeom prst="rect">
            <a:avLst/>
          </a:prstGeom>
        </p:spPr>
      </p:pic>
      <p:sp>
        <p:nvSpPr>
          <p:cNvPr id="21" name="sketch line">
            <a:extLst>
              <a:ext uri="{FF2B5EF4-FFF2-40B4-BE49-F238E27FC236}">
                <a16:creationId xmlns:a16="http://schemas.microsoft.com/office/drawing/2014/main" id="{15B998FC-4B98-4A07-B159-9E629180A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4409267"/>
            <a:ext cx="3566160" cy="18288"/>
          </a:xfrm>
          <a:custGeom>
            <a:avLst/>
            <a:gdLst>
              <a:gd name="csX0" fmla="*/ 0 w 3566160"/>
              <a:gd name="csY0" fmla="*/ 0 h 18288"/>
              <a:gd name="csX1" fmla="*/ 665683 w 3566160"/>
              <a:gd name="csY1" fmla="*/ 0 h 18288"/>
              <a:gd name="csX2" fmla="*/ 1331366 w 3566160"/>
              <a:gd name="csY2" fmla="*/ 0 h 18288"/>
              <a:gd name="csX3" fmla="*/ 1818742 w 3566160"/>
              <a:gd name="csY3" fmla="*/ 0 h 18288"/>
              <a:gd name="csX4" fmla="*/ 2413102 w 3566160"/>
              <a:gd name="csY4" fmla="*/ 0 h 18288"/>
              <a:gd name="csX5" fmla="*/ 2936138 w 3566160"/>
              <a:gd name="csY5" fmla="*/ 0 h 18288"/>
              <a:gd name="csX6" fmla="*/ 3566160 w 3566160"/>
              <a:gd name="csY6" fmla="*/ 0 h 18288"/>
              <a:gd name="csX7" fmla="*/ 3566160 w 3566160"/>
              <a:gd name="csY7" fmla="*/ 18288 h 18288"/>
              <a:gd name="csX8" fmla="*/ 2971800 w 3566160"/>
              <a:gd name="csY8" fmla="*/ 18288 h 18288"/>
              <a:gd name="csX9" fmla="*/ 2448763 w 3566160"/>
              <a:gd name="csY9" fmla="*/ 18288 h 18288"/>
              <a:gd name="csX10" fmla="*/ 1854403 w 3566160"/>
              <a:gd name="csY10" fmla="*/ 18288 h 18288"/>
              <a:gd name="csX11" fmla="*/ 1295705 w 3566160"/>
              <a:gd name="csY11" fmla="*/ 18288 h 18288"/>
              <a:gd name="csX12" fmla="*/ 772668 w 3566160"/>
              <a:gd name="csY12" fmla="*/ 18288 h 18288"/>
              <a:gd name="csX13" fmla="*/ 0 w 3566160"/>
              <a:gd name="csY13" fmla="*/ 18288 h 18288"/>
              <a:gd name="csX14" fmla="*/ 0 w 356616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CB2117A-BC0C-FCEA-26D4-888F418CCDE5}"/>
              </a:ext>
            </a:extLst>
          </p:cNvPr>
          <p:cNvPicPr>
            <a:picLocks noChangeAspect="1"/>
          </p:cNvPicPr>
          <p:nvPr/>
        </p:nvPicPr>
        <p:blipFill>
          <a:blip r:embed="rId5"/>
          <a:stretch>
            <a:fillRect/>
          </a:stretch>
        </p:blipFill>
        <p:spPr>
          <a:xfrm>
            <a:off x="5205844" y="4215384"/>
            <a:ext cx="2587370" cy="2011680"/>
          </a:xfrm>
          <a:prstGeom prst="rect">
            <a:avLst/>
          </a:prstGeom>
        </p:spPr>
      </p:pic>
      <p:pic>
        <p:nvPicPr>
          <p:cNvPr id="4" name="Picture 3">
            <a:extLst>
              <a:ext uri="{FF2B5EF4-FFF2-40B4-BE49-F238E27FC236}">
                <a16:creationId xmlns:a16="http://schemas.microsoft.com/office/drawing/2014/main" id="{72A4B27A-F6B2-BD23-0D28-A571A88327C9}"/>
              </a:ext>
            </a:extLst>
          </p:cNvPr>
          <p:cNvPicPr>
            <a:picLocks noChangeAspect="1"/>
          </p:cNvPicPr>
          <p:nvPr/>
        </p:nvPicPr>
        <p:blipFill>
          <a:blip r:embed="rId6"/>
          <a:stretch>
            <a:fillRect/>
          </a:stretch>
        </p:blipFill>
        <p:spPr>
          <a:xfrm>
            <a:off x="8521616" y="4215384"/>
            <a:ext cx="2969270" cy="2011680"/>
          </a:xfrm>
          <a:prstGeom prst="rect">
            <a:avLst/>
          </a:prstGeom>
        </p:spPr>
      </p:pic>
    </p:spTree>
    <p:extLst>
      <p:ext uri="{BB962C8B-B14F-4D97-AF65-F5344CB8AC3E}">
        <p14:creationId xmlns:p14="http://schemas.microsoft.com/office/powerpoint/2010/main" val="365907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AE394F-AFF1-4485-AF1F-7387A2F04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Question mark against red wall">
            <a:extLst>
              <a:ext uri="{FF2B5EF4-FFF2-40B4-BE49-F238E27FC236}">
                <a16:creationId xmlns:a16="http://schemas.microsoft.com/office/drawing/2014/main" id="{B93572B4-F2C1-9C49-76B2-339E2BAD98A7}"/>
              </a:ext>
            </a:extLst>
          </p:cNvPr>
          <p:cNvPicPr>
            <a:picLocks noChangeAspect="1"/>
          </p:cNvPicPr>
          <p:nvPr/>
        </p:nvPicPr>
        <p:blipFill rotWithShape="1">
          <a:blip r:embed="rId2"/>
          <a:srcRect b="7025"/>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321733" y="554845"/>
            <a:ext cx="10656891" cy="3902673"/>
          </a:xfrm>
        </p:spPr>
        <p:txBody>
          <a:bodyPr vert="horz" lIns="91440" tIns="45720" rIns="91440" bIns="45720" rtlCol="0" anchor="t">
            <a:normAutofit/>
          </a:bodyPr>
          <a:lstStyle/>
          <a:p>
            <a:r>
              <a:rPr kumimoji="0" lang="en-US" sz="5200" b="0" i="0" u="none" strike="noStrike" cap="none" spc="0" normalizeH="0" baseline="0" noProof="0" dirty="0">
                <a:ln>
                  <a:noFill/>
                </a:ln>
                <a:solidFill>
                  <a:srgbClr val="FFFFFF"/>
                </a:solidFill>
                <a:effectLst>
                  <a:outerShdw blurRad="38100" dist="38100" dir="2700000" algn="tl">
                    <a:srgbClr val="000000">
                      <a:alpha val="43137"/>
                    </a:srgbClr>
                  </a:outerShdw>
                </a:effectLst>
                <a:uLnTx/>
                <a:uFillTx/>
              </a:rPr>
              <a:t>Guided Launch</a:t>
            </a:r>
            <a:br>
              <a:rPr kumimoji="0" lang="en-US" sz="5200" b="0" i="0" u="none" strike="noStrike" cap="none" spc="0" normalizeH="0" baseline="0" noProof="0" dirty="0">
                <a:ln>
                  <a:noFill/>
                </a:ln>
                <a:solidFill>
                  <a:srgbClr val="FFFFFF"/>
                </a:solidFill>
                <a:effectLst>
                  <a:outerShdw blurRad="38100" dist="38100" dir="2700000" algn="tl">
                    <a:srgbClr val="000000">
                      <a:alpha val="43137"/>
                    </a:srgbClr>
                  </a:outerShdw>
                </a:effectLst>
                <a:uLnTx/>
                <a:uFillTx/>
              </a:rPr>
            </a:br>
            <a:r>
              <a:rPr kumimoji="0" lang="en-US" sz="5200" b="0" i="0" u="none" strike="noStrike" cap="none" spc="0" normalizeH="0" baseline="0" noProof="0" dirty="0">
                <a:ln>
                  <a:noFill/>
                </a:ln>
                <a:solidFill>
                  <a:srgbClr val="FFFFFF"/>
                </a:solidFill>
                <a:effectLst>
                  <a:outerShdw blurRad="38100" dist="38100" dir="2700000" algn="tl">
                    <a:srgbClr val="000000">
                      <a:alpha val="43137"/>
                    </a:srgbClr>
                  </a:outerShdw>
                </a:effectLst>
                <a:uLnTx/>
                <a:uFillTx/>
              </a:rPr>
              <a:t>And</a:t>
            </a:r>
            <a:br>
              <a:rPr kumimoji="0" lang="en-US" sz="5200" b="0" i="0" u="none" strike="noStrike" cap="none" spc="0" normalizeH="0" baseline="0" noProof="0" dirty="0">
                <a:ln>
                  <a:noFill/>
                </a:ln>
                <a:solidFill>
                  <a:srgbClr val="FFFFFF"/>
                </a:solidFill>
                <a:effectLst>
                  <a:outerShdw blurRad="38100" dist="38100" dir="2700000" algn="tl">
                    <a:srgbClr val="000000">
                      <a:alpha val="43137"/>
                    </a:srgbClr>
                  </a:outerShdw>
                </a:effectLst>
                <a:uLnTx/>
                <a:uFillTx/>
              </a:rPr>
            </a:br>
            <a:r>
              <a:rPr kumimoji="0" lang="en-US" sz="5200" b="0" i="0" u="none" strike="noStrike" cap="none" spc="0" normalizeH="0" baseline="0" noProof="0" dirty="0">
                <a:ln>
                  <a:noFill/>
                </a:ln>
                <a:solidFill>
                  <a:srgbClr val="FFFFFF"/>
                </a:solidFill>
                <a:effectLst>
                  <a:outerShdw blurRad="38100" dist="38100" dir="2700000" algn="tl">
                    <a:srgbClr val="000000">
                      <a:alpha val="43137"/>
                    </a:srgbClr>
                  </a:outerShdw>
                </a:effectLst>
                <a:uLnTx/>
                <a:uFillTx/>
              </a:rPr>
              <a:t>Q&amp;A</a:t>
            </a:r>
            <a:endParaRPr lang="en-US" sz="5200" dirty="0">
              <a:solidFill>
                <a:srgbClr val="FFFFFF"/>
              </a:solidFill>
            </a:endParaRPr>
          </a:p>
        </p:txBody>
      </p:sp>
      <p:sp>
        <p:nvSpPr>
          <p:cNvPr id="14" name="Rectangle 13">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7" y="4704862"/>
            <a:ext cx="12191999" cy="2155484"/>
          </a:xfrm>
          <a:prstGeom prst="rect">
            <a:avLst/>
          </a:prstGeom>
          <a:gradFill flip="none" rotWithShape="1">
            <a:gsLst>
              <a:gs pos="59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0"/>
          <p:cNvSpPr txBox="1">
            <a:spLocks noGrp="1"/>
          </p:cNvSpPr>
          <p:nvPr>
            <p:ph type="title"/>
          </p:nvPr>
        </p:nvSpPr>
        <p:spPr>
          <a:xfrm>
            <a:off x="354000" y="1644233"/>
            <a:ext cx="5393600" cy="1976400"/>
          </a:xfrm>
        </p:spPr>
        <p:txBody>
          <a:bodyPr spcFirstLastPara="1" vert="horz" wrap="square" lIns="121900" tIns="121900" rIns="121900" bIns="121900" rtlCol="0" anchor="b" anchorCtr="0">
            <a:normAutofit/>
          </a:bodyPr>
          <a:lstStyle/>
          <a:p>
            <a:r>
              <a:rPr lang="en-US" sz="4400" dirty="0"/>
              <a:t>The cloud is actually physical….</a:t>
            </a:r>
          </a:p>
        </p:txBody>
      </p:sp>
      <p:sp>
        <p:nvSpPr>
          <p:cNvPr id="162" name="Subtitle 2">
            <a:extLst>
              <a:ext uri="{FF2B5EF4-FFF2-40B4-BE49-F238E27FC236}">
                <a16:creationId xmlns:a16="http://schemas.microsoft.com/office/drawing/2014/main" id="{25ABAF50-6951-2B81-2D13-F9002A83FBF1}"/>
              </a:ext>
            </a:extLst>
          </p:cNvPr>
          <p:cNvSpPr>
            <a:spLocks noGrp="1"/>
          </p:cNvSpPr>
          <p:nvPr>
            <p:ph type="subTitle" idx="1"/>
          </p:nvPr>
        </p:nvSpPr>
        <p:spPr>
          <a:xfrm>
            <a:off x="354000" y="3737433"/>
            <a:ext cx="5393600" cy="1646800"/>
          </a:xfrm>
        </p:spPr>
        <p:txBody>
          <a:bodyPr/>
          <a:lstStyle/>
          <a:p>
            <a:endParaRPr lang="en-US" dirty="0"/>
          </a:p>
        </p:txBody>
      </p:sp>
      <p:sp>
        <p:nvSpPr>
          <p:cNvPr id="157" name="Google Shape;157;p30"/>
          <p:cNvSpPr txBox="1">
            <a:spLocks noGrp="1"/>
          </p:cNvSpPr>
          <p:nvPr>
            <p:ph type="body" idx="2"/>
          </p:nvPr>
        </p:nvSpPr>
        <p:spPr>
          <a:xfrm>
            <a:off x="6586000" y="965433"/>
            <a:ext cx="5116000" cy="4926800"/>
          </a:xfrm>
        </p:spPr>
        <p:txBody>
          <a:bodyPr spcFirstLastPara="1" vert="horz" wrap="square" lIns="121900" tIns="121900" rIns="121900" bIns="121900" rtlCol="0" anchor="ctr" anchorCtr="0">
            <a:normAutofit lnSpcReduction="10000"/>
          </a:bodyPr>
          <a:lstStyle/>
          <a:p>
            <a:pPr marL="0" indent="0">
              <a:spcBef>
                <a:spcPts val="1600"/>
              </a:spcBef>
              <a:buNone/>
            </a:pPr>
            <a:r>
              <a:rPr lang="en-US" b="1" dirty="0"/>
              <a:t>Explore a Google Data Center:</a:t>
            </a:r>
          </a:p>
          <a:p>
            <a:pPr marL="0" indent="0">
              <a:spcBef>
                <a:spcPts val="1600"/>
              </a:spcBef>
              <a:spcAft>
                <a:spcPts val="1600"/>
              </a:spcAft>
              <a:buNone/>
            </a:pPr>
            <a:r>
              <a:rPr lang="en-US" dirty="0">
                <a:hlinkClick r:id="rId3"/>
              </a:rPr>
              <a:t>https://www.youtube.com/watch?v=avP5d16wEp0</a:t>
            </a:r>
            <a:endParaRPr lang="en-US" dirty="0"/>
          </a:p>
          <a:p>
            <a:pPr marL="0" indent="0">
              <a:spcBef>
                <a:spcPts val="1600"/>
              </a:spcBef>
              <a:spcAft>
                <a:spcPts val="1600"/>
              </a:spcAft>
              <a:buNone/>
            </a:pPr>
            <a:endParaRPr lang="en-US" dirty="0"/>
          </a:p>
          <a:p>
            <a:pPr marL="0" indent="0">
              <a:spcBef>
                <a:spcPts val="1600"/>
              </a:spcBef>
              <a:spcAft>
                <a:spcPts val="1600"/>
              </a:spcAft>
              <a:buNone/>
            </a:pPr>
            <a:r>
              <a:rPr lang="en-US" b="1" dirty="0"/>
              <a:t>Inside Amazon’s Massive Data Center:</a:t>
            </a:r>
          </a:p>
          <a:p>
            <a:pPr marL="0" indent="0">
              <a:spcBef>
                <a:spcPts val="1600"/>
              </a:spcBef>
              <a:spcAft>
                <a:spcPts val="1600"/>
              </a:spcAft>
              <a:buNone/>
            </a:pPr>
            <a:r>
              <a:rPr lang="en-US" dirty="0">
                <a:hlinkClick r:id="rId4"/>
              </a:rPr>
              <a:t>https://www.youtube.com/watch?v=q6WlzHLxNKI</a:t>
            </a:r>
            <a:endParaRPr lang="en-US" dirty="0"/>
          </a:p>
          <a:p>
            <a:pPr marL="0" indent="0">
              <a:spcBef>
                <a:spcPts val="1600"/>
              </a:spcBef>
              <a:spcAft>
                <a:spcPts val="1600"/>
              </a:spcAft>
              <a:buNone/>
            </a:pPr>
            <a:endParaRPr lang="en-US" dirty="0"/>
          </a:p>
        </p:txBody>
      </p:sp>
      <p:pic>
        <p:nvPicPr>
          <p:cNvPr id="2" name="Picture 1">
            <a:extLst>
              <a:ext uri="{FF2B5EF4-FFF2-40B4-BE49-F238E27FC236}">
                <a16:creationId xmlns:a16="http://schemas.microsoft.com/office/drawing/2014/main" id="{AD2DD4FF-5A69-539A-B973-D8190173698F}"/>
              </a:ext>
            </a:extLst>
          </p:cNvPr>
          <p:cNvPicPr>
            <a:picLocks noChangeAspect="1"/>
          </p:cNvPicPr>
          <p:nvPr/>
        </p:nvPicPr>
        <p:blipFill>
          <a:blip r:embed="rId5"/>
          <a:stretch>
            <a:fillRect/>
          </a:stretch>
        </p:blipFill>
        <p:spPr>
          <a:xfrm>
            <a:off x="463416" y="3737433"/>
            <a:ext cx="5174768" cy="1976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4e040b739ec6329_6"/>
          <p:cNvSpPr txBox="1">
            <a:spLocks noGrp="1"/>
          </p:cNvSpPr>
          <p:nvPr>
            <p:ph type="title"/>
          </p:nvPr>
        </p:nvSpPr>
        <p:spPr>
          <a:xfrm>
            <a:off x="338455" y="258445"/>
            <a:ext cx="11506800" cy="611400"/>
          </a:xfrm>
          <a:prstGeom prst="rect">
            <a:avLst/>
          </a:prstGeom>
        </p:spPr>
        <p:txBody>
          <a:bodyPr spcFirstLastPara="1" wrap="square" lIns="91425" tIns="45700" rIns="91425" bIns="45700" numCol="1" anchor="ctr" anchorCtr="0">
            <a:normAutofit/>
          </a:bodyPr>
          <a:lstStyle/>
          <a:p>
            <a:pPr marL="0" lvl="0" indent="0" algn="l" rtl="0">
              <a:spcBef>
                <a:spcPts val="0"/>
              </a:spcBef>
              <a:spcAft>
                <a:spcPts val="0"/>
              </a:spcAft>
              <a:buNone/>
            </a:pPr>
            <a:r>
              <a:rPr lang="en-US"/>
              <a:t>Shared Responsibility Model</a:t>
            </a:r>
            <a:endParaRPr/>
          </a:p>
        </p:txBody>
      </p:sp>
      <p:pic>
        <p:nvPicPr>
          <p:cNvPr id="133" name="Google Shape;133;g4e040b739ec6329_6"/>
          <p:cNvPicPr preferRelativeResize="0"/>
          <p:nvPr/>
        </p:nvPicPr>
        <p:blipFill>
          <a:blip r:embed="rId3">
            <a:alphaModFix/>
          </a:blip>
          <a:stretch>
            <a:fillRect/>
          </a:stretch>
        </p:blipFill>
        <p:spPr>
          <a:xfrm>
            <a:off x="748307" y="1048375"/>
            <a:ext cx="9845276" cy="5393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137037" y="609600"/>
            <a:ext cx="5915197" cy="1330519"/>
          </a:xfrm>
        </p:spPr>
        <p:txBody>
          <a:bodyPr>
            <a:normAutofit/>
          </a:bodyPr>
          <a:lstStyle/>
          <a:p>
            <a:r>
              <a:rPr lang="en-US" altLang="en-US">
                <a:sym typeface="+mn-ea"/>
              </a:rPr>
              <a:t>Research: Cloud Computing Is Helping Smaller, Newer Firms Compete</a:t>
            </a:r>
            <a:endParaRPr lang="en-US" altLang="en-US"/>
          </a:p>
        </p:txBody>
      </p:sp>
      <p:sp>
        <p:nvSpPr>
          <p:cNvPr id="3" name="Content Placeholder 2"/>
          <p:cNvSpPr>
            <a:spLocks noGrp="1"/>
          </p:cNvSpPr>
          <p:nvPr>
            <p:ph idx="1"/>
          </p:nvPr>
        </p:nvSpPr>
        <p:spPr>
          <a:xfrm>
            <a:off x="1137037" y="2549718"/>
            <a:ext cx="5747857" cy="3552969"/>
          </a:xfrm>
        </p:spPr>
        <p:txBody>
          <a:bodyPr>
            <a:normAutofit/>
          </a:bodyPr>
          <a:lstStyle/>
          <a:p>
            <a:pPr lvl="0"/>
            <a:r>
              <a:rPr lang="en-US" altLang="en-US" sz="1100">
                <a:sym typeface="+mn-ea"/>
              </a:rPr>
              <a:t>KenSci is a small Seattle-based healthcare analytics company, which uses machine learning techniques to analyze hundreds of variables about patients’ conditions to provide real-time predictions</a:t>
            </a:r>
          </a:p>
          <a:p>
            <a:pPr lvl="0"/>
            <a:r>
              <a:rPr lang="en-US" altLang="en-US" sz="1100">
                <a:sym typeface="+mn-ea"/>
              </a:rPr>
              <a:t>Pivothead is a firm with 25 employees producing wearable technologies to help the blind and visually impaired</a:t>
            </a:r>
          </a:p>
          <a:p>
            <a:pPr lvl="0"/>
            <a:r>
              <a:rPr lang="en-US" altLang="en-US" sz="1100">
                <a:sym typeface="+mn-ea"/>
              </a:rPr>
              <a:t>These anecdotes suggest that cloud computing has “democratized computing” by bringing it to the masses of firms.</a:t>
            </a:r>
          </a:p>
          <a:p>
            <a:pPr lvl="0"/>
            <a:endParaRPr lang="en-US" altLang="en-US" sz="1100"/>
          </a:p>
          <a:p>
            <a:pPr lvl="0"/>
            <a:r>
              <a:rPr lang="en-US" altLang="en-US" sz="1100"/>
              <a:t>“In this paper we use the records from more than 150,000 U.S. firms with information on their adoption of cloud computing.” (as on 2016)</a:t>
            </a:r>
          </a:p>
          <a:p>
            <a:pPr lvl="1"/>
            <a:r>
              <a:rPr lang="en-US" altLang="en-US" sz="1100"/>
              <a:t>Less than 0.5% of firms had adopted it in 2010, whereas 7% had by 2016, which is an annualized growth rate of almost 50%. </a:t>
            </a:r>
          </a:p>
          <a:p>
            <a:pPr lvl="1"/>
            <a:r>
              <a:rPr lang="en-US" altLang="en-US" sz="1100"/>
              <a:t>Firms with fewer than 25 employees have adoption rates of 10% to 15% on average</a:t>
            </a:r>
          </a:p>
          <a:p>
            <a:pPr lvl="1"/>
            <a:r>
              <a:rPr lang="en-US" altLang="en-US" sz="1100"/>
              <a:t>Although we don’t have data on how cloud computing affects firm performance, it’s not hard to imagine that lowering computing costs would substantially improve younger and smaller companies’ chances</a:t>
            </a:r>
          </a:p>
          <a:p>
            <a:pPr lvl="0"/>
            <a:r>
              <a:rPr lang="en-US" altLang="en-US" sz="1100"/>
              <a:t>2020+ question has changed - “Why do we need cloud?” to “Why we don’t need cloud?”</a:t>
            </a:r>
          </a:p>
        </p:txBody>
      </p:sp>
      <p:sp>
        <p:nvSpPr>
          <p:cNvPr id="20" name="Freeform: Shape 19">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p:cNvPicPr>
            <a:picLocks noChangeAspect="1"/>
          </p:cNvPicPr>
          <p:nvPr/>
        </p:nvPicPr>
        <p:blipFill rotWithShape="1">
          <a:blip r:embed="rId3"/>
          <a:srcRect l="413" r="7716" b="1"/>
          <a:stretch/>
        </p:blipFill>
        <p:spPr>
          <a:xfrm>
            <a:off x="7761092" y="771383"/>
            <a:ext cx="3684567" cy="5311922"/>
          </a:xfrm>
          <a:prstGeom prst="rect">
            <a:avLst/>
          </a:prstGeom>
        </p:spPr>
      </p:pic>
      <p:sp>
        <p:nvSpPr>
          <p:cNvPr id="22" name="Freeform: Shape 21">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1" y="5800300"/>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
            <a:extLst>
              <a:ext uri="{FF2B5EF4-FFF2-40B4-BE49-F238E27FC236}">
                <a16:creationId xmlns:a16="http://schemas.microsoft.com/office/drawing/2014/main" id="{8D91DE60-2C2D-4D7E-A6B4-C9499017D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82623" y="612877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54296" y="329184"/>
            <a:ext cx="6894576" cy="1783080"/>
          </a:xfrm>
        </p:spPr>
        <p:txBody>
          <a:bodyPr anchor="b">
            <a:normAutofit/>
          </a:bodyPr>
          <a:lstStyle/>
          <a:p>
            <a:r>
              <a:rPr lang="en-US" altLang="en-US" sz="5400">
                <a:sym typeface="+mn-ea"/>
              </a:rPr>
              <a:t>The Everywhere Enterprise</a:t>
            </a:r>
          </a:p>
        </p:txBody>
      </p:sp>
      <p:pic>
        <p:nvPicPr>
          <p:cNvPr id="4" name="Picture 3"/>
          <p:cNvPicPr>
            <a:picLocks noChangeAspect="1"/>
          </p:cNvPicPr>
          <p:nvPr/>
        </p:nvPicPr>
        <p:blipFill rotWithShape="1">
          <a:blip r:embed="rId3"/>
          <a:srcRect l="38895" r="27865"/>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654296" y="2706624"/>
            <a:ext cx="6894576" cy="3483864"/>
          </a:xfrm>
        </p:spPr>
        <p:txBody>
          <a:bodyPr>
            <a:normAutofit/>
          </a:bodyPr>
          <a:lstStyle/>
          <a:p>
            <a:pPr lvl="0"/>
            <a:r>
              <a:rPr lang="en-US" altLang="en-US" sz="1400"/>
              <a:t>From an IT planner perspective, the primary difference between cloud and data center infrastructures revolves around how you deliver a given workload to your business. A simplified view is that data centers own the physical infrastructure and deliver business value via that infrastructure.</a:t>
            </a:r>
          </a:p>
          <a:p>
            <a:pPr lvl="0"/>
            <a:r>
              <a:rPr lang="en-US" altLang="en-US" sz="1400"/>
              <a:t>In some cases, cloud computing could be an ideal solution; In other cases, on-premises computing may be the best solution</a:t>
            </a:r>
          </a:p>
          <a:p>
            <a:pPr lvl="0"/>
            <a:r>
              <a:rPr lang="en-US" altLang="en-US" sz="1400"/>
              <a:t>Gartner clients consistently tell us that the real benefits of cloud computing are enterprise agility — or developing and deploying workloads quickly</a:t>
            </a:r>
          </a:p>
          <a:p>
            <a:pPr lvl="0"/>
            <a:r>
              <a:rPr lang="en-US" altLang="en-US" sz="1400"/>
              <a:t>Gartner predicts that by 2025, 85% of infrastructure strategies will integrate on-premises, colocation, cloud and edge delivery options, compared with 20% in 2020.</a:t>
            </a:r>
          </a:p>
          <a:p>
            <a:pPr lvl="0"/>
            <a:r>
              <a:rPr lang="en-US" altLang="en-US" sz="1400"/>
              <a:t>IT leaders today are dealing with competing objectives: to keep the lights on — running mission-critical applications while protecting the business from outages — and to enable the business to react to market changes quickly and adopt new technologies or services when they need them (not necessarily when IT is ready or has the cash to spend on them)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ltLang="en-US" sz="4200">
                <a:sym typeface="+mn-ea"/>
              </a:rPr>
              <a:t>How Cloud Computing Is Changing Management</a:t>
            </a:r>
            <a:endParaRPr lang="en-US" altLang="en-US"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lvl="0"/>
            <a:r>
              <a:rPr lang="en-US" altLang="en-US" sz="1900">
                <a:sym typeface="+mn-ea"/>
              </a:rPr>
              <a:t>Theories and practices of management often spring from the opportunities created by new technologies. Interchangeable parts spurred ideas about structuring assembly lines and logistics. </a:t>
            </a:r>
          </a:p>
          <a:p>
            <a:pPr lvl="0"/>
            <a:r>
              <a:rPr lang="en-US" altLang="en-US" sz="1900">
                <a:sym typeface="+mn-ea"/>
              </a:rPr>
              <a:t>The complex calculations of the field known as Operations Research were enabled by mainframe computing.</a:t>
            </a:r>
          </a:p>
          <a:p>
            <a:pPr lvl="0"/>
            <a:r>
              <a:rPr lang="en-US" altLang="en-US" sz="1900">
                <a:sym typeface="+mn-ea"/>
              </a:rPr>
              <a:t>Client-server technology begat enterprise resource planning systems, and the consequent system-wide visibility that was required for what we call business process management (BPM).</a:t>
            </a:r>
          </a:p>
          <a:p>
            <a:pPr lvl="0"/>
            <a:r>
              <a:rPr lang="en-US" altLang="en-US" sz="1900" i="1"/>
              <a:t>That makes it imperative to start thinking about how management will be changed by the most impactful information technology of our time: cloud computing.</a:t>
            </a:r>
            <a:endParaRPr lang="en-US" altLang="en-US" sz="1900"/>
          </a:p>
          <a:p>
            <a:pPr lvl="0"/>
            <a:endParaRPr lang="en-US" altLang="en-US" sz="1900"/>
          </a:p>
          <a:p>
            <a:pPr lvl="0"/>
            <a:r>
              <a:rPr lang="en-US" altLang="en-US" sz="1900"/>
              <a:t>History suggests that the main way information technology changes management is through changes in how information is gathered</a:t>
            </a:r>
          </a:p>
          <a:p>
            <a:pPr lvl="1"/>
            <a:r>
              <a:rPr lang="en-US" altLang="en-US" sz="1900"/>
              <a:t>eg BPM reflected the interactions of different stakeholders, from product creation through supply chain to final assembly</a:t>
            </a:r>
          </a:p>
          <a:p>
            <a:pPr lvl="0"/>
            <a:endParaRPr lang="en-US" altLang="en-US" sz="1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ltLang="en-US" sz="5400">
                <a:sym typeface="+mn-ea"/>
              </a:rPr>
              <a:t>Set Up Your Organization for cloud</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lvl="0"/>
            <a:r>
              <a:rPr lang="en-US" altLang="en-US" sz="1400"/>
              <a:t>A cloud center of excellence is the best-practice approach to drive cloud-enabled transformation.</a:t>
            </a:r>
          </a:p>
          <a:p>
            <a:pPr lvl="1"/>
            <a:r>
              <a:rPr lang="en-US" altLang="en-US" sz="1400"/>
              <a:t>How do we develop and enforce organization-wide cloud computing policies in a way that allows us to be flexible, without exposing us to unacceptable levels of organizational risk?</a:t>
            </a:r>
          </a:p>
          <a:p>
            <a:pPr lvl="1"/>
            <a:r>
              <a:rPr lang="en-US" altLang="en-US" sz="1400"/>
              <a:t>How do we guide our internal users in selecting the right cloud providers to find the best fit and manage vendor-related risk?</a:t>
            </a:r>
          </a:p>
          <a:p>
            <a:pPr lvl="1"/>
            <a:r>
              <a:rPr lang="en-US" altLang="en-US" sz="1400"/>
              <a:t>How do we manage and mitigate security and regulatory compliance risks while ensuring confidentiality, integrity and availability?</a:t>
            </a:r>
          </a:p>
          <a:p>
            <a:pPr lvl="1"/>
            <a:r>
              <a:rPr lang="en-US" altLang="en-US" sz="1400"/>
              <a:t>How do we govern our costs and forecast our future costs?</a:t>
            </a:r>
          </a:p>
          <a:p>
            <a:pPr lvl="1"/>
            <a:r>
              <a:rPr lang="en-US" altLang="en-US" sz="1400"/>
              <a:t>How do we get “smarter about cloud” and make our organization aware of best practices, and keep up with the rate of change introduced by cloud providers?</a:t>
            </a:r>
          </a:p>
          <a:p>
            <a:pPr lvl="1"/>
            <a:r>
              <a:rPr lang="en-US" altLang="en-US" sz="1400"/>
              <a:t>How can we drive cloud-enabled transformation across the business and help our stakeholders think through the business possibilities enabled by cloud?</a:t>
            </a:r>
          </a:p>
          <a:p>
            <a:pPr lvl="0"/>
            <a:r>
              <a:rPr lang="en-US" altLang="en-US" sz="1400"/>
              <a:t>CCOE has three core pillars</a:t>
            </a:r>
          </a:p>
          <a:p>
            <a:pPr lvl="1"/>
            <a:r>
              <a:rPr lang="en-US" altLang="en-US" sz="1400"/>
              <a:t>Governance: Create policies in collaboration with a cross-functional team and select governance tools to provide financial and risk management.</a:t>
            </a:r>
          </a:p>
          <a:p>
            <a:pPr lvl="1"/>
            <a:r>
              <a:rPr lang="en-US" altLang="en-US" sz="1400"/>
              <a:t>Brokerage: Assist users in selecting cloud providers, architect the cloud solution(s) and collaborate with the sourcing team for contract negotiation and vendor management.</a:t>
            </a:r>
          </a:p>
          <a:p>
            <a:pPr lvl="1"/>
            <a:r>
              <a:rPr lang="en-US" altLang="en-US" sz="1400"/>
              <a:t>Community: Raise the level of cloud knowledge in the organization and capture and disseminate best practices through a knowledge base, source code repository, training events, outreach throughout the organization, and more.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ltLang="en-US" sz="5400">
                <a:sym typeface="+mn-ea"/>
              </a:rPr>
              <a:t>Capturing the value of the cloud</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altLang="en-US" sz="2200"/>
              <a:t>It has been more than a decade since the first corporate experiments with external cloud platforms, and the verdict is long in on their business value. Companies that adopt the cloud well bring new capabilities to market more quickly, innovate more easily, and scale more efficiently—while also reducing technology risk.</a:t>
            </a:r>
          </a:p>
          <a:p>
            <a:r>
              <a:rPr lang="en-US" altLang="en-US" sz="2200"/>
              <a:t>Unfortunately, the verdict is still out on what constitutes a successful cloud implementation to actually capture that value.</a:t>
            </a:r>
          </a:p>
          <a:p>
            <a:r>
              <a:rPr lang="en-US" altLang="en-US" sz="2200"/>
              <a:t>Defining the cloud opportunity too narrowly with siloed business initiatives, such as next-generation application hosting or data platforms, almost guarantees failure</a:t>
            </a:r>
          </a:p>
          <a:p>
            <a:r>
              <a:rPr lang="en-US" altLang="en-US" sz="2200"/>
              <a:t>Companies that reap value from cloud platforms treat their adoption as a business-technology transformation</a:t>
            </a:r>
          </a:p>
          <a:p>
            <a:r>
              <a:rPr lang="en-US" altLang="en-US" sz="2200"/>
              <a:t>Twenty years ago, a single small application might run on a $25,000 server. Today, a similar-size application might run on a $5,000 server shared with ten other applications.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ltLang="en-US" sz="5400">
                <a:sym typeface="+mn-ea"/>
              </a:rPr>
              <a:t>Capturing the value of the cloud</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altLang="en-US" sz="1500"/>
              <a:t>These realities have led an overwhelming majority of large institutions to experience one or more of the following failure modes:</a:t>
            </a:r>
          </a:p>
          <a:p>
            <a:pPr lvl="1"/>
            <a:r>
              <a:rPr lang="en-US" altLang="en-US" sz="1500"/>
              <a:t>Pilot stall: Companies have succeeded in implementing a few greenfield applications on public-cloud platforms, but the value derived from these programs has been limited. This makes further progress impossible because tech leaders cannot make a convincing business case to extend the use of the cloud platform into the heart of IT’s technology environment.</a:t>
            </a:r>
          </a:p>
          <a:p>
            <a:pPr lvl="1"/>
            <a:r>
              <a:rPr lang="en-US" altLang="en-US" sz="1500"/>
              <a:t>Cloud gridlock: Cloud initiatives become jammed up in long queues because IT cannot build out the automation or reference architectures required to use public-cloud-platform services in a secure, resilient, and compliant fashion.</a:t>
            </a:r>
          </a:p>
          <a:p>
            <a:pPr lvl="1"/>
            <a:r>
              <a:rPr lang="en-US" altLang="en-US" sz="1500"/>
              <a:t>No value from “lift and shift”: The migration of significant portions of the technology environment—largely by replacing on-premises virtual machines with off-premises ones without taking advantage of cloud-optimization levers—has failed to significantly reduce costs or increase flexibility. Support for cloud initiatives subsequently collapses.</a:t>
            </a:r>
          </a:p>
          <a:p>
            <a:pPr lvl="1"/>
            <a:r>
              <a:rPr lang="en-US" altLang="en-US" sz="1500"/>
              <a:t>Cloud chaos: Tech leadership does not have an aligned vision and does not provide the required guidance or management oversight, leaving developers largely to their own devices in configuring cloud services. This leads to very divergent approaches and tooling with significant security, resiliency, and compliance risks.</a:t>
            </a:r>
          </a:p>
          <a:p>
            <a:pPr lvl="0"/>
            <a:r>
              <a:rPr lang="en-US" altLang="en-US" sz="1500"/>
              <a:t>Alright, what about technical challanges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ltLang="en-US" sz="5400">
                <a:sym typeface="+mn-ea"/>
              </a:rPr>
              <a:t>Capturing the value of the cloud</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r>
              <a:rPr lang="en-US" altLang="en-US" sz="2200"/>
              <a:t>Outdated technology environments make change expensive. </a:t>
            </a:r>
          </a:p>
          <a:p>
            <a:r>
              <a:rPr lang="en-US" altLang="en-US" sz="2200"/>
              <a:t>Rigid and brittle infrastructures choke on the data required for sophisticated analytics.</a:t>
            </a:r>
          </a:p>
          <a:p>
            <a:r>
              <a:rPr lang="en-US" altLang="en-US" sz="2200"/>
              <a:t>Decisions about cloud architecture and sourcing carry significant risk and cost implications—to the tune of hundreds of millions of dollars for large companies.</a:t>
            </a:r>
          </a:p>
          <a:p>
            <a:endParaRPr lang="en-US" altLang="en-US" sz="2200"/>
          </a:p>
          <a:p>
            <a:r>
              <a:rPr lang="en-US" altLang="en-US" sz="2200"/>
              <a:t>Success requires CIOs and tech leaders to do three things.</a:t>
            </a:r>
          </a:p>
          <a:p>
            <a:pPr lvl="1"/>
            <a:r>
              <a:rPr lang="en-US" altLang="en-US" sz="2200"/>
              <a:t>Focus cloud investments in business domains where cloud platforms can enable increased revenues and improved margins</a:t>
            </a:r>
          </a:p>
          <a:p>
            <a:pPr lvl="1"/>
            <a:r>
              <a:rPr lang="en-US" altLang="en-US" sz="2200"/>
              <a:t>Select a technology, sourcing, and migration model that aligns with economic and risk constraints</a:t>
            </a:r>
          </a:p>
          <a:p>
            <a:pPr lvl="1"/>
            <a:r>
              <a:rPr lang="en-US" altLang="en-US" sz="2200"/>
              <a:t>Change operating models to capture cloud value</a:t>
            </a:r>
          </a:p>
          <a:p>
            <a:pPr lvl="1"/>
            <a:endParaRPr lang="en-US" altLang="en-US" sz="2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3031</TotalTime>
  <Words>5764</Words>
  <Application>Microsoft Macintosh PowerPoint</Application>
  <PresentationFormat>Widescreen</PresentationFormat>
  <Paragraphs>375</Paragraphs>
  <Slides>28</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AmazonEmber</vt:lpstr>
      <vt:lpstr>AmazonEmberBold</vt:lpstr>
      <vt:lpstr>Arial</vt:lpstr>
      <vt:lpstr>Calibri</vt:lpstr>
      <vt:lpstr>Calibri Light</vt:lpstr>
      <vt:lpstr>Helvetica</vt:lpstr>
      <vt:lpstr>Söhne</vt:lpstr>
      <vt:lpstr>Wingdings</vt:lpstr>
      <vt:lpstr>Office Theme</vt:lpstr>
      <vt:lpstr>Cloud Computing &amp; DevOps</vt:lpstr>
      <vt:lpstr>Agenda</vt:lpstr>
      <vt:lpstr>Brief history of Cloud Computing</vt:lpstr>
      <vt:lpstr>What is Cloud Computing?</vt:lpstr>
      <vt:lpstr>Virtual Machines</vt:lpstr>
      <vt:lpstr>VMs and Containers</vt:lpstr>
      <vt:lpstr>Containers &amp; Virtual Machines</vt:lpstr>
      <vt:lpstr>Containers &amp; Virtual Machines – When to use</vt:lpstr>
      <vt:lpstr>Cloud Computing and CapEx vs. OpEx</vt:lpstr>
      <vt:lpstr>Benefits of Cloud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of Services</vt:lpstr>
      <vt:lpstr>Guided Launch And Q&amp;A</vt:lpstr>
      <vt:lpstr>The cloud is actually physical….</vt:lpstr>
      <vt:lpstr>Shared Responsibility Model</vt:lpstr>
      <vt:lpstr>Research: Cloud Computing Is Helping Smaller, Newer Firms Compete</vt:lpstr>
      <vt:lpstr>The Everywhere Enterprise</vt:lpstr>
      <vt:lpstr>How Cloud Computing Is Changing Management</vt:lpstr>
      <vt:lpstr>Set Up Your Organization for cloud</vt:lpstr>
      <vt:lpstr>Capturing the value of the cloud</vt:lpstr>
      <vt:lpstr>Capturing the value of the cloud</vt:lpstr>
      <vt:lpstr>Capturing the value of the cloud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Machines</dc:title>
  <dc:creator>Prashant Bharadwaj</dc:creator>
  <cp:lastModifiedBy>Stuart Wong</cp:lastModifiedBy>
  <cp:revision>21</cp:revision>
  <dcterms:created xsi:type="dcterms:W3CDTF">2022-02-23T12:31:55Z</dcterms:created>
  <dcterms:modified xsi:type="dcterms:W3CDTF">2026-03-07T01:10:02Z</dcterms:modified>
</cp:coreProperties>
</file>